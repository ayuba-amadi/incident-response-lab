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embeddedFontLst>
    <p:embeddedFont>
      <p:font typeface="Crimson Pro SemiBold" panose="020B0604020202020204" charset="0"/>
      <p:regular r:id="rId21"/>
    </p:embeddedFont>
    <p:embeddedFont>
      <p:font typeface="Heebo" pitchFamily="2" charset="-79"/>
      <p:regular r:id="rId22"/>
    </p:embeddedFont>
    <p:embeddedFont>
      <p:font typeface="Heebo Bold" panose="020B0604020202020204" charset="-79"/>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357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7.sv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7702457" y="873125"/>
            <a:ext cx="4406492" cy="5111750"/>
          </a:xfrm>
          <a:prstGeom prst="rect">
            <a:avLst/>
          </a:prstGeom>
        </p:spPr>
      </p:pic>
      <p:sp>
        <p:nvSpPr>
          <p:cNvPr id="4" name="Shape 0"/>
          <p:cNvSpPr/>
          <p:nvPr/>
        </p:nvSpPr>
        <p:spPr>
          <a:xfrm>
            <a:off x="661475" y="1764308"/>
            <a:ext cx="1311441" cy="251420"/>
          </a:xfrm>
          <a:prstGeom prst="roundRect">
            <a:avLst>
              <a:gd name="adj" fmla="val 7894"/>
            </a:avLst>
          </a:prstGeom>
          <a:solidFill>
            <a:srgbClr val="CCD7FF"/>
          </a:solidFill>
          <a:ln/>
        </p:spPr>
        <p:txBody>
          <a:bodyPr/>
          <a:lstStyle/>
          <a:p>
            <a:endParaRPr lang="en-US"/>
          </a:p>
        </p:txBody>
      </p:sp>
      <p:sp>
        <p:nvSpPr>
          <p:cNvPr id="5" name="Text 1"/>
          <p:cNvSpPr/>
          <p:nvPr/>
        </p:nvSpPr>
        <p:spPr>
          <a:xfrm>
            <a:off x="760691" y="1813917"/>
            <a:ext cx="1722593" cy="152202"/>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GRC105 · WEEK 20</a:t>
            </a:r>
            <a:endParaRPr lang="en-US" sz="1000" dirty="0"/>
          </a:p>
        </p:txBody>
      </p:sp>
      <p:sp>
        <p:nvSpPr>
          <p:cNvPr id="6" name="Text 2"/>
          <p:cNvSpPr/>
          <p:nvPr/>
        </p:nvSpPr>
        <p:spPr>
          <a:xfrm>
            <a:off x="661475" y="2081808"/>
            <a:ext cx="6296860" cy="516731"/>
          </a:xfrm>
          <a:prstGeom prst="rect">
            <a:avLst/>
          </a:prstGeom>
          <a:noFill/>
          <a:ln/>
        </p:spPr>
        <p:txBody>
          <a:bodyPr wrap="none" lIns="0" tIns="0" rIns="0" bIns="0" rtlCol="0" anchor="t"/>
          <a:lstStyle/>
          <a:p>
            <a:pPr marL="0" indent="0" algn="l">
              <a:lnSpc>
                <a:spcPct val="104000"/>
              </a:lnSpc>
              <a:buNone/>
            </a:pPr>
            <a:r>
              <a:rPr lang="en-US" sz="3250" dirty="0">
                <a:solidFill>
                  <a:srgbClr val="152D47"/>
                </a:solidFill>
                <a:latin typeface="Crimson Pro SemiBold" pitchFamily="34" charset="0"/>
                <a:ea typeface="Crimson Pro SemiBold" pitchFamily="34" charset="-122"/>
                <a:cs typeface="Crimson Pro SemiBold" pitchFamily="34" charset="-120"/>
              </a:rPr>
              <a:t>Incident Response Planning</a:t>
            </a:r>
            <a:endParaRPr lang="en-US" sz="3250" dirty="0"/>
          </a:p>
        </p:txBody>
      </p:sp>
      <p:sp>
        <p:nvSpPr>
          <p:cNvPr id="7" name="Text 3"/>
          <p:cNvSpPr/>
          <p:nvPr/>
        </p:nvSpPr>
        <p:spPr>
          <a:xfrm>
            <a:off x="661475" y="2846586"/>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ICDFA Training Program · Module: Incident Management and Business Continuity · Dec 1–7</a:t>
            </a:r>
            <a:endParaRPr lang="en-US" sz="1300" dirty="0"/>
          </a:p>
        </p:txBody>
      </p:sp>
      <p:sp>
        <p:nvSpPr>
          <p:cNvPr id="8" name="Text 4"/>
          <p:cNvSpPr/>
          <p:nvPr/>
        </p:nvSpPr>
        <p:spPr>
          <a:xfrm>
            <a:off x="661475" y="3727152"/>
            <a:ext cx="1829746" cy="258465"/>
          </a:xfrm>
          <a:prstGeom prst="rect">
            <a:avLst/>
          </a:prstGeom>
          <a:noFill/>
          <a:ln/>
        </p:spPr>
        <p:txBody>
          <a:bodyPr wrap="none" lIns="0" tIns="0" rIns="0" bIns="0" rtlCol="0" anchor="t"/>
          <a:lstStyle/>
          <a:p>
            <a:pPr marL="0" indent="0" algn="l">
              <a:lnSpc>
                <a:spcPct val="104000"/>
              </a:lnSpc>
              <a:buNone/>
            </a:pPr>
            <a:r>
              <a:rPr lang="en-US" sz="1600" dirty="0">
                <a:solidFill>
                  <a:srgbClr val="152D47"/>
                </a:solidFill>
                <a:latin typeface="Crimson Pro SemiBold" pitchFamily="34" charset="0"/>
                <a:ea typeface="Crimson Pro SemiBold" pitchFamily="34" charset="-122"/>
                <a:cs typeface="Crimson Pro SemiBold" pitchFamily="34" charset="-120"/>
              </a:rPr>
              <a:t>Course</a:t>
            </a:r>
            <a:endParaRPr lang="en-US" sz="1600" dirty="0"/>
          </a:p>
        </p:txBody>
      </p:sp>
      <p:sp>
        <p:nvSpPr>
          <p:cNvPr id="9" name="Text 5"/>
          <p:cNvSpPr/>
          <p:nvPr/>
        </p:nvSpPr>
        <p:spPr>
          <a:xfrm>
            <a:off x="661474" y="4150916"/>
            <a:ext cx="4396273" cy="793849"/>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4C4C4D"/>
                </a:solidFill>
                <a:latin typeface="Heebo Bold" pitchFamily="34" charset="0"/>
                <a:ea typeface="Heebo Bold" pitchFamily="34" charset="-122"/>
                <a:cs typeface="Heebo Bold" pitchFamily="34" charset="-120"/>
              </a:rPr>
              <a:t>GRC105</a:t>
            </a:r>
            <a:r>
              <a:rPr lang="en-US" sz="1300" dirty="0">
                <a:solidFill>
                  <a:srgbClr val="4C4C4D"/>
                </a:solidFill>
                <a:latin typeface="Heebo" pitchFamily="34" charset="0"/>
                <a:ea typeface="Heebo" pitchFamily="34" charset="-122"/>
                <a:cs typeface="Heebo" pitchFamily="34" charset="-120"/>
              </a:rPr>
              <a:t> — Incident Management and Business Continuity</a:t>
            </a:r>
            <a:endParaRPr lang="en-US" sz="1300" dirty="0"/>
          </a:p>
        </p:txBody>
      </p:sp>
      <p:sp>
        <p:nvSpPr>
          <p:cNvPr id="12" name="Text 8"/>
          <p:cNvSpPr/>
          <p:nvPr/>
        </p:nvSpPr>
        <p:spPr>
          <a:xfrm>
            <a:off x="5140494" y="3727152"/>
            <a:ext cx="1829746" cy="258465"/>
          </a:xfrm>
          <a:prstGeom prst="rect">
            <a:avLst/>
          </a:prstGeom>
          <a:noFill/>
          <a:ln/>
        </p:spPr>
        <p:txBody>
          <a:bodyPr wrap="none" lIns="0" tIns="0" rIns="0" bIns="0" rtlCol="0" anchor="t"/>
          <a:lstStyle/>
          <a:p>
            <a:pPr marL="0" indent="0" algn="l">
              <a:lnSpc>
                <a:spcPct val="104000"/>
              </a:lnSpc>
              <a:buNone/>
            </a:pPr>
            <a:r>
              <a:rPr lang="en-US" sz="1600" dirty="0">
                <a:solidFill>
                  <a:srgbClr val="152D47"/>
                </a:solidFill>
                <a:latin typeface="Crimson Pro SemiBold" pitchFamily="34" charset="0"/>
                <a:ea typeface="Crimson Pro SemiBold" pitchFamily="34" charset="-122"/>
                <a:cs typeface="Crimson Pro SemiBold" pitchFamily="34" charset="-120"/>
              </a:rPr>
              <a:t>Framework</a:t>
            </a:r>
            <a:endParaRPr lang="en-US" sz="1600" dirty="0"/>
          </a:p>
        </p:txBody>
      </p:sp>
      <p:sp>
        <p:nvSpPr>
          <p:cNvPr id="13" name="Text 9"/>
          <p:cNvSpPr/>
          <p:nvPr/>
        </p:nvSpPr>
        <p:spPr>
          <a:xfrm>
            <a:off x="5140494" y="4150916"/>
            <a:ext cx="1829746"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NIST SP 800-61r3 · SANS · ISO/IEC 27035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757039"/>
            <a:ext cx="1913584" cy="213717"/>
          </a:xfrm>
          <a:prstGeom prst="roundRect">
            <a:avLst>
              <a:gd name="adj" fmla="val 7894"/>
            </a:avLst>
          </a:prstGeom>
          <a:noFill/>
          <a:ln w="6350">
            <a:solidFill>
              <a:srgbClr val="2150FE"/>
            </a:solidFill>
            <a:prstDash val="solid"/>
          </a:ln>
        </p:spPr>
        <p:txBody>
          <a:bodyPr/>
          <a:lstStyle/>
          <a:p>
            <a:endParaRPr lang="en-US"/>
          </a:p>
        </p:txBody>
      </p:sp>
      <p:sp>
        <p:nvSpPr>
          <p:cNvPr id="4" name="Text 1"/>
          <p:cNvSpPr/>
          <p:nvPr/>
        </p:nvSpPr>
        <p:spPr>
          <a:xfrm>
            <a:off x="5317694" y="799207"/>
            <a:ext cx="2354501" cy="129381"/>
          </a:xfrm>
          <a:prstGeom prst="rect">
            <a:avLst/>
          </a:prstGeom>
          <a:noFill/>
          <a:ln/>
        </p:spPr>
        <p:txBody>
          <a:bodyPr wrap="none" lIns="0" tIns="0" rIns="0" bIns="0" rtlCol="0" anchor="t"/>
          <a:lstStyle/>
          <a:p>
            <a:pPr marL="0" indent="0" algn="l">
              <a:lnSpc>
                <a:spcPct val="96000"/>
              </a:lnSpc>
              <a:buNone/>
            </a:pPr>
            <a:r>
              <a:rPr lang="en-US" sz="850" dirty="0">
                <a:solidFill>
                  <a:srgbClr val="2150FE"/>
                </a:solidFill>
                <a:latin typeface="Heebo" pitchFamily="34" charset="0"/>
                <a:ea typeface="Heebo" pitchFamily="34" charset="-122"/>
                <a:cs typeface="Heebo" pitchFamily="34" charset="-120"/>
              </a:rPr>
              <a:t>WEEK 20 · LEARNING OBJECTIVES</a:t>
            </a:r>
            <a:endParaRPr lang="en-US" sz="850" dirty="0"/>
          </a:p>
        </p:txBody>
      </p:sp>
      <p:sp>
        <p:nvSpPr>
          <p:cNvPr id="5" name="Text 2"/>
          <p:cNvSpPr/>
          <p:nvPr/>
        </p:nvSpPr>
        <p:spPr>
          <a:xfrm>
            <a:off x="5233360" y="1018480"/>
            <a:ext cx="6296860" cy="439241"/>
          </a:xfrm>
          <a:prstGeom prst="rect">
            <a:avLst/>
          </a:prstGeom>
          <a:noFill/>
          <a:ln/>
        </p:spPr>
        <p:txBody>
          <a:bodyPr wrap="none" lIns="0" tIns="0" rIns="0" bIns="0" rtlCol="0" anchor="t"/>
          <a:lstStyle/>
          <a:p>
            <a:pPr marL="0" indent="0" algn="l">
              <a:lnSpc>
                <a:spcPct val="104000"/>
              </a:lnSpc>
              <a:buNone/>
            </a:pPr>
            <a:r>
              <a:rPr lang="en-US" sz="2750" dirty="0">
                <a:solidFill>
                  <a:srgbClr val="152D47"/>
                </a:solidFill>
                <a:latin typeface="Crimson Pro SemiBold" pitchFamily="34" charset="0"/>
                <a:ea typeface="Crimson Pro SemiBold" pitchFamily="34" charset="-122"/>
                <a:cs typeface="Crimson Pro SemiBold" pitchFamily="34" charset="-120"/>
              </a:rPr>
              <a:t>What You Will Master This Week</a:t>
            </a:r>
            <a:endParaRPr lang="en-US" sz="27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1636911"/>
            <a:ext cx="6296860" cy="1026418"/>
          </a:xfrm>
          <a:prstGeom prst="rect">
            <a:avLst/>
          </a:prstGeom>
        </p:spPr>
      </p:pic>
      <p:sp>
        <p:nvSpPr>
          <p:cNvPr id="7" name="Text 3"/>
          <p:cNvSpPr/>
          <p:nvPr/>
        </p:nvSpPr>
        <p:spPr>
          <a:xfrm>
            <a:off x="5428122" y="2018308"/>
            <a:ext cx="210835" cy="263525"/>
          </a:xfrm>
          <a:prstGeom prst="rect">
            <a:avLst/>
          </a:prstGeom>
          <a:noFill/>
          <a:ln/>
        </p:spPr>
        <p:txBody>
          <a:bodyPr wrap="none" lIns="0" tIns="0" rIns="0" bIns="0" rtlCol="0" anchor="ctr"/>
          <a:lstStyle/>
          <a:p>
            <a:pPr marL="0" indent="0" algn="ctr">
              <a:lnSpc>
                <a:spcPct val="100000"/>
              </a:lnSpc>
              <a:buNone/>
            </a:pPr>
            <a:r>
              <a:rPr lang="en-US" sz="1650" dirty="0">
                <a:solidFill>
                  <a:srgbClr val="4C4C4D"/>
                </a:solidFill>
                <a:latin typeface="Crimson Pro SemiBold" pitchFamily="34" charset="0"/>
                <a:ea typeface="Crimson Pro SemiBold" pitchFamily="34" charset="-122"/>
                <a:cs typeface="Crimson Pro SemiBold" pitchFamily="34" charset="-120"/>
              </a:rPr>
              <a:t>1</a:t>
            </a:r>
            <a:endParaRPr lang="en-US" sz="1650" dirty="0"/>
          </a:p>
        </p:txBody>
      </p:sp>
      <p:sp>
        <p:nvSpPr>
          <p:cNvPr id="8" name="Text 4"/>
          <p:cNvSpPr/>
          <p:nvPr/>
        </p:nvSpPr>
        <p:spPr>
          <a:xfrm>
            <a:off x="5934125" y="1796455"/>
            <a:ext cx="5436555"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Foundational Principles</a:t>
            </a:r>
            <a:endParaRPr lang="en-US" sz="1350" dirty="0"/>
          </a:p>
        </p:txBody>
      </p:sp>
      <p:sp>
        <p:nvSpPr>
          <p:cNvPr id="9" name="Text 5"/>
          <p:cNvSpPr/>
          <p:nvPr/>
        </p:nvSpPr>
        <p:spPr>
          <a:xfrm>
            <a:off x="5934125" y="2087662"/>
            <a:ext cx="5436555"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Understand the fundamental principles and strategic importance of incident response planning within an organization's broader cybersecurity and risk management program.</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2782788"/>
            <a:ext cx="6296860" cy="1026418"/>
          </a:xfrm>
          <a:prstGeom prst="rect">
            <a:avLst/>
          </a:prstGeom>
        </p:spPr>
      </p:pic>
      <p:sp>
        <p:nvSpPr>
          <p:cNvPr id="11" name="Text 6"/>
          <p:cNvSpPr/>
          <p:nvPr/>
        </p:nvSpPr>
        <p:spPr>
          <a:xfrm>
            <a:off x="5428122" y="3164185"/>
            <a:ext cx="210835" cy="263525"/>
          </a:xfrm>
          <a:prstGeom prst="rect">
            <a:avLst/>
          </a:prstGeom>
          <a:noFill/>
          <a:ln/>
        </p:spPr>
        <p:txBody>
          <a:bodyPr wrap="none" lIns="0" tIns="0" rIns="0" bIns="0" rtlCol="0" anchor="ctr"/>
          <a:lstStyle/>
          <a:p>
            <a:pPr marL="0" indent="0" algn="ctr">
              <a:lnSpc>
                <a:spcPct val="100000"/>
              </a:lnSpc>
              <a:buNone/>
            </a:pPr>
            <a:r>
              <a:rPr lang="en-US" sz="1650" dirty="0">
                <a:solidFill>
                  <a:srgbClr val="4C4C4D"/>
                </a:solidFill>
                <a:latin typeface="Crimson Pro SemiBold" pitchFamily="34" charset="0"/>
                <a:ea typeface="Crimson Pro SemiBold" pitchFamily="34" charset="-122"/>
                <a:cs typeface="Crimson Pro SemiBold" pitchFamily="34" charset="-120"/>
              </a:rPr>
              <a:t>2</a:t>
            </a:r>
            <a:endParaRPr lang="en-US" sz="1650" dirty="0"/>
          </a:p>
        </p:txBody>
      </p:sp>
      <p:sp>
        <p:nvSpPr>
          <p:cNvPr id="12" name="Text 7"/>
          <p:cNvSpPr/>
          <p:nvPr/>
        </p:nvSpPr>
        <p:spPr>
          <a:xfrm>
            <a:off x="5934125" y="2942332"/>
            <a:ext cx="5436555"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NIST SP 800-61r3 Lifecycle</a:t>
            </a:r>
            <a:endParaRPr lang="en-US" sz="1350" dirty="0"/>
          </a:p>
        </p:txBody>
      </p:sp>
      <p:sp>
        <p:nvSpPr>
          <p:cNvPr id="13" name="Text 8"/>
          <p:cNvSpPr/>
          <p:nvPr/>
        </p:nvSpPr>
        <p:spPr>
          <a:xfrm>
            <a:off x="5934125" y="3233539"/>
            <a:ext cx="5436555"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Master all four phases of the NIST incident response lifecycle and apply each phase's requirements and activities to realistic, real-world scenarios.</a:t>
            </a:r>
            <a:endParaRPr lang="en-US" sz="11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3928666"/>
            <a:ext cx="6296860" cy="1026418"/>
          </a:xfrm>
          <a:prstGeom prst="rect">
            <a:avLst/>
          </a:prstGeom>
        </p:spPr>
      </p:pic>
      <p:sp>
        <p:nvSpPr>
          <p:cNvPr id="15" name="Text 9"/>
          <p:cNvSpPr/>
          <p:nvPr/>
        </p:nvSpPr>
        <p:spPr>
          <a:xfrm>
            <a:off x="5428122" y="4310063"/>
            <a:ext cx="210835" cy="263525"/>
          </a:xfrm>
          <a:prstGeom prst="rect">
            <a:avLst/>
          </a:prstGeom>
          <a:noFill/>
          <a:ln/>
        </p:spPr>
        <p:txBody>
          <a:bodyPr wrap="none" lIns="0" tIns="0" rIns="0" bIns="0" rtlCol="0" anchor="ctr"/>
          <a:lstStyle/>
          <a:p>
            <a:pPr marL="0" indent="0" algn="ctr">
              <a:lnSpc>
                <a:spcPct val="100000"/>
              </a:lnSpc>
              <a:buNone/>
            </a:pPr>
            <a:r>
              <a:rPr lang="en-US" sz="1650" dirty="0">
                <a:solidFill>
                  <a:srgbClr val="4C4C4D"/>
                </a:solidFill>
                <a:latin typeface="Crimson Pro SemiBold" pitchFamily="34" charset="0"/>
                <a:ea typeface="Crimson Pro SemiBold" pitchFamily="34" charset="-122"/>
                <a:cs typeface="Crimson Pro SemiBold" pitchFamily="34" charset="-120"/>
              </a:rPr>
              <a:t>3</a:t>
            </a:r>
            <a:endParaRPr lang="en-US" sz="1650" dirty="0"/>
          </a:p>
        </p:txBody>
      </p:sp>
      <p:sp>
        <p:nvSpPr>
          <p:cNvPr id="16" name="Text 10"/>
          <p:cNvSpPr/>
          <p:nvPr/>
        </p:nvSpPr>
        <p:spPr>
          <a:xfrm>
            <a:off x="5934125" y="4088209"/>
            <a:ext cx="5436555"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IR Plan Development</a:t>
            </a:r>
            <a:endParaRPr lang="en-US" sz="1350" dirty="0"/>
          </a:p>
        </p:txBody>
      </p:sp>
      <p:sp>
        <p:nvSpPr>
          <p:cNvPr id="17" name="Text 11"/>
          <p:cNvSpPr/>
          <p:nvPr/>
        </p:nvSpPr>
        <p:spPr>
          <a:xfrm>
            <a:off x="5934125" y="4379416"/>
            <a:ext cx="5436555"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Develop comprehensive incident response plans encompassing team structure, defined roles, RACI matrices, escalation procedures, and communication protocols.</a:t>
            </a:r>
            <a:endParaRPr lang="en-US" sz="110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5074543"/>
            <a:ext cx="6296860" cy="1026418"/>
          </a:xfrm>
          <a:prstGeom prst="rect">
            <a:avLst/>
          </a:prstGeom>
        </p:spPr>
      </p:pic>
      <p:sp>
        <p:nvSpPr>
          <p:cNvPr id="19" name="Text 12"/>
          <p:cNvSpPr/>
          <p:nvPr/>
        </p:nvSpPr>
        <p:spPr>
          <a:xfrm>
            <a:off x="5428122" y="5455940"/>
            <a:ext cx="210835" cy="263525"/>
          </a:xfrm>
          <a:prstGeom prst="rect">
            <a:avLst/>
          </a:prstGeom>
          <a:noFill/>
          <a:ln/>
        </p:spPr>
        <p:txBody>
          <a:bodyPr wrap="none" lIns="0" tIns="0" rIns="0" bIns="0" rtlCol="0" anchor="ctr"/>
          <a:lstStyle/>
          <a:p>
            <a:pPr marL="0" indent="0" algn="ctr">
              <a:lnSpc>
                <a:spcPct val="100000"/>
              </a:lnSpc>
              <a:buNone/>
            </a:pPr>
            <a:r>
              <a:rPr lang="en-US" sz="1650" dirty="0">
                <a:solidFill>
                  <a:srgbClr val="4C4C4D"/>
                </a:solidFill>
                <a:latin typeface="Crimson Pro SemiBold" pitchFamily="34" charset="0"/>
                <a:ea typeface="Crimson Pro SemiBold" pitchFamily="34" charset="-122"/>
                <a:cs typeface="Crimson Pro SemiBold" pitchFamily="34" charset="-120"/>
              </a:rPr>
              <a:t>4</a:t>
            </a:r>
            <a:endParaRPr lang="en-US" sz="1650" dirty="0"/>
          </a:p>
        </p:txBody>
      </p:sp>
      <p:sp>
        <p:nvSpPr>
          <p:cNvPr id="20" name="Text 13"/>
          <p:cNvSpPr/>
          <p:nvPr/>
        </p:nvSpPr>
        <p:spPr>
          <a:xfrm>
            <a:off x="5934125" y="5234087"/>
            <a:ext cx="5436555"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Case Study Analysis</a:t>
            </a:r>
            <a:endParaRPr lang="en-US" sz="1350" dirty="0"/>
          </a:p>
        </p:txBody>
      </p:sp>
      <p:sp>
        <p:nvSpPr>
          <p:cNvPr id="21" name="Text 14"/>
          <p:cNvSpPr/>
          <p:nvPr/>
        </p:nvSpPr>
        <p:spPr>
          <a:xfrm>
            <a:off x="5934125" y="5525294"/>
            <a:ext cx="5436555"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Analyze real-world case studies to identify best practices, common pitfalls, and actionable lessons learned from actual incident response operations.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1031677"/>
            <a:ext cx="1472965" cy="251420"/>
          </a:xfrm>
          <a:prstGeom prst="roundRect">
            <a:avLst>
              <a:gd name="adj" fmla="val 7894"/>
            </a:avLst>
          </a:prstGeom>
          <a:solidFill>
            <a:srgbClr val="CCD7FF"/>
          </a:solidFill>
          <a:ln/>
        </p:spPr>
        <p:txBody>
          <a:bodyPr/>
          <a:lstStyle/>
          <a:p>
            <a:endParaRPr lang="en-US"/>
          </a:p>
        </p:txBody>
      </p:sp>
      <p:sp>
        <p:nvSpPr>
          <p:cNvPr id="3" name="Text 1"/>
          <p:cNvSpPr/>
          <p:nvPr/>
        </p:nvSpPr>
        <p:spPr>
          <a:xfrm>
            <a:off x="760691" y="1081286"/>
            <a:ext cx="1884117" cy="152202"/>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WEEK 20 · OVERVIEW</a:t>
            </a:r>
            <a:endParaRPr lang="en-US" sz="1000" dirty="0"/>
          </a:p>
        </p:txBody>
      </p:sp>
      <p:sp>
        <p:nvSpPr>
          <p:cNvPr id="4" name="Text 2"/>
          <p:cNvSpPr/>
          <p:nvPr/>
        </p:nvSpPr>
        <p:spPr>
          <a:xfrm>
            <a:off x="661475" y="1349177"/>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2D47"/>
                </a:solidFill>
                <a:latin typeface="Crimson Pro SemiBold" pitchFamily="34" charset="0"/>
                <a:ea typeface="Crimson Pro SemiBold" pitchFamily="34" charset="-122"/>
                <a:cs typeface="Crimson Pro SemiBold" pitchFamily="34" charset="-120"/>
              </a:rPr>
              <a:t>Key Topics and Course Expectations</a:t>
            </a:r>
            <a:endParaRPr lang="en-US" sz="3250" dirty="0"/>
          </a:p>
        </p:txBody>
      </p:sp>
      <p:sp>
        <p:nvSpPr>
          <p:cNvPr id="5" name="Shape 3"/>
          <p:cNvSpPr/>
          <p:nvPr/>
        </p:nvSpPr>
        <p:spPr>
          <a:xfrm>
            <a:off x="661475" y="2113955"/>
            <a:ext cx="5351725" cy="1217513"/>
          </a:xfrm>
          <a:prstGeom prst="roundRect">
            <a:avLst>
              <a:gd name="adj" fmla="val 2038"/>
            </a:avLst>
          </a:prstGeom>
          <a:solidFill>
            <a:srgbClr val="F2EEEE"/>
          </a:solidFill>
          <a:ln/>
        </p:spPr>
        <p:txBody>
          <a:bodyPr/>
          <a:lstStyle/>
          <a:p>
            <a:endParaRPr lang="en-US"/>
          </a:p>
        </p:txBody>
      </p:sp>
      <p:sp>
        <p:nvSpPr>
          <p:cNvPr id="6" name="Text 4"/>
          <p:cNvSpPr/>
          <p:nvPr/>
        </p:nvSpPr>
        <p:spPr>
          <a:xfrm>
            <a:off x="826769" y="2279253"/>
            <a:ext cx="502113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IR Frameworks</a:t>
            </a:r>
            <a:endParaRPr lang="en-US" sz="1600" dirty="0"/>
          </a:p>
        </p:txBody>
      </p:sp>
      <p:sp>
        <p:nvSpPr>
          <p:cNvPr id="7" name="Text 5"/>
          <p:cNvSpPr/>
          <p:nvPr/>
        </p:nvSpPr>
        <p:spPr>
          <a:xfrm>
            <a:off x="826769" y="2636937"/>
            <a:ext cx="50211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NIST SP 800-61r3, SANS incident handling, and ISO/IEC 27035 standards, methodologies, and their practical application.</a:t>
            </a:r>
            <a:endParaRPr lang="en-US" sz="1300" dirty="0"/>
          </a:p>
        </p:txBody>
      </p:sp>
      <p:sp>
        <p:nvSpPr>
          <p:cNvPr id="8" name="Shape 6"/>
          <p:cNvSpPr/>
          <p:nvPr/>
        </p:nvSpPr>
        <p:spPr>
          <a:xfrm>
            <a:off x="6178495" y="2113955"/>
            <a:ext cx="5351725" cy="1217513"/>
          </a:xfrm>
          <a:prstGeom prst="roundRect">
            <a:avLst>
              <a:gd name="adj" fmla="val 2038"/>
            </a:avLst>
          </a:prstGeom>
          <a:solidFill>
            <a:srgbClr val="F2EEEE"/>
          </a:solidFill>
          <a:ln/>
        </p:spPr>
        <p:txBody>
          <a:bodyPr/>
          <a:lstStyle/>
          <a:p>
            <a:endParaRPr lang="en-US"/>
          </a:p>
        </p:txBody>
      </p:sp>
      <p:sp>
        <p:nvSpPr>
          <p:cNvPr id="9" name="Text 7"/>
          <p:cNvSpPr/>
          <p:nvPr/>
        </p:nvSpPr>
        <p:spPr>
          <a:xfrm>
            <a:off x="6343789" y="2279253"/>
            <a:ext cx="502113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IR Plan Development</a:t>
            </a:r>
            <a:endParaRPr lang="en-US" sz="1600" dirty="0"/>
          </a:p>
        </p:txBody>
      </p:sp>
      <p:sp>
        <p:nvSpPr>
          <p:cNvPr id="10" name="Text 8"/>
          <p:cNvSpPr/>
          <p:nvPr/>
        </p:nvSpPr>
        <p:spPr>
          <a:xfrm>
            <a:off x="6343789" y="2636937"/>
            <a:ext cx="50211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Policy creation, procedure documentation, playbook development, and resource allocation for a complete IR program.</a:t>
            </a:r>
            <a:endParaRPr lang="en-US" sz="1300" dirty="0"/>
          </a:p>
        </p:txBody>
      </p:sp>
      <p:sp>
        <p:nvSpPr>
          <p:cNvPr id="11" name="Shape 9"/>
          <p:cNvSpPr/>
          <p:nvPr/>
        </p:nvSpPr>
        <p:spPr>
          <a:xfrm>
            <a:off x="661475" y="3496766"/>
            <a:ext cx="5351725" cy="1217513"/>
          </a:xfrm>
          <a:prstGeom prst="roundRect">
            <a:avLst>
              <a:gd name="adj" fmla="val 2038"/>
            </a:avLst>
          </a:prstGeom>
          <a:solidFill>
            <a:srgbClr val="F2EEEE"/>
          </a:solidFill>
          <a:ln/>
        </p:spPr>
        <p:txBody>
          <a:bodyPr/>
          <a:lstStyle/>
          <a:p>
            <a:endParaRPr lang="en-US"/>
          </a:p>
        </p:txBody>
      </p:sp>
      <p:sp>
        <p:nvSpPr>
          <p:cNvPr id="12" name="Text 10"/>
          <p:cNvSpPr/>
          <p:nvPr/>
        </p:nvSpPr>
        <p:spPr>
          <a:xfrm>
            <a:off x="826769" y="3662065"/>
            <a:ext cx="502113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Team Organization</a:t>
            </a:r>
            <a:endParaRPr lang="en-US" sz="1600" dirty="0"/>
          </a:p>
        </p:txBody>
      </p:sp>
      <p:sp>
        <p:nvSpPr>
          <p:cNvPr id="13" name="Text 11"/>
          <p:cNvSpPr/>
          <p:nvPr/>
        </p:nvSpPr>
        <p:spPr>
          <a:xfrm>
            <a:off x="826769" y="4019748"/>
            <a:ext cx="50211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CSIRT structure, role definitions, RACI matrices, escalation chains, and multi-stakeholder coordination practices.</a:t>
            </a:r>
            <a:endParaRPr lang="en-US" sz="1300" dirty="0"/>
          </a:p>
        </p:txBody>
      </p:sp>
      <p:sp>
        <p:nvSpPr>
          <p:cNvPr id="14" name="Shape 12"/>
          <p:cNvSpPr/>
          <p:nvPr/>
        </p:nvSpPr>
        <p:spPr>
          <a:xfrm>
            <a:off x="6178495" y="3496766"/>
            <a:ext cx="5351725" cy="1217513"/>
          </a:xfrm>
          <a:prstGeom prst="roundRect">
            <a:avLst>
              <a:gd name="adj" fmla="val 2038"/>
            </a:avLst>
          </a:prstGeom>
          <a:solidFill>
            <a:srgbClr val="F2EEEE"/>
          </a:solidFill>
          <a:ln/>
        </p:spPr>
        <p:txBody>
          <a:bodyPr/>
          <a:lstStyle/>
          <a:p>
            <a:endParaRPr lang="en-US"/>
          </a:p>
        </p:txBody>
      </p:sp>
      <p:sp>
        <p:nvSpPr>
          <p:cNvPr id="15" name="Text 13"/>
          <p:cNvSpPr/>
          <p:nvPr/>
        </p:nvSpPr>
        <p:spPr>
          <a:xfrm>
            <a:off x="6343789" y="3662065"/>
            <a:ext cx="502113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Practical Application</a:t>
            </a:r>
            <a:endParaRPr lang="en-US" sz="1600" dirty="0"/>
          </a:p>
        </p:txBody>
      </p:sp>
      <p:sp>
        <p:nvSpPr>
          <p:cNvPr id="16" name="Text 14"/>
          <p:cNvSpPr/>
          <p:nvPr/>
        </p:nvSpPr>
        <p:spPr>
          <a:xfrm>
            <a:off x="6343789" y="4019748"/>
            <a:ext cx="502113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Real-world case studies, tabletop exercises, and hands-on scenario analysis to build actionable response skills.</a:t>
            </a:r>
            <a:endParaRPr lang="en-US" sz="1300" dirty="0"/>
          </a:p>
        </p:txBody>
      </p:sp>
      <p:sp>
        <p:nvSpPr>
          <p:cNvPr id="17" name="Shape 15"/>
          <p:cNvSpPr/>
          <p:nvPr/>
        </p:nvSpPr>
        <p:spPr>
          <a:xfrm>
            <a:off x="661475" y="4900315"/>
            <a:ext cx="10868745" cy="925909"/>
          </a:xfrm>
          <a:prstGeom prst="roundRect">
            <a:avLst>
              <a:gd name="adj" fmla="val 2679"/>
            </a:avLst>
          </a:prstGeom>
          <a:solidFill>
            <a:srgbClr val="CCD7FF"/>
          </a:solidFill>
          <a:ln/>
        </p:spPr>
        <p:txBody>
          <a:bodyPr/>
          <a:lstStyle/>
          <a:p>
            <a:endParaRPr lang="en-US"/>
          </a:p>
        </p:txBody>
      </p:sp>
      <p:pic>
        <p:nvPicPr>
          <p:cNvPr id="18" name="Image 0" descr="preencoded.png"/>
          <p:cNvPicPr>
            <a:picLocks noChangeAspect="1"/>
          </p:cNvPicPr>
          <p:nvPr/>
        </p:nvPicPr>
        <p:blipFill>
          <a:blip r:embed="rId3"/>
          <a:stretch>
            <a:fillRect/>
          </a:stretch>
        </p:blipFill>
        <p:spPr>
          <a:xfrm>
            <a:off x="826769" y="5140027"/>
            <a:ext cx="206667" cy="165298"/>
          </a:xfrm>
          <a:prstGeom prst="rect">
            <a:avLst/>
          </a:prstGeom>
        </p:spPr>
      </p:pic>
      <p:sp>
        <p:nvSpPr>
          <p:cNvPr id="19" name="Text 16"/>
          <p:cNvSpPr/>
          <p:nvPr/>
        </p:nvSpPr>
        <p:spPr>
          <a:xfrm>
            <a:off x="1198731" y="5106888"/>
            <a:ext cx="1016619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Heebo" pitchFamily="34" charset="0"/>
                <a:ea typeface="Heebo" pitchFamily="34" charset="-122"/>
                <a:cs typeface="Heebo" pitchFamily="34" charset="-120"/>
              </a:rPr>
              <a:t>Students will engage in comprehensive study of incident response planning methodologies, participate in scenario-based exercises, and develop the practical skills necessary for creating and implementing effective IR programs in organizational settings.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61475" y="462657"/>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2D47"/>
                </a:solidFill>
                <a:latin typeface="Crimson Pro SemiBold" pitchFamily="34" charset="0"/>
                <a:ea typeface="Crimson Pro SemiBold" pitchFamily="34" charset="-122"/>
                <a:cs typeface="Crimson Pro SemiBold" pitchFamily="34" charset="-120"/>
              </a:rPr>
              <a:t>Understanding Security Incidents</a:t>
            </a:r>
            <a:endParaRPr lang="en-US" sz="3250" dirty="0"/>
          </a:p>
        </p:txBody>
      </p:sp>
      <p:sp>
        <p:nvSpPr>
          <p:cNvPr id="3" name="Text 1"/>
          <p:cNvSpPr/>
          <p:nvPr/>
        </p:nvSpPr>
        <p:spPr>
          <a:xfrm>
            <a:off x="661475" y="1310084"/>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A </a:t>
            </a:r>
            <a:r>
              <a:rPr lang="en-US" sz="1300" b="1" dirty="0">
                <a:solidFill>
                  <a:srgbClr val="4C4C4D"/>
                </a:solidFill>
                <a:latin typeface="Heebo Bold" pitchFamily="34" charset="0"/>
                <a:ea typeface="Heebo Bold" pitchFamily="34" charset="-122"/>
                <a:cs typeface="Heebo Bold" pitchFamily="34" charset="-120"/>
              </a:rPr>
              <a:t>security incident</a:t>
            </a:r>
            <a:r>
              <a:rPr lang="en-US" sz="1300" dirty="0">
                <a:solidFill>
                  <a:srgbClr val="4C4C4D"/>
                </a:solidFill>
                <a:latin typeface="Heebo" pitchFamily="34" charset="0"/>
                <a:ea typeface="Heebo" pitchFamily="34" charset="-122"/>
                <a:cs typeface="Heebo" pitchFamily="34" charset="-120"/>
              </a:rPr>
              <a:t> is any event that compromises the confidentiality, integrity, or availability of information assets, or violates security policies, procedures, or acceptable use guidelines. Recognizing incident types and their severity is the first step toward effective response.</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025352"/>
            <a:ext cx="3512653" cy="2102346"/>
          </a:xfrm>
          <a:prstGeom prst="rect">
            <a:avLst/>
          </a:prstGeom>
        </p:spPr>
      </p:pic>
      <p:sp>
        <p:nvSpPr>
          <p:cNvPr id="5" name="Shape 2"/>
          <p:cNvSpPr/>
          <p:nvPr/>
        </p:nvSpPr>
        <p:spPr>
          <a:xfrm>
            <a:off x="922017" y="2209701"/>
            <a:ext cx="513345" cy="251420"/>
          </a:xfrm>
          <a:prstGeom prst="roundRect">
            <a:avLst>
              <a:gd name="adj" fmla="val 7894"/>
            </a:avLst>
          </a:prstGeom>
          <a:solidFill>
            <a:srgbClr val="CCD7FF"/>
          </a:solidFill>
          <a:ln/>
        </p:spPr>
        <p:txBody>
          <a:bodyPr/>
          <a:lstStyle/>
          <a:p>
            <a:endParaRPr lang="en-US"/>
          </a:p>
        </p:txBody>
      </p:sp>
      <p:sp>
        <p:nvSpPr>
          <p:cNvPr id="6" name="Text 3"/>
          <p:cNvSpPr/>
          <p:nvPr/>
        </p:nvSpPr>
        <p:spPr>
          <a:xfrm>
            <a:off x="1021233" y="2259310"/>
            <a:ext cx="314912" cy="152202"/>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HIGH</a:t>
            </a:r>
            <a:endParaRPr lang="en-US" sz="1000" dirty="0"/>
          </a:p>
        </p:txBody>
      </p:sp>
      <p:sp>
        <p:nvSpPr>
          <p:cNvPr id="7" name="Text 4"/>
          <p:cNvSpPr/>
          <p:nvPr/>
        </p:nvSpPr>
        <p:spPr>
          <a:xfrm>
            <a:off x="922017" y="2527201"/>
            <a:ext cx="306776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Malware Attacks</a:t>
            </a:r>
            <a:endParaRPr lang="en-US" sz="1600" dirty="0"/>
          </a:p>
        </p:txBody>
      </p:sp>
      <p:sp>
        <p:nvSpPr>
          <p:cNvPr id="8" name="Text 5"/>
          <p:cNvSpPr/>
          <p:nvPr/>
        </p:nvSpPr>
        <p:spPr>
          <a:xfrm>
            <a:off x="922017" y="2884884"/>
            <a:ext cx="3067767"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Malicious software — viruses, trojans, worms, and spyware — designed to damage systems or gain unauthorized access to sensitive resources.</a:t>
            </a:r>
            <a:endParaRPr lang="en-US" sz="13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39422" y="2025352"/>
            <a:ext cx="3512752" cy="2102346"/>
          </a:xfrm>
          <a:prstGeom prst="rect">
            <a:avLst/>
          </a:prstGeom>
        </p:spPr>
      </p:pic>
      <p:sp>
        <p:nvSpPr>
          <p:cNvPr id="10" name="Shape 6"/>
          <p:cNvSpPr/>
          <p:nvPr/>
        </p:nvSpPr>
        <p:spPr>
          <a:xfrm>
            <a:off x="4599964" y="2209701"/>
            <a:ext cx="760691" cy="251420"/>
          </a:xfrm>
          <a:prstGeom prst="roundRect">
            <a:avLst>
              <a:gd name="adj" fmla="val 7894"/>
            </a:avLst>
          </a:prstGeom>
          <a:solidFill>
            <a:srgbClr val="CCD7FF"/>
          </a:solidFill>
          <a:ln/>
        </p:spPr>
        <p:txBody>
          <a:bodyPr/>
          <a:lstStyle/>
          <a:p>
            <a:endParaRPr lang="en-US"/>
          </a:p>
        </p:txBody>
      </p:sp>
      <p:sp>
        <p:nvSpPr>
          <p:cNvPr id="11" name="Text 7"/>
          <p:cNvSpPr/>
          <p:nvPr/>
        </p:nvSpPr>
        <p:spPr>
          <a:xfrm>
            <a:off x="4699180" y="2259310"/>
            <a:ext cx="562259" cy="152202"/>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CRITICAL</a:t>
            </a:r>
            <a:endParaRPr lang="en-US" sz="1000" dirty="0"/>
          </a:p>
        </p:txBody>
      </p:sp>
      <p:sp>
        <p:nvSpPr>
          <p:cNvPr id="12" name="Text 8"/>
          <p:cNvSpPr/>
          <p:nvPr/>
        </p:nvSpPr>
        <p:spPr>
          <a:xfrm>
            <a:off x="4599964" y="2527201"/>
            <a:ext cx="3067866"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Ransomware</a:t>
            </a:r>
            <a:endParaRPr lang="en-US" sz="1600" dirty="0"/>
          </a:p>
        </p:txBody>
      </p:sp>
      <p:sp>
        <p:nvSpPr>
          <p:cNvPr id="13" name="Text 9"/>
          <p:cNvSpPr/>
          <p:nvPr/>
        </p:nvSpPr>
        <p:spPr>
          <a:xfrm>
            <a:off x="4599964" y="2884884"/>
            <a:ext cx="306786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Encryption-based attacks that hold data hostage until a ransom is paid, causing severe operational disruption and financial harm.</a:t>
            </a:r>
            <a:endParaRPr lang="en-US" sz="13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17468" y="2025352"/>
            <a:ext cx="3512653" cy="2102346"/>
          </a:xfrm>
          <a:prstGeom prst="rect">
            <a:avLst/>
          </a:prstGeom>
        </p:spPr>
      </p:pic>
      <p:sp>
        <p:nvSpPr>
          <p:cNvPr id="15" name="Shape 10"/>
          <p:cNvSpPr/>
          <p:nvPr/>
        </p:nvSpPr>
        <p:spPr>
          <a:xfrm>
            <a:off x="8278010" y="2209701"/>
            <a:ext cx="760691" cy="251420"/>
          </a:xfrm>
          <a:prstGeom prst="roundRect">
            <a:avLst>
              <a:gd name="adj" fmla="val 7894"/>
            </a:avLst>
          </a:prstGeom>
          <a:solidFill>
            <a:srgbClr val="CCD7FF"/>
          </a:solidFill>
          <a:ln/>
        </p:spPr>
        <p:txBody>
          <a:bodyPr/>
          <a:lstStyle/>
          <a:p>
            <a:endParaRPr lang="en-US"/>
          </a:p>
        </p:txBody>
      </p:sp>
      <p:sp>
        <p:nvSpPr>
          <p:cNvPr id="16" name="Text 11"/>
          <p:cNvSpPr/>
          <p:nvPr/>
        </p:nvSpPr>
        <p:spPr>
          <a:xfrm>
            <a:off x="8377226" y="2259310"/>
            <a:ext cx="562259" cy="152202"/>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CRITICAL</a:t>
            </a:r>
            <a:endParaRPr lang="en-US" sz="1000" dirty="0"/>
          </a:p>
        </p:txBody>
      </p:sp>
      <p:sp>
        <p:nvSpPr>
          <p:cNvPr id="17" name="Text 12"/>
          <p:cNvSpPr/>
          <p:nvPr/>
        </p:nvSpPr>
        <p:spPr>
          <a:xfrm>
            <a:off x="8278010" y="2527201"/>
            <a:ext cx="306776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Data Breaches</a:t>
            </a:r>
            <a:endParaRPr lang="en-US" sz="1600" dirty="0"/>
          </a:p>
        </p:txBody>
      </p:sp>
      <p:sp>
        <p:nvSpPr>
          <p:cNvPr id="18" name="Text 13"/>
          <p:cNvSpPr/>
          <p:nvPr/>
        </p:nvSpPr>
        <p:spPr>
          <a:xfrm>
            <a:off x="8278010" y="2884884"/>
            <a:ext cx="3067767"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Unauthorized access and exfiltration of sensitive information including personal data, intellectual property, or user credentials.</a:t>
            </a:r>
            <a:endParaRPr lang="en-US" sz="1300" dirty="0"/>
          </a:p>
        </p:txBody>
      </p:sp>
      <p:pic>
        <p:nvPicPr>
          <p:cNvPr id="19"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292997"/>
            <a:ext cx="3512653" cy="2102346"/>
          </a:xfrm>
          <a:prstGeom prst="rect">
            <a:avLst/>
          </a:prstGeom>
        </p:spPr>
      </p:pic>
      <p:sp>
        <p:nvSpPr>
          <p:cNvPr id="20" name="Shape 14"/>
          <p:cNvSpPr/>
          <p:nvPr/>
        </p:nvSpPr>
        <p:spPr>
          <a:xfrm>
            <a:off x="922017" y="4477345"/>
            <a:ext cx="513345" cy="251420"/>
          </a:xfrm>
          <a:prstGeom prst="roundRect">
            <a:avLst>
              <a:gd name="adj" fmla="val 7894"/>
            </a:avLst>
          </a:prstGeom>
          <a:solidFill>
            <a:srgbClr val="CCD7FF"/>
          </a:solidFill>
          <a:ln/>
        </p:spPr>
        <p:txBody>
          <a:bodyPr/>
          <a:lstStyle/>
          <a:p>
            <a:endParaRPr lang="en-US"/>
          </a:p>
        </p:txBody>
      </p:sp>
      <p:sp>
        <p:nvSpPr>
          <p:cNvPr id="21" name="Text 15"/>
          <p:cNvSpPr/>
          <p:nvPr/>
        </p:nvSpPr>
        <p:spPr>
          <a:xfrm>
            <a:off x="1021233" y="4526955"/>
            <a:ext cx="314912" cy="152202"/>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HIGH</a:t>
            </a:r>
            <a:endParaRPr lang="en-US" sz="1000" dirty="0"/>
          </a:p>
        </p:txBody>
      </p:sp>
      <p:sp>
        <p:nvSpPr>
          <p:cNvPr id="22" name="Text 16"/>
          <p:cNvSpPr/>
          <p:nvPr/>
        </p:nvSpPr>
        <p:spPr>
          <a:xfrm>
            <a:off x="922017" y="4794845"/>
            <a:ext cx="306776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DDoS Attacks</a:t>
            </a:r>
            <a:endParaRPr lang="en-US" sz="1600" dirty="0"/>
          </a:p>
        </p:txBody>
      </p:sp>
      <p:sp>
        <p:nvSpPr>
          <p:cNvPr id="23" name="Text 17"/>
          <p:cNvSpPr/>
          <p:nvPr/>
        </p:nvSpPr>
        <p:spPr>
          <a:xfrm>
            <a:off x="922017" y="5152529"/>
            <a:ext cx="3067767"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Distributed denial-of-service attacks overwhelming systems with traffic to disrupt availability and degrade business operations.</a:t>
            </a:r>
            <a:endParaRPr lang="en-US" sz="1300" dirty="0"/>
          </a:p>
        </p:txBody>
      </p:sp>
      <p:pic>
        <p:nvPicPr>
          <p:cNvPr id="24"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39422" y="4292997"/>
            <a:ext cx="3512752" cy="2102346"/>
          </a:xfrm>
          <a:prstGeom prst="rect">
            <a:avLst/>
          </a:prstGeom>
        </p:spPr>
      </p:pic>
      <p:sp>
        <p:nvSpPr>
          <p:cNvPr id="25" name="Shape 18"/>
          <p:cNvSpPr/>
          <p:nvPr/>
        </p:nvSpPr>
        <p:spPr>
          <a:xfrm>
            <a:off x="4599964" y="4477345"/>
            <a:ext cx="513345" cy="251420"/>
          </a:xfrm>
          <a:prstGeom prst="roundRect">
            <a:avLst>
              <a:gd name="adj" fmla="val 7894"/>
            </a:avLst>
          </a:prstGeom>
          <a:solidFill>
            <a:srgbClr val="CCD7FF"/>
          </a:solidFill>
          <a:ln/>
        </p:spPr>
        <p:txBody>
          <a:bodyPr/>
          <a:lstStyle/>
          <a:p>
            <a:endParaRPr lang="en-US"/>
          </a:p>
        </p:txBody>
      </p:sp>
      <p:sp>
        <p:nvSpPr>
          <p:cNvPr id="26" name="Text 19"/>
          <p:cNvSpPr/>
          <p:nvPr/>
        </p:nvSpPr>
        <p:spPr>
          <a:xfrm>
            <a:off x="4699180" y="4526955"/>
            <a:ext cx="314912" cy="152202"/>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HIGH</a:t>
            </a:r>
            <a:endParaRPr lang="en-US" sz="1000" dirty="0"/>
          </a:p>
        </p:txBody>
      </p:sp>
      <p:sp>
        <p:nvSpPr>
          <p:cNvPr id="27" name="Text 20"/>
          <p:cNvSpPr/>
          <p:nvPr/>
        </p:nvSpPr>
        <p:spPr>
          <a:xfrm>
            <a:off x="4599964" y="4794845"/>
            <a:ext cx="3067866"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Insider Threats</a:t>
            </a:r>
            <a:endParaRPr lang="en-US" sz="1600" dirty="0"/>
          </a:p>
        </p:txBody>
      </p:sp>
      <p:sp>
        <p:nvSpPr>
          <p:cNvPr id="28" name="Text 21"/>
          <p:cNvSpPr/>
          <p:nvPr/>
        </p:nvSpPr>
        <p:spPr>
          <a:xfrm>
            <a:off x="4599964" y="5152529"/>
            <a:ext cx="306786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Malicious or negligent actions by authorized users resulting in data loss, system sabotage, or critical policy violations.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61475" y="604441"/>
            <a:ext cx="5262927" cy="878483"/>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152D47"/>
                </a:solidFill>
                <a:latin typeface="Crimson Pro SemiBold" pitchFamily="34" charset="0"/>
                <a:ea typeface="Crimson Pro SemiBold" pitchFamily="34" charset="-122"/>
                <a:cs typeface="Crimson Pro SemiBold" pitchFamily="34" charset="-120"/>
              </a:rPr>
              <a:t>The Importance of Structured Incident Response</a:t>
            </a:r>
            <a:endParaRPr lang="en-US" sz="2750" dirty="0"/>
          </a:p>
        </p:txBody>
      </p:sp>
      <p:sp>
        <p:nvSpPr>
          <p:cNvPr id="3" name="Text 1"/>
          <p:cNvSpPr/>
          <p:nvPr/>
        </p:nvSpPr>
        <p:spPr>
          <a:xfrm>
            <a:off x="661475" y="1602383"/>
            <a:ext cx="5262927" cy="1040309"/>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Without a structured incident response plan, organizations face prolonged downtime, increased damage, regulatory penalties, reputational harm, and spiraling recovery costs. Coordinated team response with clearly defined roles and established procedures is essential for effective incident management and long-term organizational resilience.</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777034"/>
            <a:ext cx="5262927" cy="1074241"/>
          </a:xfrm>
          <a:prstGeom prst="rect">
            <a:avLst/>
          </a:prstGeom>
        </p:spPr>
      </p:pic>
      <p:sp>
        <p:nvSpPr>
          <p:cNvPr id="5" name="Text 2"/>
          <p:cNvSpPr/>
          <p:nvPr/>
        </p:nvSpPr>
        <p:spPr>
          <a:xfrm>
            <a:off x="897213" y="2936577"/>
            <a:ext cx="4867649"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Operational Impact</a:t>
            </a:r>
            <a:endParaRPr lang="en-US" sz="1350" dirty="0"/>
          </a:p>
        </p:txBody>
      </p:sp>
      <p:sp>
        <p:nvSpPr>
          <p:cNvPr id="6" name="Text 3"/>
          <p:cNvSpPr/>
          <p:nvPr/>
        </p:nvSpPr>
        <p:spPr>
          <a:xfrm>
            <a:off x="897213" y="3275608"/>
            <a:ext cx="4867649"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Prolonged downtime and compounding damage from delayed or ineffective response actions, causing extended business disruption.</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970734"/>
            <a:ext cx="5262927" cy="1074241"/>
          </a:xfrm>
          <a:prstGeom prst="rect">
            <a:avLst/>
          </a:prstGeom>
        </p:spPr>
      </p:pic>
      <p:sp>
        <p:nvSpPr>
          <p:cNvPr id="8" name="Text 4"/>
          <p:cNvSpPr/>
          <p:nvPr/>
        </p:nvSpPr>
        <p:spPr>
          <a:xfrm>
            <a:off x="897213" y="4130278"/>
            <a:ext cx="4867649"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Financial Impact</a:t>
            </a:r>
            <a:endParaRPr lang="en-US" sz="1350" dirty="0"/>
          </a:p>
        </p:txBody>
      </p:sp>
      <p:sp>
        <p:nvSpPr>
          <p:cNvPr id="9" name="Text 5"/>
          <p:cNvSpPr/>
          <p:nvPr/>
        </p:nvSpPr>
        <p:spPr>
          <a:xfrm>
            <a:off x="897213" y="4469309"/>
            <a:ext cx="4867649"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Higher recovery costs from emergency response, forensic investigation, system restoration, and potential ransom payments.</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5164435"/>
            <a:ext cx="5262927" cy="1074241"/>
          </a:xfrm>
          <a:prstGeom prst="rect">
            <a:avLst/>
          </a:prstGeom>
        </p:spPr>
      </p:pic>
      <p:sp>
        <p:nvSpPr>
          <p:cNvPr id="11" name="Text 6"/>
          <p:cNvSpPr/>
          <p:nvPr/>
        </p:nvSpPr>
        <p:spPr>
          <a:xfrm>
            <a:off x="897213" y="5323979"/>
            <a:ext cx="4867649"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Compliance Impact</a:t>
            </a:r>
            <a:endParaRPr lang="en-US" sz="1350" dirty="0"/>
          </a:p>
        </p:txBody>
      </p:sp>
      <p:sp>
        <p:nvSpPr>
          <p:cNvPr id="12" name="Text 7"/>
          <p:cNvSpPr/>
          <p:nvPr/>
        </p:nvSpPr>
        <p:spPr>
          <a:xfrm>
            <a:off x="897213" y="5663009"/>
            <a:ext cx="4867649"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Regulatory penalties for failure to meet incident notification requirements and data protection obligations under GDPR, HIPAA, and similar frameworks.</a:t>
            </a:r>
            <a:endParaRPr lang="en-US" sz="1100" dirty="0"/>
          </a:p>
        </p:txBody>
      </p:sp>
      <p:pic>
        <p:nvPicPr>
          <p:cNvPr id="13" name="Image 3" descr="preencoded.png"/>
          <p:cNvPicPr>
            <a:picLocks noChangeAspect="1"/>
          </p:cNvPicPr>
          <p:nvPr/>
        </p:nvPicPr>
        <p:blipFill>
          <a:blip r:embed="rId4"/>
          <a:stretch>
            <a:fillRect/>
          </a:stretch>
        </p:blipFill>
        <p:spPr>
          <a:xfrm>
            <a:off x="6273643" y="619323"/>
            <a:ext cx="4473463" cy="2840335"/>
          </a:xfrm>
          <a:prstGeom prst="rect">
            <a:avLst/>
          </a:prstGeom>
        </p:spPr>
      </p:pic>
      <p:sp>
        <p:nvSpPr>
          <p:cNvPr id="14" name="Shape 8"/>
          <p:cNvSpPr/>
          <p:nvPr/>
        </p:nvSpPr>
        <p:spPr>
          <a:xfrm>
            <a:off x="6273643" y="3594001"/>
            <a:ext cx="5262927" cy="909340"/>
          </a:xfrm>
          <a:prstGeom prst="roundRect">
            <a:avLst>
              <a:gd name="adj" fmla="val 2319"/>
            </a:avLst>
          </a:prstGeom>
          <a:solidFill>
            <a:srgbClr val="CCD7FF"/>
          </a:solidFill>
          <a:ln/>
        </p:spPr>
        <p:txBody>
          <a:bodyPr/>
          <a:lstStyle/>
          <a:p>
            <a:endParaRPr lang="en-US"/>
          </a:p>
        </p:txBody>
      </p:sp>
      <p:pic>
        <p:nvPicPr>
          <p:cNvPr id="15" name="Image 4" descr="preencoded.png"/>
          <p:cNvPicPr>
            <a:picLocks noChangeAspect="1"/>
          </p:cNvPicPr>
          <p:nvPr/>
        </p:nvPicPr>
        <p:blipFill>
          <a:blip r:embed="rId5"/>
          <a:stretch>
            <a:fillRect/>
          </a:stretch>
        </p:blipFill>
        <p:spPr>
          <a:xfrm>
            <a:off x="6414133" y="3771702"/>
            <a:ext cx="175712" cy="140494"/>
          </a:xfrm>
          <a:prstGeom prst="rect">
            <a:avLst/>
          </a:prstGeom>
        </p:spPr>
      </p:pic>
      <p:sp>
        <p:nvSpPr>
          <p:cNvPr id="16" name="Text 9"/>
          <p:cNvSpPr/>
          <p:nvPr/>
        </p:nvSpPr>
        <p:spPr>
          <a:xfrm>
            <a:off x="6730336" y="3736578"/>
            <a:ext cx="4665744" cy="624185"/>
          </a:xfrm>
          <a:prstGeom prst="rect">
            <a:avLst/>
          </a:prstGeom>
          <a:noFill/>
          <a:ln/>
        </p:spPr>
        <p:txBody>
          <a:bodyPr wrap="square" lIns="0" tIns="0" rIns="0" bIns="0" rtlCol="0" anchor="t">
            <a:normAutofit/>
          </a:bodyPr>
          <a:lstStyle/>
          <a:p>
            <a:pPr marL="0" indent="0" algn="l">
              <a:lnSpc>
                <a:spcPct val="123000"/>
              </a:lnSpc>
              <a:buNone/>
            </a:pPr>
            <a:r>
              <a:rPr lang="en-US" sz="1100" b="1" dirty="0">
                <a:solidFill>
                  <a:srgbClr val="000000"/>
                </a:solidFill>
                <a:latin typeface="Heebo Bold" pitchFamily="34" charset="0"/>
                <a:ea typeface="Heebo Bold" pitchFamily="34" charset="-122"/>
                <a:cs typeface="Heebo Bold" pitchFamily="34" charset="-120"/>
              </a:rPr>
              <a:t>Essential Requirement:</a:t>
            </a:r>
            <a:r>
              <a:rPr lang="en-US" sz="1100" dirty="0">
                <a:solidFill>
                  <a:srgbClr val="000000"/>
                </a:solidFill>
                <a:latin typeface="Heebo" pitchFamily="34" charset="0"/>
                <a:ea typeface="Heebo" pitchFamily="34" charset="-122"/>
                <a:cs typeface="Heebo" pitchFamily="34" charset="-120"/>
              </a:rPr>
              <a:t> Coordinated team response with clearly defined roles, established procedures, and effective communication channels is the cornerstone of organizational cyber resilience.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594320"/>
            <a:ext cx="1018951" cy="201116"/>
          </a:xfrm>
          <a:prstGeom prst="roundRect">
            <a:avLst>
              <a:gd name="adj" fmla="val 7895"/>
            </a:avLst>
          </a:prstGeom>
          <a:noFill/>
          <a:ln w="6350">
            <a:solidFill>
              <a:srgbClr val="2150FE"/>
            </a:solidFill>
            <a:prstDash val="solid"/>
          </a:ln>
        </p:spPr>
        <p:txBody>
          <a:bodyPr/>
          <a:lstStyle/>
          <a:p>
            <a:endParaRPr lang="en-US"/>
          </a:p>
        </p:txBody>
      </p:sp>
      <p:sp>
        <p:nvSpPr>
          <p:cNvPr id="3" name="Text 1"/>
          <p:cNvSpPr/>
          <p:nvPr/>
        </p:nvSpPr>
        <p:spPr>
          <a:xfrm>
            <a:off x="740848" y="634008"/>
            <a:ext cx="1469790" cy="121741"/>
          </a:xfrm>
          <a:prstGeom prst="rect">
            <a:avLst/>
          </a:prstGeom>
          <a:noFill/>
          <a:ln/>
        </p:spPr>
        <p:txBody>
          <a:bodyPr wrap="none" lIns="0" tIns="0" rIns="0" bIns="0" rtlCol="0" anchor="t"/>
          <a:lstStyle/>
          <a:p>
            <a:pPr marL="0" indent="0" algn="l">
              <a:lnSpc>
                <a:spcPct val="96000"/>
              </a:lnSpc>
              <a:buNone/>
            </a:pPr>
            <a:r>
              <a:rPr lang="en-US" sz="800" dirty="0">
                <a:solidFill>
                  <a:srgbClr val="2150FE"/>
                </a:solidFill>
                <a:latin typeface="Heebo" pitchFamily="34" charset="0"/>
                <a:ea typeface="Heebo" pitchFamily="34" charset="-122"/>
                <a:cs typeface="Heebo" pitchFamily="34" charset="-120"/>
              </a:rPr>
              <a:t>NIST SP 800-61R3</a:t>
            </a:r>
            <a:endParaRPr lang="en-US" sz="800" dirty="0"/>
          </a:p>
        </p:txBody>
      </p:sp>
      <p:sp>
        <p:nvSpPr>
          <p:cNvPr id="4" name="Text 2"/>
          <p:cNvSpPr/>
          <p:nvPr/>
        </p:nvSpPr>
        <p:spPr>
          <a:xfrm>
            <a:off x="661475" y="837704"/>
            <a:ext cx="10868745" cy="413445"/>
          </a:xfrm>
          <a:prstGeom prst="rect">
            <a:avLst/>
          </a:prstGeom>
          <a:noFill/>
          <a:ln/>
        </p:spPr>
        <p:txBody>
          <a:bodyPr wrap="none" lIns="0" tIns="0" rIns="0" bIns="0" rtlCol="0" anchor="t"/>
          <a:lstStyle/>
          <a:p>
            <a:pPr marL="0" indent="0" algn="l">
              <a:lnSpc>
                <a:spcPct val="104000"/>
              </a:lnSpc>
              <a:buNone/>
            </a:pPr>
            <a:r>
              <a:rPr lang="en-US" sz="2600" dirty="0">
                <a:solidFill>
                  <a:srgbClr val="152D47"/>
                </a:solidFill>
                <a:latin typeface="Crimson Pro SemiBold" pitchFamily="34" charset="0"/>
                <a:ea typeface="Crimson Pro SemiBold" pitchFamily="34" charset="-122"/>
                <a:cs typeface="Crimson Pro SemiBold" pitchFamily="34" charset="-120"/>
              </a:rPr>
              <a:t>The NIST Incident Response Lifecycle</a:t>
            </a:r>
            <a:endParaRPr lang="en-US" sz="2600" dirty="0"/>
          </a:p>
        </p:txBody>
      </p:sp>
      <p:sp>
        <p:nvSpPr>
          <p:cNvPr id="5" name="Text 3"/>
          <p:cNvSpPr/>
          <p:nvPr/>
        </p:nvSpPr>
        <p:spPr>
          <a:xfrm>
            <a:off x="661475" y="1409898"/>
            <a:ext cx="10868745"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NIST SP 800-61 Revision 3 defines the industry-standard four-phase framework for managing cybersecurity incidents. Each phase is interdependent, and lessons from later phases continuously feed back into improving earlier ones.</a:t>
            </a:r>
            <a:endParaRPr lang="en-US" sz="1000" dirty="0"/>
          </a:p>
        </p:txBody>
      </p:sp>
      <p:sp>
        <p:nvSpPr>
          <p:cNvPr id="6" name="Shape 4"/>
          <p:cNvSpPr/>
          <p:nvPr/>
        </p:nvSpPr>
        <p:spPr>
          <a:xfrm>
            <a:off x="661475" y="2029023"/>
            <a:ext cx="297649" cy="297656"/>
          </a:xfrm>
          <a:prstGeom prst="roundRect">
            <a:avLst>
              <a:gd name="adj" fmla="val 6668"/>
            </a:avLst>
          </a:prstGeom>
          <a:solidFill>
            <a:srgbClr val="F2EEEE"/>
          </a:solidFill>
          <a:ln/>
        </p:spPr>
        <p:txBody>
          <a:bodyPr/>
          <a:lstStyle/>
          <a:p>
            <a:endParaRPr lang="en-US"/>
          </a:p>
        </p:txBody>
      </p:sp>
      <p:sp>
        <p:nvSpPr>
          <p:cNvPr id="7" name="Text 5"/>
          <p:cNvSpPr/>
          <p:nvPr/>
        </p:nvSpPr>
        <p:spPr>
          <a:xfrm>
            <a:off x="711083" y="2053828"/>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1</a:t>
            </a:r>
            <a:endParaRPr lang="en-US" sz="1550" dirty="0"/>
          </a:p>
        </p:txBody>
      </p:sp>
      <p:sp>
        <p:nvSpPr>
          <p:cNvPr id="8" name="Text 6"/>
          <p:cNvSpPr/>
          <p:nvPr/>
        </p:nvSpPr>
        <p:spPr>
          <a:xfrm>
            <a:off x="1064888" y="2074466"/>
            <a:ext cx="4869634" cy="206673"/>
          </a:xfrm>
          <a:prstGeom prst="rect">
            <a:avLst/>
          </a:prstGeom>
          <a:noFill/>
          <a:ln/>
        </p:spPr>
        <p:txBody>
          <a:bodyPr wrap="none" lIns="0" tIns="0" rIns="0" bIns="0" rtlCol="0" anchor="t"/>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Preparation</a:t>
            </a:r>
            <a:endParaRPr lang="en-US" sz="1300" dirty="0"/>
          </a:p>
        </p:txBody>
      </p:sp>
      <p:sp>
        <p:nvSpPr>
          <p:cNvPr id="9" name="Text 7"/>
          <p:cNvSpPr/>
          <p:nvPr/>
        </p:nvSpPr>
        <p:spPr>
          <a:xfrm>
            <a:off x="1064888" y="2386905"/>
            <a:ext cx="4869634"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Establish IR capabilities, develop policies and procedures, deploy tools, train personnel, and create communication plans </a:t>
            </a:r>
            <a:r>
              <a:rPr lang="en-US" sz="1000" i="1" dirty="0">
                <a:solidFill>
                  <a:srgbClr val="4C4C4D"/>
                </a:solidFill>
                <a:latin typeface="Heebo" pitchFamily="34" charset="0"/>
                <a:ea typeface="Heebo" pitchFamily="34" charset="-122"/>
                <a:cs typeface="Heebo" pitchFamily="34" charset="-120"/>
              </a:rPr>
              <a:t>before</a:t>
            </a:r>
            <a:r>
              <a:rPr lang="en-US" sz="1000" dirty="0">
                <a:solidFill>
                  <a:srgbClr val="4C4C4D"/>
                </a:solidFill>
                <a:latin typeface="Heebo" pitchFamily="34" charset="0"/>
                <a:ea typeface="Heebo" pitchFamily="34" charset="-122"/>
                <a:cs typeface="Heebo" pitchFamily="34" charset="-120"/>
              </a:rPr>
              <a:t> incidents occur.</a:t>
            </a:r>
            <a:endParaRPr lang="en-US" sz="1000" dirty="0"/>
          </a:p>
        </p:txBody>
      </p:sp>
      <p:sp>
        <p:nvSpPr>
          <p:cNvPr id="10" name="Shape 8"/>
          <p:cNvSpPr/>
          <p:nvPr/>
        </p:nvSpPr>
        <p:spPr>
          <a:xfrm>
            <a:off x="661475" y="2979539"/>
            <a:ext cx="297649" cy="297656"/>
          </a:xfrm>
          <a:prstGeom prst="roundRect">
            <a:avLst>
              <a:gd name="adj" fmla="val 6668"/>
            </a:avLst>
          </a:prstGeom>
          <a:solidFill>
            <a:srgbClr val="F2EEEE"/>
          </a:solidFill>
          <a:ln/>
        </p:spPr>
        <p:txBody>
          <a:bodyPr/>
          <a:lstStyle/>
          <a:p>
            <a:endParaRPr lang="en-US"/>
          </a:p>
        </p:txBody>
      </p:sp>
      <p:sp>
        <p:nvSpPr>
          <p:cNvPr id="11" name="Text 9"/>
          <p:cNvSpPr/>
          <p:nvPr/>
        </p:nvSpPr>
        <p:spPr>
          <a:xfrm>
            <a:off x="711083" y="3004344"/>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2</a:t>
            </a:r>
            <a:endParaRPr lang="en-US" sz="1550" dirty="0"/>
          </a:p>
        </p:txBody>
      </p:sp>
      <p:sp>
        <p:nvSpPr>
          <p:cNvPr id="12" name="Text 10"/>
          <p:cNvSpPr/>
          <p:nvPr/>
        </p:nvSpPr>
        <p:spPr>
          <a:xfrm>
            <a:off x="1064888" y="3024981"/>
            <a:ext cx="4869634" cy="206673"/>
          </a:xfrm>
          <a:prstGeom prst="rect">
            <a:avLst/>
          </a:prstGeom>
          <a:noFill/>
          <a:ln/>
        </p:spPr>
        <p:txBody>
          <a:bodyPr wrap="none" lIns="0" tIns="0" rIns="0" bIns="0" rtlCol="0" anchor="t"/>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Detection and Analysis</a:t>
            </a:r>
            <a:endParaRPr lang="en-US" sz="1300" dirty="0"/>
          </a:p>
        </p:txBody>
      </p:sp>
      <p:sp>
        <p:nvSpPr>
          <p:cNvPr id="13" name="Text 11"/>
          <p:cNvSpPr/>
          <p:nvPr/>
        </p:nvSpPr>
        <p:spPr>
          <a:xfrm>
            <a:off x="1064888" y="3337421"/>
            <a:ext cx="4869634"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Monitor for indicators of compromise, analyze alerts, validate incidents, determine scope and severity, and initiate response procedures.</a:t>
            </a:r>
            <a:endParaRPr lang="en-US" sz="1000" dirty="0"/>
          </a:p>
        </p:txBody>
      </p:sp>
      <p:sp>
        <p:nvSpPr>
          <p:cNvPr id="14" name="Shape 12"/>
          <p:cNvSpPr/>
          <p:nvPr/>
        </p:nvSpPr>
        <p:spPr>
          <a:xfrm>
            <a:off x="661475" y="3930055"/>
            <a:ext cx="297649" cy="297656"/>
          </a:xfrm>
          <a:prstGeom prst="roundRect">
            <a:avLst>
              <a:gd name="adj" fmla="val 6668"/>
            </a:avLst>
          </a:prstGeom>
          <a:solidFill>
            <a:srgbClr val="F2EEEE"/>
          </a:solidFill>
          <a:ln/>
        </p:spPr>
        <p:txBody>
          <a:bodyPr/>
          <a:lstStyle/>
          <a:p>
            <a:endParaRPr lang="en-US"/>
          </a:p>
        </p:txBody>
      </p:sp>
      <p:sp>
        <p:nvSpPr>
          <p:cNvPr id="15" name="Text 13"/>
          <p:cNvSpPr/>
          <p:nvPr/>
        </p:nvSpPr>
        <p:spPr>
          <a:xfrm>
            <a:off x="711083" y="3954859"/>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3</a:t>
            </a:r>
            <a:endParaRPr lang="en-US" sz="1550" dirty="0"/>
          </a:p>
        </p:txBody>
      </p:sp>
      <p:sp>
        <p:nvSpPr>
          <p:cNvPr id="16" name="Text 14"/>
          <p:cNvSpPr/>
          <p:nvPr/>
        </p:nvSpPr>
        <p:spPr>
          <a:xfrm>
            <a:off x="1064888" y="3975497"/>
            <a:ext cx="4869634" cy="206673"/>
          </a:xfrm>
          <a:prstGeom prst="rect">
            <a:avLst/>
          </a:prstGeom>
          <a:noFill/>
          <a:ln/>
        </p:spPr>
        <p:txBody>
          <a:bodyPr wrap="none" lIns="0" tIns="0" rIns="0" bIns="0" rtlCol="0" anchor="t"/>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Containment, Eradication &amp; Recovery</a:t>
            </a:r>
            <a:endParaRPr lang="en-US" sz="1300" dirty="0"/>
          </a:p>
        </p:txBody>
      </p:sp>
      <p:sp>
        <p:nvSpPr>
          <p:cNvPr id="17" name="Text 15"/>
          <p:cNvSpPr/>
          <p:nvPr/>
        </p:nvSpPr>
        <p:spPr>
          <a:xfrm>
            <a:off x="1064888" y="4287937"/>
            <a:ext cx="4869634"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Isolate affected systems, eliminate threat presence, restore operations, verify integrity, and implement additional safeguards.</a:t>
            </a:r>
            <a:endParaRPr lang="en-US" sz="1000" dirty="0"/>
          </a:p>
        </p:txBody>
      </p:sp>
      <p:sp>
        <p:nvSpPr>
          <p:cNvPr id="18" name="Shape 16"/>
          <p:cNvSpPr/>
          <p:nvPr/>
        </p:nvSpPr>
        <p:spPr>
          <a:xfrm>
            <a:off x="661475" y="4880570"/>
            <a:ext cx="297649" cy="297656"/>
          </a:xfrm>
          <a:prstGeom prst="roundRect">
            <a:avLst>
              <a:gd name="adj" fmla="val 6668"/>
            </a:avLst>
          </a:prstGeom>
          <a:solidFill>
            <a:srgbClr val="F2EEEE"/>
          </a:solidFill>
          <a:ln/>
        </p:spPr>
        <p:txBody>
          <a:bodyPr/>
          <a:lstStyle/>
          <a:p>
            <a:endParaRPr lang="en-US"/>
          </a:p>
        </p:txBody>
      </p:sp>
      <p:sp>
        <p:nvSpPr>
          <p:cNvPr id="19" name="Text 17"/>
          <p:cNvSpPr/>
          <p:nvPr/>
        </p:nvSpPr>
        <p:spPr>
          <a:xfrm>
            <a:off x="711083" y="4905375"/>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4</a:t>
            </a:r>
            <a:endParaRPr lang="en-US" sz="1550" dirty="0"/>
          </a:p>
        </p:txBody>
      </p:sp>
      <p:sp>
        <p:nvSpPr>
          <p:cNvPr id="20" name="Text 18"/>
          <p:cNvSpPr/>
          <p:nvPr/>
        </p:nvSpPr>
        <p:spPr>
          <a:xfrm>
            <a:off x="1064888" y="4926013"/>
            <a:ext cx="4869634" cy="206673"/>
          </a:xfrm>
          <a:prstGeom prst="rect">
            <a:avLst/>
          </a:prstGeom>
          <a:noFill/>
          <a:ln/>
        </p:spPr>
        <p:txBody>
          <a:bodyPr wrap="none" lIns="0" tIns="0" rIns="0" bIns="0" rtlCol="0" anchor="t"/>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Post-Incident Activity</a:t>
            </a:r>
            <a:endParaRPr lang="en-US" sz="1300" dirty="0"/>
          </a:p>
        </p:txBody>
      </p:sp>
      <p:sp>
        <p:nvSpPr>
          <p:cNvPr id="21" name="Text 19"/>
          <p:cNvSpPr/>
          <p:nvPr/>
        </p:nvSpPr>
        <p:spPr>
          <a:xfrm>
            <a:off x="1064888" y="5238452"/>
            <a:ext cx="4869634"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Conduct lessons learned sessions, document findings, update procedures, improve defenses, and share intelligence with stakeholders.</a:t>
            </a:r>
            <a:endParaRPr lang="en-US" sz="1000" dirty="0"/>
          </a:p>
        </p:txBody>
      </p:sp>
      <p:pic>
        <p:nvPicPr>
          <p:cNvPr id="22" name="Image 0" descr="preencoded.png"/>
          <p:cNvPicPr>
            <a:picLocks noChangeAspect="1"/>
          </p:cNvPicPr>
          <p:nvPr/>
        </p:nvPicPr>
        <p:blipFill>
          <a:blip r:embed="rId3"/>
          <a:stretch>
            <a:fillRect/>
          </a:stretch>
        </p:blipFill>
        <p:spPr>
          <a:xfrm>
            <a:off x="6263523" y="2029023"/>
            <a:ext cx="4218378" cy="41155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1067296"/>
            <a:ext cx="724775" cy="251420"/>
          </a:xfrm>
          <a:prstGeom prst="roundRect">
            <a:avLst>
              <a:gd name="adj" fmla="val 7894"/>
            </a:avLst>
          </a:prstGeom>
          <a:solidFill>
            <a:srgbClr val="CCD7FF"/>
          </a:solidFill>
          <a:ln/>
        </p:spPr>
        <p:txBody>
          <a:bodyPr/>
          <a:lstStyle/>
          <a:p>
            <a:endParaRPr lang="en-US"/>
          </a:p>
        </p:txBody>
      </p:sp>
      <p:sp>
        <p:nvSpPr>
          <p:cNvPr id="3" name="Text 1"/>
          <p:cNvSpPr/>
          <p:nvPr/>
        </p:nvSpPr>
        <p:spPr>
          <a:xfrm>
            <a:off x="760691" y="1116905"/>
            <a:ext cx="1135927" cy="152202"/>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PHASE 1</a:t>
            </a:r>
            <a:endParaRPr lang="en-US" sz="1000" dirty="0"/>
          </a:p>
        </p:txBody>
      </p:sp>
      <p:sp>
        <p:nvSpPr>
          <p:cNvPr id="4" name="Text 2"/>
          <p:cNvSpPr/>
          <p:nvPr/>
        </p:nvSpPr>
        <p:spPr>
          <a:xfrm>
            <a:off x="661475" y="1384796"/>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2D47"/>
                </a:solidFill>
                <a:latin typeface="Crimson Pro SemiBold" pitchFamily="34" charset="0"/>
                <a:ea typeface="Crimson Pro SemiBold" pitchFamily="34" charset="-122"/>
                <a:cs typeface="Crimson Pro SemiBold" pitchFamily="34" charset="-120"/>
              </a:rPr>
              <a:t>Preparation - Part 1: Building IR Capabilities</a:t>
            </a:r>
            <a:endParaRPr lang="en-US" sz="3250" dirty="0"/>
          </a:p>
        </p:txBody>
      </p:sp>
      <p:sp>
        <p:nvSpPr>
          <p:cNvPr id="5" name="Text 3"/>
          <p:cNvSpPr/>
          <p:nvPr/>
        </p:nvSpPr>
        <p:spPr>
          <a:xfrm>
            <a:off x="661475" y="2149574"/>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Preparation is the most critical phase of the IR lifecycle. Organizations that invest in preparation before an incident occurs dramatically reduce mean time to detect and respond, limiting the blast radius of any event.</a:t>
            </a:r>
            <a:endParaRPr lang="en-US" sz="13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864842"/>
            <a:ext cx="3512653" cy="2925862"/>
          </a:xfrm>
          <a:prstGeom prst="rect">
            <a:avLst/>
          </a:prstGeom>
        </p:spPr>
      </p:pic>
      <p:sp>
        <p:nvSpPr>
          <p:cNvPr id="7" name="Text 4"/>
          <p:cNvSpPr/>
          <p:nvPr/>
        </p:nvSpPr>
        <p:spPr>
          <a:xfrm>
            <a:off x="2293781" y="2976860"/>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C4C4D"/>
                </a:solidFill>
                <a:latin typeface="Crimson Pro SemiBold" pitchFamily="34" charset="0"/>
                <a:ea typeface="Crimson Pro SemiBold" pitchFamily="34" charset="-122"/>
                <a:cs typeface="Crimson Pro SemiBold" pitchFamily="34" charset="-120"/>
              </a:rPr>
              <a:t>1</a:t>
            </a:r>
            <a:endParaRPr lang="en-US" sz="1950" dirty="0"/>
          </a:p>
        </p:txBody>
      </p:sp>
      <p:sp>
        <p:nvSpPr>
          <p:cNvPr id="8" name="Text 5"/>
          <p:cNvSpPr/>
          <p:nvPr/>
        </p:nvSpPr>
        <p:spPr>
          <a:xfrm>
            <a:off x="845819" y="3545284"/>
            <a:ext cx="3143965"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IR Team Establishment</a:t>
            </a:r>
            <a:endParaRPr lang="en-US" sz="1600" dirty="0"/>
          </a:p>
        </p:txBody>
      </p:sp>
      <p:sp>
        <p:nvSpPr>
          <p:cNvPr id="9" name="Text 6"/>
          <p:cNvSpPr/>
          <p:nvPr/>
        </p:nvSpPr>
        <p:spPr>
          <a:xfrm>
            <a:off x="845819" y="3902968"/>
            <a:ext cx="3143965" cy="1703388"/>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dirty="0">
                <a:solidFill>
                  <a:srgbClr val="4C4C4D"/>
                </a:solidFill>
                <a:latin typeface="Heebo" pitchFamily="34" charset="0"/>
                <a:ea typeface="Heebo" pitchFamily="34" charset="-122"/>
                <a:cs typeface="Heebo" pitchFamily="34" charset="-120"/>
              </a:rPr>
              <a:t>Define CSIRT structure and reporting hierarchy</a:t>
            </a:r>
            <a:endParaRPr lang="en-US" sz="1300" dirty="0"/>
          </a:p>
          <a:p>
            <a:pPr marL="264160" indent="-264160" algn="l">
              <a:lnSpc>
                <a:spcPct val="133000"/>
              </a:lnSpc>
              <a:buSzPct val="100000"/>
              <a:buChar char="•"/>
            </a:pPr>
            <a:r>
              <a:rPr lang="en-US" sz="1300" dirty="0">
                <a:solidFill>
                  <a:srgbClr val="4C4C4D"/>
                </a:solidFill>
                <a:latin typeface="Heebo" pitchFamily="34" charset="0"/>
                <a:ea typeface="Heebo" pitchFamily="34" charset="-122"/>
                <a:cs typeface="Heebo" pitchFamily="34" charset="-120"/>
              </a:rPr>
              <a:t>Assign roles: Incident Manager, Analysts, Forensics Specialists</a:t>
            </a:r>
            <a:endParaRPr lang="en-US" sz="1300" dirty="0"/>
          </a:p>
          <a:p>
            <a:pPr marL="264160" indent="-264160" algn="l">
              <a:lnSpc>
                <a:spcPct val="133000"/>
              </a:lnSpc>
              <a:buSzPct val="100000"/>
              <a:buChar char="•"/>
            </a:pPr>
            <a:r>
              <a:rPr lang="en-US" sz="1300" dirty="0">
                <a:solidFill>
                  <a:srgbClr val="4C4C4D"/>
                </a:solidFill>
                <a:latin typeface="Heebo" pitchFamily="34" charset="0"/>
                <a:ea typeface="Heebo" pitchFamily="34" charset="-122"/>
                <a:cs typeface="Heebo" pitchFamily="34" charset="-120"/>
              </a:rPr>
              <a:t>Establish 24/7 on-call rotation and escalation procedures</a:t>
            </a:r>
            <a:endParaRPr lang="en-US" sz="13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39422" y="2864842"/>
            <a:ext cx="3512752" cy="2925862"/>
          </a:xfrm>
          <a:prstGeom prst="rect">
            <a:avLst/>
          </a:prstGeom>
        </p:spPr>
      </p:pic>
      <p:sp>
        <p:nvSpPr>
          <p:cNvPr id="11" name="Text 7"/>
          <p:cNvSpPr/>
          <p:nvPr/>
        </p:nvSpPr>
        <p:spPr>
          <a:xfrm>
            <a:off x="5971728" y="2976860"/>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C4C4D"/>
                </a:solidFill>
                <a:latin typeface="Crimson Pro SemiBold" pitchFamily="34" charset="0"/>
                <a:ea typeface="Crimson Pro SemiBold" pitchFamily="34" charset="-122"/>
                <a:cs typeface="Crimson Pro SemiBold" pitchFamily="34" charset="-120"/>
              </a:rPr>
              <a:t>2</a:t>
            </a:r>
            <a:endParaRPr lang="en-US" sz="1950" dirty="0"/>
          </a:p>
        </p:txBody>
      </p:sp>
      <p:sp>
        <p:nvSpPr>
          <p:cNvPr id="12" name="Text 8"/>
          <p:cNvSpPr/>
          <p:nvPr/>
        </p:nvSpPr>
        <p:spPr>
          <a:xfrm>
            <a:off x="4523766" y="3545284"/>
            <a:ext cx="3144064"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Policies and Procedures</a:t>
            </a:r>
            <a:endParaRPr lang="en-US" sz="1600" dirty="0"/>
          </a:p>
        </p:txBody>
      </p:sp>
      <p:sp>
        <p:nvSpPr>
          <p:cNvPr id="13" name="Text 9"/>
          <p:cNvSpPr/>
          <p:nvPr/>
        </p:nvSpPr>
        <p:spPr>
          <a:xfrm>
            <a:off x="4523766" y="3902968"/>
            <a:ext cx="3144064" cy="1703388"/>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dirty="0">
                <a:solidFill>
                  <a:srgbClr val="4C4C4D"/>
                </a:solidFill>
                <a:latin typeface="Heebo" pitchFamily="34" charset="0"/>
                <a:ea typeface="Heebo" pitchFamily="34" charset="-122"/>
                <a:cs typeface="Heebo" pitchFamily="34" charset="-120"/>
              </a:rPr>
              <a:t>Develop an IR policy aligned with organizational objectives</a:t>
            </a:r>
            <a:endParaRPr lang="en-US" sz="1300" dirty="0"/>
          </a:p>
          <a:p>
            <a:pPr marL="264160" indent="-264160" algn="l">
              <a:lnSpc>
                <a:spcPct val="133000"/>
              </a:lnSpc>
              <a:buSzPct val="100000"/>
              <a:buChar char="•"/>
            </a:pPr>
            <a:r>
              <a:rPr lang="en-US" sz="1300" dirty="0">
                <a:solidFill>
                  <a:srgbClr val="4C4C4D"/>
                </a:solidFill>
                <a:latin typeface="Heebo" pitchFamily="34" charset="0"/>
                <a:ea typeface="Heebo" pitchFamily="34" charset="-122"/>
                <a:cs typeface="Heebo" pitchFamily="34" charset="-120"/>
              </a:rPr>
              <a:t>Create incident handling procedures and response playbooks</a:t>
            </a:r>
            <a:endParaRPr lang="en-US" sz="1300" dirty="0"/>
          </a:p>
          <a:p>
            <a:pPr marL="264160" indent="-264160" algn="l">
              <a:lnSpc>
                <a:spcPct val="133000"/>
              </a:lnSpc>
              <a:buSzPct val="100000"/>
              <a:buChar char="•"/>
            </a:pPr>
            <a:r>
              <a:rPr lang="en-US" sz="1300" dirty="0">
                <a:solidFill>
                  <a:srgbClr val="4C4C4D"/>
                </a:solidFill>
                <a:latin typeface="Heebo" pitchFamily="34" charset="0"/>
                <a:ea typeface="Heebo" pitchFamily="34" charset="-122"/>
                <a:cs typeface="Heebo" pitchFamily="34" charset="-120"/>
              </a:rPr>
              <a:t>Document evidence handling and chain-of-custody protocols</a:t>
            </a:r>
            <a:endParaRPr lang="en-US" sz="13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17468" y="2864842"/>
            <a:ext cx="3512653" cy="2925862"/>
          </a:xfrm>
          <a:prstGeom prst="rect">
            <a:avLst/>
          </a:prstGeom>
        </p:spPr>
      </p:pic>
      <p:sp>
        <p:nvSpPr>
          <p:cNvPr id="15" name="Text 10"/>
          <p:cNvSpPr/>
          <p:nvPr/>
        </p:nvSpPr>
        <p:spPr>
          <a:xfrm>
            <a:off x="9649774" y="2976860"/>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C4C4D"/>
                </a:solidFill>
                <a:latin typeface="Crimson Pro SemiBold" pitchFamily="34" charset="0"/>
                <a:ea typeface="Crimson Pro SemiBold" pitchFamily="34" charset="-122"/>
                <a:cs typeface="Crimson Pro SemiBold" pitchFamily="34" charset="-120"/>
              </a:rPr>
              <a:t>3</a:t>
            </a:r>
            <a:endParaRPr lang="en-US" sz="1950" dirty="0"/>
          </a:p>
        </p:txBody>
      </p:sp>
      <p:sp>
        <p:nvSpPr>
          <p:cNvPr id="16" name="Text 11"/>
          <p:cNvSpPr/>
          <p:nvPr/>
        </p:nvSpPr>
        <p:spPr>
          <a:xfrm>
            <a:off x="8201812" y="3545284"/>
            <a:ext cx="3143965"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Tools and Technologies</a:t>
            </a:r>
            <a:endParaRPr lang="en-US" sz="1600" dirty="0"/>
          </a:p>
        </p:txBody>
      </p:sp>
      <p:sp>
        <p:nvSpPr>
          <p:cNvPr id="17" name="Text 12"/>
          <p:cNvSpPr/>
          <p:nvPr/>
        </p:nvSpPr>
        <p:spPr>
          <a:xfrm>
            <a:off x="8201812" y="3902968"/>
            <a:ext cx="3143965" cy="1703388"/>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dirty="0">
                <a:solidFill>
                  <a:srgbClr val="4C4C4D"/>
                </a:solidFill>
                <a:latin typeface="Heebo" pitchFamily="34" charset="0"/>
                <a:ea typeface="Heebo" pitchFamily="34" charset="-122"/>
                <a:cs typeface="Heebo" pitchFamily="34" charset="-120"/>
              </a:rPr>
              <a:t>Deploy SIEM, EDR, and network monitoring solutions</a:t>
            </a:r>
            <a:endParaRPr lang="en-US" sz="1300" dirty="0"/>
          </a:p>
          <a:p>
            <a:pPr marL="264160" indent="-264160" algn="l">
              <a:lnSpc>
                <a:spcPct val="133000"/>
              </a:lnSpc>
              <a:buSzPct val="100000"/>
              <a:buChar char="•"/>
            </a:pPr>
            <a:r>
              <a:rPr lang="en-US" sz="1300" dirty="0">
                <a:solidFill>
                  <a:srgbClr val="4C4C4D"/>
                </a:solidFill>
                <a:latin typeface="Heebo" pitchFamily="34" charset="0"/>
                <a:ea typeface="Heebo" pitchFamily="34" charset="-122"/>
                <a:cs typeface="Heebo" pitchFamily="34" charset="-120"/>
              </a:rPr>
              <a:t>Implement forensics tools and incident ticketing systems</a:t>
            </a:r>
            <a:endParaRPr lang="en-US" sz="1300" dirty="0"/>
          </a:p>
          <a:p>
            <a:pPr marL="264160" indent="-264160" algn="l">
              <a:lnSpc>
                <a:spcPct val="133000"/>
              </a:lnSpc>
              <a:buSzPct val="100000"/>
              <a:buChar char="•"/>
            </a:pPr>
            <a:r>
              <a:rPr lang="en-US" sz="1300" dirty="0">
                <a:solidFill>
                  <a:srgbClr val="4C4C4D"/>
                </a:solidFill>
                <a:latin typeface="Heebo" pitchFamily="34" charset="0"/>
                <a:ea typeface="Heebo" pitchFamily="34" charset="-122"/>
                <a:cs typeface="Heebo" pitchFamily="34" charset="-120"/>
              </a:rPr>
              <a:t>Establish secure communication channels and jump kits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522188"/>
            <a:ext cx="1297253" cy="201116"/>
          </a:xfrm>
          <a:prstGeom prst="roundRect">
            <a:avLst>
              <a:gd name="adj" fmla="val 7895"/>
            </a:avLst>
          </a:prstGeom>
          <a:solidFill>
            <a:srgbClr val="CCD7FF"/>
          </a:solidFill>
          <a:ln/>
        </p:spPr>
        <p:txBody>
          <a:bodyPr/>
          <a:lstStyle/>
          <a:p>
            <a:endParaRPr lang="en-US"/>
          </a:p>
        </p:txBody>
      </p:sp>
      <p:sp>
        <p:nvSpPr>
          <p:cNvPr id="3" name="Text 1"/>
          <p:cNvSpPr/>
          <p:nvPr/>
        </p:nvSpPr>
        <p:spPr>
          <a:xfrm>
            <a:off x="740848" y="561876"/>
            <a:ext cx="1748091" cy="121741"/>
          </a:xfrm>
          <a:prstGeom prst="rect">
            <a:avLst/>
          </a:prstGeom>
          <a:noFill/>
          <a:ln/>
        </p:spPr>
        <p:txBody>
          <a:bodyPr wrap="none" lIns="0" tIns="0" rIns="0" bIns="0" rtlCol="0" anchor="t"/>
          <a:lstStyle/>
          <a:p>
            <a:pPr marL="0" indent="0" algn="l">
              <a:lnSpc>
                <a:spcPct val="96000"/>
              </a:lnSpc>
              <a:buNone/>
            </a:pPr>
            <a:r>
              <a:rPr lang="en-US" sz="800" dirty="0">
                <a:solidFill>
                  <a:srgbClr val="4C4C4D"/>
                </a:solidFill>
                <a:latin typeface="Heebo" pitchFamily="34" charset="0"/>
                <a:ea typeface="Heebo" pitchFamily="34" charset="-122"/>
                <a:cs typeface="Heebo" pitchFamily="34" charset="-120"/>
              </a:rPr>
              <a:t>PHASE 1 — CONTINUED</a:t>
            </a:r>
            <a:endParaRPr lang="en-US" sz="800" dirty="0"/>
          </a:p>
        </p:txBody>
      </p:sp>
      <p:sp>
        <p:nvSpPr>
          <p:cNvPr id="4" name="Text 2"/>
          <p:cNvSpPr/>
          <p:nvPr/>
        </p:nvSpPr>
        <p:spPr>
          <a:xfrm>
            <a:off x="661475" y="765572"/>
            <a:ext cx="10868745" cy="413445"/>
          </a:xfrm>
          <a:prstGeom prst="rect">
            <a:avLst/>
          </a:prstGeom>
          <a:noFill/>
          <a:ln/>
        </p:spPr>
        <p:txBody>
          <a:bodyPr wrap="none" lIns="0" tIns="0" rIns="0" bIns="0" rtlCol="0" anchor="t"/>
          <a:lstStyle/>
          <a:p>
            <a:pPr marL="0" indent="0" algn="l">
              <a:lnSpc>
                <a:spcPct val="104000"/>
              </a:lnSpc>
              <a:buNone/>
            </a:pPr>
            <a:r>
              <a:rPr lang="en-US" sz="2600" dirty="0">
                <a:solidFill>
                  <a:srgbClr val="152D47"/>
                </a:solidFill>
                <a:latin typeface="Crimson Pro SemiBold" pitchFamily="34" charset="0"/>
                <a:ea typeface="Crimson Pro SemiBold" pitchFamily="34" charset="-122"/>
                <a:cs typeface="Crimson Pro SemiBold" pitchFamily="34" charset="-120"/>
              </a:rPr>
              <a:t>Preparation -Part 2: Training and Communication</a:t>
            </a:r>
            <a:endParaRPr lang="en-US" sz="26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425" y="1437779"/>
            <a:ext cx="5292097" cy="996057"/>
          </a:xfrm>
          <a:prstGeom prst="rect">
            <a:avLst/>
          </a:prstGeom>
        </p:spPr>
      </p:pic>
      <p:sp>
        <p:nvSpPr>
          <p:cNvPr id="6" name="Text 3"/>
          <p:cNvSpPr/>
          <p:nvPr/>
        </p:nvSpPr>
        <p:spPr>
          <a:xfrm>
            <a:off x="831829" y="1456829"/>
            <a:ext cx="5102693" cy="206673"/>
          </a:xfrm>
          <a:prstGeom prst="rect">
            <a:avLst/>
          </a:prstGeom>
          <a:noFill/>
          <a:ln/>
        </p:spPr>
        <p:txBody>
          <a:bodyPr wrap="none" lIns="0" tIns="0" rIns="0" bIns="0" rtlCol="0" anchor="t"/>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Training and Awareness</a:t>
            </a:r>
            <a:endParaRPr lang="en-US" sz="1300" dirty="0"/>
          </a:p>
        </p:txBody>
      </p:sp>
      <p:sp>
        <p:nvSpPr>
          <p:cNvPr id="7" name="Text 4"/>
          <p:cNvSpPr/>
          <p:nvPr/>
        </p:nvSpPr>
        <p:spPr>
          <a:xfrm>
            <a:off x="831829" y="1769269"/>
            <a:ext cx="5102693" cy="645517"/>
          </a:xfrm>
          <a:prstGeom prst="rect">
            <a:avLst/>
          </a:prstGeom>
          <a:noFill/>
          <a:ln/>
        </p:spPr>
        <p:txBody>
          <a:bodyPr wrap="square" lIns="0" tIns="0" rIns="0" bIns="0" rtlCol="0" anchor="t">
            <a:normAutofit/>
          </a:bodyPr>
          <a:lstStyle/>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Conduct tabletop exercises and simulation drills regularly</a:t>
            </a:r>
            <a:endParaRPr lang="en-US" sz="1000" dirty="0"/>
          </a:p>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Provide role-specific training for all IR team members</a:t>
            </a:r>
            <a:endParaRPr lang="en-US" sz="1000" dirty="0"/>
          </a:p>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Deliver security awareness programs for all staff to reduce human risk</a:t>
            </a:r>
            <a:endParaRPr lang="en-US" sz="10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425" y="2607370"/>
            <a:ext cx="5292097" cy="996057"/>
          </a:xfrm>
          <a:prstGeom prst="rect">
            <a:avLst/>
          </a:prstGeom>
        </p:spPr>
      </p:pic>
      <p:sp>
        <p:nvSpPr>
          <p:cNvPr id="9" name="Text 5"/>
          <p:cNvSpPr/>
          <p:nvPr/>
        </p:nvSpPr>
        <p:spPr>
          <a:xfrm>
            <a:off x="831829" y="2626420"/>
            <a:ext cx="5102693" cy="206673"/>
          </a:xfrm>
          <a:prstGeom prst="rect">
            <a:avLst/>
          </a:prstGeom>
          <a:noFill/>
          <a:ln/>
        </p:spPr>
        <p:txBody>
          <a:bodyPr wrap="none" lIns="0" tIns="0" rIns="0" bIns="0" rtlCol="0" anchor="t"/>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Communication Plans</a:t>
            </a:r>
            <a:endParaRPr lang="en-US" sz="1300" dirty="0"/>
          </a:p>
        </p:txBody>
      </p:sp>
      <p:sp>
        <p:nvSpPr>
          <p:cNvPr id="10" name="Text 6"/>
          <p:cNvSpPr/>
          <p:nvPr/>
        </p:nvSpPr>
        <p:spPr>
          <a:xfrm>
            <a:off x="831829" y="2938859"/>
            <a:ext cx="5102693" cy="645517"/>
          </a:xfrm>
          <a:prstGeom prst="rect">
            <a:avLst/>
          </a:prstGeom>
          <a:noFill/>
          <a:ln/>
        </p:spPr>
        <p:txBody>
          <a:bodyPr wrap="square" lIns="0" tIns="0" rIns="0" bIns="0" rtlCol="0" anchor="t">
            <a:normAutofit/>
          </a:bodyPr>
          <a:lstStyle/>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Define internal notification procedures and up-to-date contact lists</a:t>
            </a:r>
            <a:endParaRPr lang="en-US" sz="1000" dirty="0"/>
          </a:p>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Establish external communication protocols for legal, PR, and regulators</a:t>
            </a:r>
            <a:endParaRPr lang="en-US" sz="1000" dirty="0"/>
          </a:p>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Prepare incident notification templates and pre-approved media statements</a:t>
            </a:r>
            <a:endParaRPr lang="en-US" sz="1000" dirty="0"/>
          </a:p>
        </p:txBody>
      </p:sp>
      <p:sp>
        <p:nvSpPr>
          <p:cNvPr id="11" name="Shape 7"/>
          <p:cNvSpPr/>
          <p:nvPr/>
        </p:nvSpPr>
        <p:spPr>
          <a:xfrm>
            <a:off x="661475" y="3703439"/>
            <a:ext cx="5273047" cy="828080"/>
          </a:xfrm>
          <a:prstGeom prst="roundRect">
            <a:avLst>
              <a:gd name="adj" fmla="val 2397"/>
            </a:avLst>
          </a:prstGeom>
          <a:solidFill>
            <a:srgbClr val="CCD7FF"/>
          </a:solidFill>
          <a:ln/>
        </p:spPr>
        <p:txBody>
          <a:bodyPr/>
          <a:lstStyle/>
          <a:p>
            <a:endParaRPr lang="en-US"/>
          </a:p>
        </p:txBody>
      </p:sp>
      <p:pic>
        <p:nvPicPr>
          <p:cNvPr id="12" name="Image 2" descr="preencoded.png"/>
          <p:cNvPicPr>
            <a:picLocks noChangeAspect="1"/>
          </p:cNvPicPr>
          <p:nvPr/>
        </p:nvPicPr>
        <p:blipFill>
          <a:blip r:embed="rId4"/>
          <a:stretch>
            <a:fillRect/>
          </a:stretch>
        </p:blipFill>
        <p:spPr>
          <a:xfrm>
            <a:off x="793730" y="3859808"/>
            <a:ext cx="165294" cy="132259"/>
          </a:xfrm>
          <a:prstGeom prst="rect">
            <a:avLst/>
          </a:prstGeom>
        </p:spPr>
      </p:pic>
      <p:sp>
        <p:nvSpPr>
          <p:cNvPr id="13" name="Text 8"/>
          <p:cNvSpPr/>
          <p:nvPr/>
        </p:nvSpPr>
        <p:spPr>
          <a:xfrm>
            <a:off x="1091280" y="3831729"/>
            <a:ext cx="4710987" cy="571500"/>
          </a:xfrm>
          <a:prstGeom prst="rect">
            <a:avLst/>
          </a:prstGeom>
          <a:noFill/>
          <a:ln/>
        </p:spPr>
        <p:txBody>
          <a:bodyPr wrap="square" lIns="0" tIns="0" rIns="0" bIns="0" rtlCol="0" anchor="t">
            <a:normAutofit/>
          </a:bodyPr>
          <a:lstStyle/>
          <a:p>
            <a:pPr marL="0" indent="0" algn="l">
              <a:lnSpc>
                <a:spcPct val="120000"/>
              </a:lnSpc>
              <a:buNone/>
            </a:pPr>
            <a:r>
              <a:rPr lang="en-US" sz="1000" b="1" dirty="0">
                <a:solidFill>
                  <a:srgbClr val="000000"/>
                </a:solidFill>
                <a:latin typeface="Heebo Bold" pitchFamily="34" charset="0"/>
                <a:ea typeface="Heebo Bold" pitchFamily="34" charset="-122"/>
                <a:cs typeface="Heebo Bold" pitchFamily="34" charset="-120"/>
              </a:rPr>
              <a:t>Preparation Key Takeaway:</a:t>
            </a:r>
            <a:r>
              <a:rPr lang="en-US" sz="1000" dirty="0">
                <a:solidFill>
                  <a:srgbClr val="000000"/>
                </a:solidFill>
                <a:latin typeface="Heebo" pitchFamily="34" charset="0"/>
                <a:ea typeface="Heebo" pitchFamily="34" charset="-122"/>
                <a:cs typeface="Heebo" pitchFamily="34" charset="-120"/>
              </a:rPr>
              <a:t> Effective preparation is continuous and cyclical. Organizations must regularly train personnel, test procedures, update plans, and maintain readiness to respond swiftly when incidents occur.</a:t>
            </a:r>
            <a:endParaRPr lang="en-US" sz="1000" dirty="0"/>
          </a:p>
        </p:txBody>
      </p:sp>
      <p:pic>
        <p:nvPicPr>
          <p:cNvPr id="14" name="Image 3" descr="preencoded.png"/>
          <p:cNvPicPr>
            <a:picLocks noChangeAspect="1"/>
          </p:cNvPicPr>
          <p:nvPr/>
        </p:nvPicPr>
        <p:blipFill>
          <a:blip r:embed="rId5"/>
          <a:stretch>
            <a:fillRect/>
          </a:stretch>
        </p:blipFill>
        <p:spPr>
          <a:xfrm>
            <a:off x="6263523" y="1456829"/>
            <a:ext cx="4218378" cy="4359771"/>
          </a:xfrm>
          <a:prstGeom prst="rect">
            <a:avLst/>
          </a:prstGeom>
        </p:spPr>
      </p:pic>
      <p:sp>
        <p:nvSpPr>
          <p:cNvPr id="15" name="Text 9"/>
          <p:cNvSpPr/>
          <p:nvPr/>
        </p:nvSpPr>
        <p:spPr>
          <a:xfrm>
            <a:off x="6263523" y="5935663"/>
            <a:ext cx="5273047" cy="304800"/>
          </a:xfrm>
          <a:prstGeom prst="rect">
            <a:avLst/>
          </a:prstGeom>
          <a:noFill/>
          <a:ln/>
        </p:spPr>
        <p:txBody>
          <a:bodyPr wrap="square" lIns="0" tIns="0" rIns="0" bIns="0" rtlCol="0" anchor="t">
            <a:normAutofit/>
          </a:bodyPr>
          <a:lstStyle/>
          <a:p>
            <a:pPr marL="0" indent="0" algn="l">
              <a:lnSpc>
                <a:spcPct val="120000"/>
              </a:lnSpc>
              <a:buNone/>
            </a:pPr>
            <a:r>
              <a:rPr lang="en-US" sz="800" dirty="0">
                <a:solidFill>
                  <a:srgbClr val="4C4C4D"/>
                </a:solidFill>
                <a:latin typeface="Heebo" pitchFamily="34" charset="0"/>
                <a:ea typeface="Heebo" pitchFamily="34" charset="-122"/>
                <a:cs typeface="Heebo" pitchFamily="34" charset="-120"/>
              </a:rPr>
              <a:t>Cyber resilience and preparedness cycle — integrating planning, implementation, review, and continuous improvement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636091"/>
            <a:ext cx="616034" cy="213717"/>
          </a:xfrm>
          <a:prstGeom prst="roundRect">
            <a:avLst>
              <a:gd name="adj" fmla="val 7894"/>
            </a:avLst>
          </a:prstGeom>
          <a:solidFill>
            <a:srgbClr val="CCD7FF"/>
          </a:solidFill>
          <a:ln/>
        </p:spPr>
        <p:txBody>
          <a:bodyPr/>
          <a:lstStyle/>
          <a:p>
            <a:endParaRPr lang="en-US"/>
          </a:p>
        </p:txBody>
      </p:sp>
      <p:sp>
        <p:nvSpPr>
          <p:cNvPr id="3" name="Text 1"/>
          <p:cNvSpPr/>
          <p:nvPr/>
        </p:nvSpPr>
        <p:spPr>
          <a:xfrm>
            <a:off x="745809" y="678259"/>
            <a:ext cx="1056951" cy="129381"/>
          </a:xfrm>
          <a:prstGeom prst="rect">
            <a:avLst/>
          </a:prstGeom>
          <a:noFill/>
          <a:ln/>
        </p:spPr>
        <p:txBody>
          <a:bodyPr wrap="none" lIns="0" tIns="0" rIns="0" bIns="0" rtlCol="0" anchor="t"/>
          <a:lstStyle/>
          <a:p>
            <a:pPr marL="0" indent="0" algn="l">
              <a:lnSpc>
                <a:spcPct val="96000"/>
              </a:lnSpc>
              <a:buNone/>
            </a:pPr>
            <a:r>
              <a:rPr lang="en-US" sz="850" dirty="0">
                <a:solidFill>
                  <a:srgbClr val="4C4C4D"/>
                </a:solidFill>
                <a:latin typeface="Heebo" pitchFamily="34" charset="0"/>
                <a:ea typeface="Heebo" pitchFamily="34" charset="-122"/>
                <a:cs typeface="Heebo" pitchFamily="34" charset="-120"/>
              </a:rPr>
              <a:t>PHASE 2</a:t>
            </a:r>
            <a:endParaRPr lang="en-US" sz="850" dirty="0"/>
          </a:p>
        </p:txBody>
      </p:sp>
      <p:sp>
        <p:nvSpPr>
          <p:cNvPr id="4" name="Text 2"/>
          <p:cNvSpPr/>
          <p:nvPr/>
        </p:nvSpPr>
        <p:spPr>
          <a:xfrm>
            <a:off x="661475" y="897533"/>
            <a:ext cx="10868745" cy="439241"/>
          </a:xfrm>
          <a:prstGeom prst="rect">
            <a:avLst/>
          </a:prstGeom>
          <a:noFill/>
          <a:ln/>
        </p:spPr>
        <p:txBody>
          <a:bodyPr wrap="none" lIns="0" tIns="0" rIns="0" bIns="0" rtlCol="0" anchor="t"/>
          <a:lstStyle/>
          <a:p>
            <a:pPr marL="0" indent="0" algn="l">
              <a:lnSpc>
                <a:spcPct val="104000"/>
              </a:lnSpc>
              <a:buNone/>
            </a:pPr>
            <a:r>
              <a:rPr lang="en-US" sz="2750" dirty="0">
                <a:solidFill>
                  <a:srgbClr val="152D47"/>
                </a:solidFill>
                <a:latin typeface="Crimson Pro SemiBold" pitchFamily="34" charset="0"/>
                <a:ea typeface="Crimson Pro SemiBold" pitchFamily="34" charset="-122"/>
                <a:cs typeface="Crimson Pro SemiBold" pitchFamily="34" charset="-120"/>
              </a:rPr>
              <a:t>Detection Methods and Indicators of Compromise</a:t>
            </a:r>
            <a:endParaRPr lang="en-US" sz="2750" dirty="0"/>
          </a:p>
        </p:txBody>
      </p:sp>
      <p:sp>
        <p:nvSpPr>
          <p:cNvPr id="5" name="Text 3"/>
          <p:cNvSpPr/>
          <p:nvPr/>
        </p:nvSpPr>
        <p:spPr>
          <a:xfrm>
            <a:off x="661475" y="1635423"/>
            <a:ext cx="5262927" cy="219571"/>
          </a:xfrm>
          <a:prstGeom prst="rect">
            <a:avLst/>
          </a:prstGeom>
          <a:noFill/>
          <a:ln/>
        </p:spPr>
        <p:txBody>
          <a:bodyPr wrap="none" lIns="0" tIns="0" rIns="0" bIns="0" rtlCol="0" anchor="t"/>
          <a:lstStyle/>
          <a:p>
            <a:pPr marL="0" indent="0" algn="l">
              <a:lnSpc>
                <a:spcPct val="104000"/>
              </a:lnSpc>
              <a:buNone/>
            </a:pPr>
            <a:r>
              <a:rPr lang="en-US" sz="1350" dirty="0">
                <a:solidFill>
                  <a:srgbClr val="152D47"/>
                </a:solidFill>
                <a:latin typeface="Crimson Pro SemiBold" pitchFamily="34" charset="0"/>
                <a:ea typeface="Crimson Pro SemiBold" pitchFamily="34" charset="-122"/>
                <a:cs typeface="Crimson Pro SemiBold" pitchFamily="34" charset="-120"/>
              </a:rPr>
              <a:t>Detection Sources</a:t>
            </a:r>
            <a:endParaRPr lang="en-US" sz="13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989336"/>
            <a:ext cx="351424" cy="351433"/>
          </a:xfrm>
          <a:prstGeom prst="rect">
            <a:avLst/>
          </a:prstGeom>
        </p:spPr>
      </p:pic>
      <p:sp>
        <p:nvSpPr>
          <p:cNvPr id="7" name="Text 4"/>
          <p:cNvSpPr/>
          <p:nvPr/>
        </p:nvSpPr>
        <p:spPr>
          <a:xfrm>
            <a:off x="1162219" y="1989336"/>
            <a:ext cx="4762182"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SIEM Systems</a:t>
            </a:r>
            <a:endParaRPr lang="en-US" sz="1350" dirty="0"/>
          </a:p>
        </p:txBody>
      </p:sp>
      <p:sp>
        <p:nvSpPr>
          <p:cNvPr id="8" name="Text 5"/>
          <p:cNvSpPr/>
          <p:nvPr/>
        </p:nvSpPr>
        <p:spPr>
          <a:xfrm>
            <a:off x="1162219" y="2328366"/>
            <a:ext cx="4762182"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Centralized log aggregation and correlation to identify suspicious patterns across the environment.</a:t>
            </a:r>
            <a:endParaRPr lang="en-US" sz="11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2983409"/>
            <a:ext cx="351424" cy="351433"/>
          </a:xfrm>
          <a:prstGeom prst="rect">
            <a:avLst/>
          </a:prstGeom>
        </p:spPr>
      </p:pic>
      <p:sp>
        <p:nvSpPr>
          <p:cNvPr id="10" name="Text 6"/>
          <p:cNvSpPr/>
          <p:nvPr/>
        </p:nvSpPr>
        <p:spPr>
          <a:xfrm>
            <a:off x="1162219" y="2983409"/>
            <a:ext cx="4762182"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IDS/IPS and EDR</a:t>
            </a:r>
            <a:endParaRPr lang="en-US" sz="1350" dirty="0"/>
          </a:p>
        </p:txBody>
      </p:sp>
      <p:sp>
        <p:nvSpPr>
          <p:cNvPr id="11" name="Text 7"/>
          <p:cNvSpPr/>
          <p:nvPr/>
        </p:nvSpPr>
        <p:spPr>
          <a:xfrm>
            <a:off x="1162219" y="3322439"/>
            <a:ext cx="4762182"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Network intrusion detection and endpoint detection tools that surface threats in real time.</a:t>
            </a:r>
            <a:endParaRPr lang="en-US" sz="11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977481"/>
            <a:ext cx="351424" cy="351433"/>
          </a:xfrm>
          <a:prstGeom prst="rect">
            <a:avLst/>
          </a:prstGeom>
        </p:spPr>
      </p:pic>
      <p:sp>
        <p:nvSpPr>
          <p:cNvPr id="13" name="Text 8"/>
          <p:cNvSpPr/>
          <p:nvPr/>
        </p:nvSpPr>
        <p:spPr>
          <a:xfrm>
            <a:off x="1162219" y="3977481"/>
            <a:ext cx="4762182"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User Reports and Network Monitoring</a:t>
            </a:r>
            <a:endParaRPr lang="en-US" sz="1350" dirty="0"/>
          </a:p>
        </p:txBody>
      </p:sp>
      <p:sp>
        <p:nvSpPr>
          <p:cNvPr id="14" name="Text 9"/>
          <p:cNvSpPr/>
          <p:nvPr/>
        </p:nvSpPr>
        <p:spPr>
          <a:xfrm>
            <a:off x="1162219" y="4316512"/>
            <a:ext cx="4762182"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Human observation and continuous traffic analysis remain critical complementary detection channels.</a:t>
            </a:r>
            <a:endParaRPr lang="en-US" sz="1100" dirty="0"/>
          </a:p>
        </p:txBody>
      </p:sp>
      <p:sp>
        <p:nvSpPr>
          <p:cNvPr id="15" name="Text 10"/>
          <p:cNvSpPr/>
          <p:nvPr/>
        </p:nvSpPr>
        <p:spPr>
          <a:xfrm>
            <a:off x="6273643" y="1635423"/>
            <a:ext cx="5262927" cy="219571"/>
          </a:xfrm>
          <a:prstGeom prst="rect">
            <a:avLst/>
          </a:prstGeom>
          <a:noFill/>
          <a:ln/>
        </p:spPr>
        <p:txBody>
          <a:bodyPr wrap="none" lIns="0" tIns="0" rIns="0" bIns="0" rtlCol="0" anchor="t"/>
          <a:lstStyle/>
          <a:p>
            <a:pPr marL="0" indent="0" algn="l">
              <a:lnSpc>
                <a:spcPct val="104000"/>
              </a:lnSpc>
              <a:buNone/>
            </a:pPr>
            <a:r>
              <a:rPr lang="en-US" sz="1350" dirty="0">
                <a:solidFill>
                  <a:srgbClr val="152D47"/>
                </a:solidFill>
                <a:latin typeface="Crimson Pro SemiBold" pitchFamily="34" charset="0"/>
                <a:ea typeface="Crimson Pro SemiBold" pitchFamily="34" charset="-122"/>
                <a:cs typeface="Crimson Pro SemiBold" pitchFamily="34" charset="-120"/>
              </a:rPr>
              <a:t>Indicators and Analysis Techniques</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273643" y="1989336"/>
          <a:ext cx="5262928" cy="1475146"/>
        </p:xfrm>
        <a:graphic>
          <a:graphicData uri="http://schemas.openxmlformats.org/drawingml/2006/table">
            <a:tbl>
              <a:tblPr/>
              <a:tblGrid>
                <a:gridCol w="2631464">
                  <a:extLst>
                    <a:ext uri="{9D8B030D-6E8A-4147-A177-3AD203B41FA5}">
                      <a16:colId xmlns:a16="http://schemas.microsoft.com/office/drawing/2014/main" val="20000"/>
                    </a:ext>
                  </a:extLst>
                </a:gridCol>
                <a:gridCol w="2631464">
                  <a:extLst>
                    <a:ext uri="{9D8B030D-6E8A-4147-A177-3AD203B41FA5}">
                      <a16:colId xmlns:a16="http://schemas.microsoft.com/office/drawing/2014/main" val="20001"/>
                    </a:ext>
                  </a:extLst>
                </a:gridCol>
              </a:tblGrid>
              <a:tr h="367199">
                <a:tc>
                  <a:txBody>
                    <a:bodyPr/>
                    <a:lstStyle/>
                    <a:p>
                      <a:pPr marL="0" indent="0" algn="l">
                        <a:buNone/>
                      </a:pPr>
                      <a:r>
                        <a:rPr lang="en-US" sz="1100" b="1" dirty="0">
                          <a:solidFill>
                            <a:srgbClr val="4C4C4D"/>
                          </a:solidFill>
                          <a:latin typeface="Heebo" pitchFamily="34" charset="0"/>
                          <a:ea typeface="Heebo" pitchFamily="34" charset="-122"/>
                          <a:cs typeface="Heebo" pitchFamily="34" charset="-120"/>
                        </a:rPr>
                        <a:t>Precursors</a:t>
                      </a:r>
                      <a:endParaRPr lang="en-US" sz="1100" dirty="0">
                        <a:latin typeface="Heebo" charset="0"/>
                        <a:ea typeface="Heebo" charset="0"/>
                        <a:cs typeface="Heebo" charset="0"/>
                      </a:endParaRPr>
                    </a:p>
                  </a:txBody>
                  <a:tcPr marL="140582" marR="140582"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b="1" dirty="0">
                          <a:solidFill>
                            <a:srgbClr val="4C4C4D"/>
                          </a:solidFill>
                          <a:latin typeface="Heebo" pitchFamily="34" charset="0"/>
                          <a:ea typeface="Heebo" pitchFamily="34" charset="-122"/>
                          <a:cs typeface="Heebo" pitchFamily="34" charset="-120"/>
                        </a:rPr>
                        <a:t>Indicators</a:t>
                      </a:r>
                      <a:endParaRPr lang="en-US" sz="1100" dirty="0">
                        <a:latin typeface="Heebo" charset="0"/>
                        <a:ea typeface="Heebo" charset="0"/>
                        <a:cs typeface="Heebo" charset="0"/>
                      </a:endParaRPr>
                    </a:p>
                  </a:txBody>
                  <a:tcPr marL="140582" marR="140582"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0"/>
                  </a:ext>
                </a:extLst>
              </a:tr>
              <a:tr h="370374">
                <a:tc>
                  <a:txBody>
                    <a:bodyPr/>
                    <a:lstStyle/>
                    <a:p>
                      <a:pPr marL="0" indent="0" algn="l">
                        <a:buNone/>
                      </a:pPr>
                      <a:r>
                        <a:rPr lang="en-US" sz="1100" dirty="0">
                          <a:solidFill>
                            <a:srgbClr val="4C4C4D"/>
                          </a:solidFill>
                          <a:latin typeface="Heebo" pitchFamily="34" charset="0"/>
                          <a:ea typeface="Heebo" pitchFamily="34" charset="-122"/>
                          <a:cs typeface="Heebo" pitchFamily="34" charset="-120"/>
                        </a:rPr>
                        <a:t>Vulnerability scans</a:t>
                      </a:r>
                      <a:endParaRPr lang="en-US" sz="1100" dirty="0">
                        <a:latin typeface="Heebo" charset="0"/>
                        <a:ea typeface="Heebo" charset="0"/>
                        <a:cs typeface="Heebo" charset="0"/>
                      </a:endParaRPr>
                    </a:p>
                  </a:txBody>
                  <a:tcPr marL="140582" marR="140582"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4C4C4D"/>
                          </a:solidFill>
                          <a:latin typeface="Heebo" pitchFamily="34" charset="0"/>
                          <a:ea typeface="Heebo" pitchFamily="34" charset="-122"/>
                          <a:cs typeface="Heebo" pitchFamily="34" charset="-120"/>
                        </a:rPr>
                        <a:t>Anomalous network traffic</a:t>
                      </a:r>
                      <a:endParaRPr lang="en-US" sz="1100" dirty="0">
                        <a:latin typeface="Heebo" charset="0"/>
                        <a:ea typeface="Heebo" charset="0"/>
                        <a:cs typeface="Heebo" charset="0"/>
                      </a:endParaRPr>
                    </a:p>
                  </a:txBody>
                  <a:tcPr marL="140582" marR="140582"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1"/>
                  </a:ext>
                </a:extLst>
              </a:tr>
              <a:tr h="370374">
                <a:tc>
                  <a:txBody>
                    <a:bodyPr/>
                    <a:lstStyle/>
                    <a:p>
                      <a:pPr marL="0" indent="0" algn="l">
                        <a:buNone/>
                      </a:pPr>
                      <a:r>
                        <a:rPr lang="en-US" sz="1100" dirty="0">
                          <a:solidFill>
                            <a:srgbClr val="4C4C4D"/>
                          </a:solidFill>
                          <a:latin typeface="Heebo" pitchFamily="34" charset="0"/>
                          <a:ea typeface="Heebo" pitchFamily="34" charset="-122"/>
                          <a:cs typeface="Heebo" pitchFamily="34" charset="-120"/>
                        </a:rPr>
                        <a:t>Threat intelligence feeds</a:t>
                      </a:r>
                      <a:endParaRPr lang="en-US" sz="1100" dirty="0">
                        <a:latin typeface="Heebo" charset="0"/>
                        <a:ea typeface="Heebo" charset="0"/>
                        <a:cs typeface="Heebo" charset="0"/>
                      </a:endParaRPr>
                    </a:p>
                  </a:txBody>
                  <a:tcPr marL="140582" marR="140582"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4C4C4D"/>
                          </a:solidFill>
                          <a:latin typeface="Heebo" pitchFamily="34" charset="0"/>
                          <a:ea typeface="Heebo" pitchFamily="34" charset="-122"/>
                          <a:cs typeface="Heebo" pitchFamily="34" charset="-120"/>
                        </a:rPr>
                        <a:t>Unauthorized access attempts</a:t>
                      </a:r>
                      <a:endParaRPr lang="en-US" sz="1100" dirty="0">
                        <a:latin typeface="Heebo" charset="0"/>
                        <a:ea typeface="Heebo" charset="0"/>
                        <a:cs typeface="Heebo" charset="0"/>
                      </a:endParaRPr>
                    </a:p>
                  </a:txBody>
                  <a:tcPr marL="140582" marR="140582"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2"/>
                  </a:ext>
                </a:extLst>
              </a:tr>
              <a:tr h="367199">
                <a:tc>
                  <a:txBody>
                    <a:bodyPr/>
                    <a:lstStyle/>
                    <a:p>
                      <a:pPr marL="0" indent="0" algn="l">
                        <a:buNone/>
                      </a:pPr>
                      <a:r>
                        <a:rPr lang="en-US" sz="1100" dirty="0">
                          <a:solidFill>
                            <a:srgbClr val="4C4C4D"/>
                          </a:solidFill>
                          <a:latin typeface="Heebo" pitchFamily="34" charset="0"/>
                          <a:ea typeface="Heebo" pitchFamily="34" charset="-122"/>
                          <a:cs typeface="Heebo" pitchFamily="34" charset="-120"/>
                        </a:rPr>
                        <a:t>Reconnaissance activity</a:t>
                      </a:r>
                      <a:endParaRPr lang="en-US" sz="1100" dirty="0">
                        <a:latin typeface="Heebo" charset="0"/>
                        <a:ea typeface="Heebo" charset="0"/>
                        <a:cs typeface="Heebo" charset="0"/>
                      </a:endParaRPr>
                    </a:p>
                  </a:txBody>
                  <a:tcPr marL="140582" marR="140582"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4C4C4D"/>
                          </a:solidFill>
                          <a:latin typeface="Heebo" pitchFamily="34" charset="0"/>
                          <a:ea typeface="Heebo" pitchFamily="34" charset="-122"/>
                          <a:cs typeface="Heebo" pitchFamily="34" charset="-120"/>
                        </a:rPr>
                        <a:t>Malware signatures detected</a:t>
                      </a:r>
                      <a:endParaRPr lang="en-US" sz="1100" dirty="0">
                        <a:latin typeface="Heebo" charset="0"/>
                        <a:ea typeface="Heebo" charset="0"/>
                        <a:cs typeface="Heebo" charset="0"/>
                      </a:endParaRPr>
                    </a:p>
                  </a:txBody>
                  <a:tcPr marL="140582" marR="140582"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7" name="Shape 11"/>
          <p:cNvSpPr/>
          <p:nvPr/>
        </p:nvSpPr>
        <p:spPr>
          <a:xfrm>
            <a:off x="6273643" y="3611563"/>
            <a:ext cx="2571686" cy="1282303"/>
          </a:xfrm>
          <a:prstGeom prst="roundRect">
            <a:avLst>
              <a:gd name="adj" fmla="val 1644"/>
            </a:avLst>
          </a:prstGeom>
          <a:solidFill>
            <a:srgbClr val="FFFFFF"/>
          </a:solidFill>
          <a:ln w="19050">
            <a:solidFill>
              <a:srgbClr val="D8D4D4"/>
            </a:solidFill>
            <a:prstDash val="solid"/>
          </a:ln>
        </p:spPr>
        <p:txBody>
          <a:bodyPr/>
          <a:lstStyle/>
          <a:p>
            <a:endParaRPr lang="en-US"/>
          </a:p>
        </p:txBody>
      </p:sp>
      <p:sp>
        <p:nvSpPr>
          <p:cNvPr id="18" name="Text 12"/>
          <p:cNvSpPr/>
          <p:nvPr/>
        </p:nvSpPr>
        <p:spPr>
          <a:xfrm>
            <a:off x="6433183" y="3771106"/>
            <a:ext cx="2252606"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Correlation Analysis</a:t>
            </a:r>
            <a:endParaRPr lang="en-US" sz="1350" dirty="0"/>
          </a:p>
        </p:txBody>
      </p:sp>
      <p:sp>
        <p:nvSpPr>
          <p:cNvPr id="19" name="Text 13"/>
          <p:cNvSpPr/>
          <p:nvPr/>
        </p:nvSpPr>
        <p:spPr>
          <a:xfrm>
            <a:off x="6433183" y="4110137"/>
            <a:ext cx="2252606" cy="624185"/>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Link events across multiple sources to identify patterns and threat relationships.</a:t>
            </a:r>
            <a:endParaRPr lang="en-US" sz="1100" dirty="0"/>
          </a:p>
        </p:txBody>
      </p:sp>
      <p:sp>
        <p:nvSpPr>
          <p:cNvPr id="20" name="Shape 14"/>
          <p:cNvSpPr/>
          <p:nvPr/>
        </p:nvSpPr>
        <p:spPr>
          <a:xfrm>
            <a:off x="8964785" y="3611563"/>
            <a:ext cx="2571785" cy="1282303"/>
          </a:xfrm>
          <a:prstGeom prst="roundRect">
            <a:avLst>
              <a:gd name="adj" fmla="val 1644"/>
            </a:avLst>
          </a:prstGeom>
          <a:solidFill>
            <a:srgbClr val="FFFFFF"/>
          </a:solidFill>
          <a:ln w="19050">
            <a:solidFill>
              <a:srgbClr val="D8D4D4"/>
            </a:solidFill>
            <a:prstDash val="solid"/>
          </a:ln>
        </p:spPr>
        <p:txBody>
          <a:bodyPr/>
          <a:lstStyle/>
          <a:p>
            <a:endParaRPr lang="en-US"/>
          </a:p>
        </p:txBody>
      </p:sp>
      <p:sp>
        <p:nvSpPr>
          <p:cNvPr id="21" name="Text 15"/>
          <p:cNvSpPr/>
          <p:nvPr/>
        </p:nvSpPr>
        <p:spPr>
          <a:xfrm>
            <a:off x="9124325" y="3771106"/>
            <a:ext cx="2252705"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Behavioral Analysis</a:t>
            </a:r>
            <a:endParaRPr lang="en-US" sz="1350" dirty="0"/>
          </a:p>
        </p:txBody>
      </p:sp>
      <p:sp>
        <p:nvSpPr>
          <p:cNvPr id="22" name="Text 16"/>
          <p:cNvSpPr/>
          <p:nvPr/>
        </p:nvSpPr>
        <p:spPr>
          <a:xfrm>
            <a:off x="9124325" y="4110137"/>
            <a:ext cx="2252705" cy="624185"/>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Identify deviations from established baseline activity to surface anomalies.</a:t>
            </a:r>
            <a:endParaRPr lang="en-US" sz="1100" dirty="0"/>
          </a:p>
        </p:txBody>
      </p:sp>
      <p:sp>
        <p:nvSpPr>
          <p:cNvPr id="23" name="Shape 17"/>
          <p:cNvSpPr/>
          <p:nvPr/>
        </p:nvSpPr>
        <p:spPr>
          <a:xfrm>
            <a:off x="6273643" y="5013325"/>
            <a:ext cx="5262927" cy="1074241"/>
          </a:xfrm>
          <a:prstGeom prst="roundRect">
            <a:avLst>
              <a:gd name="adj" fmla="val 1963"/>
            </a:avLst>
          </a:prstGeom>
          <a:solidFill>
            <a:srgbClr val="FFFFFF"/>
          </a:solidFill>
          <a:ln w="19050">
            <a:solidFill>
              <a:srgbClr val="D8D4D4"/>
            </a:solidFill>
            <a:prstDash val="solid"/>
          </a:ln>
        </p:spPr>
        <p:txBody>
          <a:bodyPr/>
          <a:lstStyle/>
          <a:p>
            <a:endParaRPr lang="en-US"/>
          </a:p>
        </p:txBody>
      </p:sp>
      <p:sp>
        <p:nvSpPr>
          <p:cNvPr id="24" name="Text 18"/>
          <p:cNvSpPr/>
          <p:nvPr/>
        </p:nvSpPr>
        <p:spPr>
          <a:xfrm>
            <a:off x="6433183" y="5172869"/>
            <a:ext cx="4943847"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Forensic Analysis</a:t>
            </a:r>
            <a:endParaRPr lang="en-US" sz="1350" dirty="0"/>
          </a:p>
        </p:txBody>
      </p:sp>
      <p:sp>
        <p:nvSpPr>
          <p:cNvPr id="25" name="Text 19"/>
          <p:cNvSpPr/>
          <p:nvPr/>
        </p:nvSpPr>
        <p:spPr>
          <a:xfrm>
            <a:off x="6433183" y="5511899"/>
            <a:ext cx="4943847"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Deep investigation of artifacts and evidence for authoritative root cause determination.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572988"/>
            <a:ext cx="1460166" cy="226219"/>
          </a:xfrm>
          <a:prstGeom prst="roundRect">
            <a:avLst>
              <a:gd name="adj" fmla="val 7896"/>
            </a:avLst>
          </a:prstGeom>
          <a:solidFill>
            <a:srgbClr val="CCD7FF"/>
          </a:solidFill>
          <a:ln/>
        </p:spPr>
        <p:txBody>
          <a:bodyPr/>
          <a:lstStyle/>
          <a:p>
            <a:endParaRPr lang="en-US"/>
          </a:p>
        </p:txBody>
      </p:sp>
      <p:sp>
        <p:nvSpPr>
          <p:cNvPr id="3" name="Text 1"/>
          <p:cNvSpPr/>
          <p:nvPr/>
        </p:nvSpPr>
        <p:spPr>
          <a:xfrm>
            <a:off x="750769" y="617637"/>
            <a:ext cx="1891161" cy="136922"/>
          </a:xfrm>
          <a:prstGeom prst="rect">
            <a:avLst/>
          </a:prstGeom>
          <a:noFill/>
          <a:ln/>
        </p:spPr>
        <p:txBody>
          <a:bodyPr wrap="none" lIns="0" tIns="0" rIns="0" bIns="0" rtlCol="0" anchor="t"/>
          <a:lstStyle/>
          <a:p>
            <a:pPr marL="0" indent="0" algn="l">
              <a:lnSpc>
                <a:spcPct val="96000"/>
              </a:lnSpc>
              <a:buNone/>
            </a:pPr>
            <a:r>
              <a:rPr lang="en-US" sz="900" dirty="0">
                <a:solidFill>
                  <a:srgbClr val="4C4C4D"/>
                </a:solidFill>
                <a:latin typeface="Heebo" pitchFamily="34" charset="0"/>
                <a:ea typeface="Heebo" pitchFamily="34" charset="-122"/>
                <a:cs typeface="Heebo" pitchFamily="34" charset="-120"/>
              </a:rPr>
              <a:t>PHASE 2 — CONTINUED</a:t>
            </a:r>
            <a:endParaRPr lang="en-US" sz="900" dirty="0"/>
          </a:p>
        </p:txBody>
      </p:sp>
      <p:sp>
        <p:nvSpPr>
          <p:cNvPr id="4" name="Text 2"/>
          <p:cNvSpPr/>
          <p:nvPr/>
        </p:nvSpPr>
        <p:spPr>
          <a:xfrm>
            <a:off x="661475" y="852785"/>
            <a:ext cx="10868745" cy="465138"/>
          </a:xfrm>
          <a:prstGeom prst="rect">
            <a:avLst/>
          </a:prstGeom>
          <a:noFill/>
          <a:ln/>
        </p:spPr>
        <p:txBody>
          <a:bodyPr wrap="none" lIns="0" tIns="0" rIns="0" bIns="0" rtlCol="0" anchor="t"/>
          <a:lstStyle/>
          <a:p>
            <a:pPr marL="0" indent="0" algn="l">
              <a:lnSpc>
                <a:spcPct val="104000"/>
              </a:lnSpc>
              <a:buNone/>
            </a:pPr>
            <a:r>
              <a:rPr lang="en-US" sz="2900" dirty="0">
                <a:solidFill>
                  <a:srgbClr val="152D47"/>
                </a:solidFill>
                <a:latin typeface="Crimson Pro SemiBold" pitchFamily="34" charset="0"/>
                <a:ea typeface="Crimson Pro SemiBold" pitchFamily="34" charset="-122"/>
                <a:cs typeface="Crimson Pro SemiBold" pitchFamily="34" charset="-120"/>
              </a:rPr>
              <a:t>Classification, Prioritization, and Team Structure</a:t>
            </a:r>
            <a:endParaRPr lang="en-US" sz="2900" dirty="0"/>
          </a:p>
        </p:txBody>
      </p:sp>
      <p:sp>
        <p:nvSpPr>
          <p:cNvPr id="5" name="Text 3"/>
          <p:cNvSpPr/>
          <p:nvPr/>
        </p:nvSpPr>
        <p:spPr>
          <a:xfrm>
            <a:off x="661475" y="1652786"/>
            <a:ext cx="5252807" cy="232470"/>
          </a:xfrm>
          <a:prstGeom prst="rect">
            <a:avLst/>
          </a:prstGeom>
          <a:noFill/>
          <a:ln/>
        </p:spPr>
        <p:txBody>
          <a:bodyPr wrap="none" lIns="0" tIns="0" rIns="0" bIns="0" rtlCol="0" anchor="t"/>
          <a:lstStyle/>
          <a:p>
            <a:pPr marL="0" indent="0" algn="l">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Classification and Prioritization</a:t>
            </a:r>
            <a:endParaRPr lang="en-US" sz="1450" dirty="0"/>
          </a:p>
        </p:txBody>
      </p:sp>
      <p:sp>
        <p:nvSpPr>
          <p:cNvPr id="6" name="Text 4"/>
          <p:cNvSpPr/>
          <p:nvPr/>
        </p:nvSpPr>
        <p:spPr>
          <a:xfrm>
            <a:off x="661475" y="2019201"/>
            <a:ext cx="5252807"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Every validated incident must be classified by </a:t>
            </a:r>
            <a:r>
              <a:rPr lang="en-US" sz="1150" b="1" dirty="0">
                <a:solidFill>
                  <a:srgbClr val="4C4C4D"/>
                </a:solidFill>
                <a:latin typeface="Heebo Bold" pitchFamily="34" charset="0"/>
                <a:ea typeface="Heebo Bold" pitchFamily="34" charset="-122"/>
                <a:cs typeface="Heebo Bold" pitchFamily="34" charset="-120"/>
              </a:rPr>
              <a:t>incident type</a:t>
            </a:r>
            <a:r>
              <a:rPr lang="en-US" sz="1150" dirty="0">
                <a:solidFill>
                  <a:srgbClr val="4C4C4D"/>
                </a:solidFill>
                <a:latin typeface="Heebo" pitchFamily="34" charset="0"/>
                <a:ea typeface="Heebo" pitchFamily="34" charset="-122"/>
                <a:cs typeface="Heebo" pitchFamily="34" charset="-120"/>
              </a:rPr>
              <a:t>, </a:t>
            </a:r>
            <a:r>
              <a:rPr lang="en-US" sz="1150" b="1" dirty="0">
                <a:solidFill>
                  <a:srgbClr val="4C4C4D"/>
                </a:solidFill>
                <a:latin typeface="Heebo Bold" pitchFamily="34" charset="0"/>
                <a:ea typeface="Heebo Bold" pitchFamily="34" charset="-122"/>
                <a:cs typeface="Heebo Bold" pitchFamily="34" charset="-120"/>
              </a:rPr>
              <a:t>attack vector</a:t>
            </a:r>
            <a:r>
              <a:rPr lang="en-US" sz="1150" dirty="0">
                <a:solidFill>
                  <a:srgbClr val="4C4C4D"/>
                </a:solidFill>
                <a:latin typeface="Heebo" pitchFamily="34" charset="0"/>
                <a:ea typeface="Heebo" pitchFamily="34" charset="-122"/>
                <a:cs typeface="Heebo" pitchFamily="34" charset="-120"/>
              </a:rPr>
              <a:t>, </a:t>
            </a:r>
            <a:r>
              <a:rPr lang="en-US" sz="1150" b="1" dirty="0">
                <a:solidFill>
                  <a:srgbClr val="4C4C4D"/>
                </a:solidFill>
                <a:latin typeface="Heebo Bold" pitchFamily="34" charset="0"/>
                <a:ea typeface="Heebo Bold" pitchFamily="34" charset="-122"/>
                <a:cs typeface="Heebo Bold" pitchFamily="34" charset="-120"/>
              </a:rPr>
              <a:t>affected systems</a:t>
            </a:r>
            <a:r>
              <a:rPr lang="en-US" sz="1150" dirty="0">
                <a:solidFill>
                  <a:srgbClr val="4C4C4D"/>
                </a:solidFill>
                <a:latin typeface="Heebo" pitchFamily="34" charset="0"/>
                <a:ea typeface="Heebo" pitchFamily="34" charset="-122"/>
                <a:cs typeface="Heebo" pitchFamily="34" charset="-120"/>
              </a:rPr>
              <a:t>, and </a:t>
            </a:r>
            <a:r>
              <a:rPr lang="en-US" sz="1150" b="1" dirty="0">
                <a:solidFill>
                  <a:srgbClr val="4C4C4D"/>
                </a:solidFill>
                <a:latin typeface="Heebo Bold" pitchFamily="34" charset="0"/>
                <a:ea typeface="Heebo Bold" pitchFamily="34" charset="-122"/>
                <a:cs typeface="Heebo Bold" pitchFamily="34" charset="-120"/>
              </a:rPr>
              <a:t>scope of impact</a:t>
            </a:r>
            <a:r>
              <a:rPr lang="en-US" sz="1150" dirty="0">
                <a:solidFill>
                  <a:srgbClr val="4C4C4D"/>
                </a:solidFill>
                <a:latin typeface="Heebo" pitchFamily="34" charset="0"/>
                <a:ea typeface="Heebo" pitchFamily="34" charset="-122"/>
                <a:cs typeface="Heebo" pitchFamily="34" charset="-120"/>
              </a:rPr>
              <a:t>, then assigned a priority tier to drive appropriate resource allocation.</a:t>
            </a:r>
            <a:endParaRPr lang="en-US" sz="1150" dirty="0"/>
          </a:p>
        </p:txBody>
      </p:sp>
      <p:sp>
        <p:nvSpPr>
          <p:cNvPr id="7" name="Shape 5"/>
          <p:cNvSpPr/>
          <p:nvPr/>
        </p:nvSpPr>
        <p:spPr>
          <a:xfrm>
            <a:off x="661475" y="2848570"/>
            <a:ext cx="2559383" cy="1116509"/>
          </a:xfrm>
          <a:prstGeom prst="roundRect">
            <a:avLst>
              <a:gd name="adj" fmla="val 2000"/>
            </a:avLst>
          </a:prstGeom>
          <a:solidFill>
            <a:srgbClr val="F2EEEE"/>
          </a:solidFill>
          <a:ln/>
        </p:spPr>
        <p:txBody>
          <a:bodyPr/>
          <a:lstStyle/>
          <a:p>
            <a:endParaRPr lang="en-US"/>
          </a:p>
        </p:txBody>
      </p:sp>
      <p:sp>
        <p:nvSpPr>
          <p:cNvPr id="8" name="Text 6"/>
          <p:cNvSpPr/>
          <p:nvPr/>
        </p:nvSpPr>
        <p:spPr>
          <a:xfrm>
            <a:off x="810299" y="2997398"/>
            <a:ext cx="2261734" cy="23247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Noto Color Emoji" pitchFamily="34" charset="0"/>
                <a:ea typeface="Noto Color Emoji" pitchFamily="34" charset="-122"/>
                <a:cs typeface="Noto Color Emoji" pitchFamily="34" charset="-120"/>
              </a:rPr>
              <a:t>🔴</a:t>
            </a:r>
            <a:r>
              <a:rPr lang="en-US" sz="1450" dirty="0">
                <a:solidFill>
                  <a:srgbClr val="4C4C4D"/>
                </a:solidFill>
                <a:latin typeface="Crimson Pro SemiBold" pitchFamily="34" charset="0"/>
                <a:ea typeface="Crimson Pro SemiBold" pitchFamily="34" charset="-122"/>
                <a:cs typeface="Crimson Pro SemiBold" pitchFamily="34" charset="-120"/>
              </a:rPr>
              <a:t> Critical</a:t>
            </a:r>
            <a:endParaRPr lang="en-US" sz="1450" dirty="0"/>
          </a:p>
        </p:txBody>
      </p:sp>
      <p:sp>
        <p:nvSpPr>
          <p:cNvPr id="9" name="Text 7"/>
          <p:cNvSpPr/>
          <p:nvPr/>
        </p:nvSpPr>
        <p:spPr>
          <a:xfrm>
            <a:off x="810299" y="3363813"/>
            <a:ext cx="2261734"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Immediate full-team response. Executive notification required.</a:t>
            </a:r>
            <a:endParaRPr lang="en-US" sz="1150" dirty="0"/>
          </a:p>
        </p:txBody>
      </p:sp>
      <p:sp>
        <p:nvSpPr>
          <p:cNvPr id="10" name="Shape 8"/>
          <p:cNvSpPr/>
          <p:nvPr/>
        </p:nvSpPr>
        <p:spPr>
          <a:xfrm>
            <a:off x="3354800" y="2848570"/>
            <a:ext cx="2559482" cy="1116509"/>
          </a:xfrm>
          <a:prstGeom prst="roundRect">
            <a:avLst>
              <a:gd name="adj" fmla="val 2000"/>
            </a:avLst>
          </a:prstGeom>
          <a:solidFill>
            <a:srgbClr val="F2EEEE"/>
          </a:solidFill>
          <a:ln/>
        </p:spPr>
        <p:txBody>
          <a:bodyPr/>
          <a:lstStyle/>
          <a:p>
            <a:endParaRPr lang="en-US"/>
          </a:p>
        </p:txBody>
      </p:sp>
      <p:sp>
        <p:nvSpPr>
          <p:cNvPr id="11" name="Text 9"/>
          <p:cNvSpPr/>
          <p:nvPr/>
        </p:nvSpPr>
        <p:spPr>
          <a:xfrm>
            <a:off x="3503624" y="2997398"/>
            <a:ext cx="2261833" cy="23247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Noto Color Emoji" pitchFamily="34" charset="0"/>
                <a:ea typeface="Noto Color Emoji" pitchFamily="34" charset="-122"/>
                <a:cs typeface="Noto Color Emoji" pitchFamily="34" charset="-120"/>
              </a:rPr>
              <a:t>🟠</a:t>
            </a:r>
            <a:r>
              <a:rPr lang="en-US" sz="1450" dirty="0">
                <a:solidFill>
                  <a:srgbClr val="4C4C4D"/>
                </a:solidFill>
                <a:latin typeface="Crimson Pro SemiBold" pitchFamily="34" charset="0"/>
                <a:ea typeface="Crimson Pro SemiBold" pitchFamily="34" charset="-122"/>
                <a:cs typeface="Crimson Pro SemiBold" pitchFamily="34" charset="-120"/>
              </a:rPr>
              <a:t> High</a:t>
            </a:r>
            <a:endParaRPr lang="en-US" sz="1450" dirty="0"/>
          </a:p>
        </p:txBody>
      </p:sp>
      <p:sp>
        <p:nvSpPr>
          <p:cNvPr id="12" name="Text 10"/>
          <p:cNvSpPr/>
          <p:nvPr/>
        </p:nvSpPr>
        <p:spPr>
          <a:xfrm>
            <a:off x="3503624" y="3363813"/>
            <a:ext cx="2261833"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Rapid response within defined SLA. Management notified.</a:t>
            </a:r>
            <a:endParaRPr lang="en-US" sz="1150" dirty="0"/>
          </a:p>
        </p:txBody>
      </p:sp>
      <p:sp>
        <p:nvSpPr>
          <p:cNvPr id="13" name="Shape 11"/>
          <p:cNvSpPr/>
          <p:nvPr/>
        </p:nvSpPr>
        <p:spPr>
          <a:xfrm>
            <a:off x="661475" y="4099024"/>
            <a:ext cx="5252807" cy="890290"/>
          </a:xfrm>
          <a:prstGeom prst="roundRect">
            <a:avLst>
              <a:gd name="adj" fmla="val 2508"/>
            </a:avLst>
          </a:prstGeom>
          <a:solidFill>
            <a:srgbClr val="F2EEEE"/>
          </a:solidFill>
          <a:ln/>
        </p:spPr>
        <p:txBody>
          <a:bodyPr/>
          <a:lstStyle/>
          <a:p>
            <a:endParaRPr lang="en-US"/>
          </a:p>
        </p:txBody>
      </p:sp>
      <p:sp>
        <p:nvSpPr>
          <p:cNvPr id="14" name="Text 12"/>
          <p:cNvSpPr/>
          <p:nvPr/>
        </p:nvSpPr>
        <p:spPr>
          <a:xfrm>
            <a:off x="810299" y="4247852"/>
            <a:ext cx="4955158" cy="23247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Noto Color Emoji" pitchFamily="34" charset="0"/>
                <a:ea typeface="Noto Color Emoji" pitchFamily="34" charset="-122"/>
                <a:cs typeface="Noto Color Emoji" pitchFamily="34" charset="-120"/>
              </a:rPr>
              <a:t>🟡</a:t>
            </a:r>
            <a:r>
              <a:rPr lang="en-US" sz="1450" dirty="0">
                <a:solidFill>
                  <a:srgbClr val="4C4C4D"/>
                </a:solidFill>
                <a:latin typeface="Crimson Pro SemiBold" pitchFamily="34" charset="0"/>
                <a:ea typeface="Crimson Pro SemiBold" pitchFamily="34" charset="-122"/>
                <a:cs typeface="Crimson Pro SemiBold" pitchFamily="34" charset="-120"/>
              </a:rPr>
              <a:t> Medium / Low</a:t>
            </a:r>
            <a:endParaRPr lang="en-US" sz="1450" dirty="0"/>
          </a:p>
        </p:txBody>
      </p:sp>
      <p:sp>
        <p:nvSpPr>
          <p:cNvPr id="15" name="Text 13"/>
          <p:cNvSpPr/>
          <p:nvPr/>
        </p:nvSpPr>
        <p:spPr>
          <a:xfrm>
            <a:off x="810299" y="4614267"/>
            <a:ext cx="4955158" cy="226219"/>
          </a:xfrm>
          <a:prstGeom prst="rect">
            <a:avLst/>
          </a:prstGeom>
          <a:noFill/>
          <a:ln/>
        </p:spPr>
        <p:txBody>
          <a:bodyPr wrap="none" lIns="0" tIns="0" rIns="0" bIns="0" rtlCol="0" anchor="t"/>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Standard workflow. Documented and tracked through ticketing system.</a:t>
            </a:r>
            <a:endParaRPr lang="en-US" sz="1150" dirty="0"/>
          </a:p>
        </p:txBody>
      </p:sp>
      <p:sp>
        <p:nvSpPr>
          <p:cNvPr id="16" name="Shape 14"/>
          <p:cNvSpPr/>
          <p:nvPr/>
        </p:nvSpPr>
        <p:spPr>
          <a:xfrm>
            <a:off x="661475" y="5140027"/>
            <a:ext cx="5252807" cy="994172"/>
          </a:xfrm>
          <a:prstGeom prst="roundRect">
            <a:avLst>
              <a:gd name="adj" fmla="val 2246"/>
            </a:avLst>
          </a:prstGeom>
          <a:solidFill>
            <a:srgbClr val="CCD7FF"/>
          </a:solidFill>
          <a:ln/>
        </p:spPr>
        <p:txBody>
          <a:bodyPr/>
          <a:lstStyle/>
          <a:p>
            <a:endParaRPr lang="en-US"/>
          </a:p>
        </p:txBody>
      </p:sp>
      <p:pic>
        <p:nvPicPr>
          <p:cNvPr id="17" name="Image 0" descr="preencoded.png"/>
          <p:cNvPicPr>
            <a:picLocks noChangeAspect="1"/>
          </p:cNvPicPr>
          <p:nvPr/>
        </p:nvPicPr>
        <p:blipFill>
          <a:blip r:embed="rId3"/>
          <a:stretch>
            <a:fillRect/>
          </a:stretch>
        </p:blipFill>
        <p:spPr>
          <a:xfrm>
            <a:off x="810299" y="5339655"/>
            <a:ext cx="186031" cy="148828"/>
          </a:xfrm>
          <a:prstGeom prst="rect">
            <a:avLst/>
          </a:prstGeom>
        </p:spPr>
      </p:pic>
      <p:sp>
        <p:nvSpPr>
          <p:cNvPr id="18" name="Text 15"/>
          <p:cNvSpPr/>
          <p:nvPr/>
        </p:nvSpPr>
        <p:spPr>
          <a:xfrm>
            <a:off x="1145154" y="5297785"/>
            <a:ext cx="4620303" cy="678656"/>
          </a:xfrm>
          <a:prstGeom prst="rect">
            <a:avLst/>
          </a:prstGeom>
          <a:noFill/>
          <a:ln/>
        </p:spPr>
        <p:txBody>
          <a:bodyPr wrap="square" lIns="0" tIns="0" rIns="0" bIns="0" rtlCol="0" anchor="t">
            <a:normAutofit/>
          </a:bodyPr>
          <a:lstStyle/>
          <a:p>
            <a:pPr marL="0" indent="0" algn="l">
              <a:lnSpc>
                <a:spcPct val="127000"/>
              </a:lnSpc>
              <a:buNone/>
            </a:pPr>
            <a:r>
              <a:rPr lang="en-US" sz="1150" b="1" dirty="0">
                <a:solidFill>
                  <a:srgbClr val="000000"/>
                </a:solidFill>
                <a:latin typeface="Heebo Bold" pitchFamily="34" charset="0"/>
                <a:ea typeface="Heebo Bold" pitchFamily="34" charset="-122"/>
                <a:cs typeface="Heebo Bold" pitchFamily="34" charset="-120"/>
              </a:rPr>
              <a:t>Documentation Requirement:</a:t>
            </a:r>
            <a:r>
              <a:rPr lang="en-US" sz="1150" dirty="0">
                <a:solidFill>
                  <a:srgbClr val="000000"/>
                </a:solidFill>
                <a:latin typeface="Heebo" pitchFamily="34" charset="0"/>
                <a:ea typeface="Heebo" pitchFamily="34" charset="-122"/>
                <a:cs typeface="Heebo" pitchFamily="34" charset="-120"/>
              </a:rPr>
              <a:t> Record detection time, initial indicators, affected systems, actions taken, and all evidence collected to maintain chain of custody.</a:t>
            </a:r>
            <a:endParaRPr lang="en-US" sz="1150" dirty="0"/>
          </a:p>
        </p:txBody>
      </p:sp>
      <p:sp>
        <p:nvSpPr>
          <p:cNvPr id="19" name="Text 16"/>
          <p:cNvSpPr/>
          <p:nvPr/>
        </p:nvSpPr>
        <p:spPr>
          <a:xfrm>
            <a:off x="6283763" y="1652786"/>
            <a:ext cx="5252807" cy="232470"/>
          </a:xfrm>
          <a:prstGeom prst="rect">
            <a:avLst/>
          </a:prstGeom>
          <a:noFill/>
          <a:ln/>
        </p:spPr>
        <p:txBody>
          <a:bodyPr wrap="none" lIns="0" tIns="0" rIns="0" bIns="0" rtlCol="0" anchor="t"/>
          <a:lstStyle/>
          <a:p>
            <a:pPr marL="0" indent="0" algn="l">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Detection and Analysis Team Roles</a:t>
            </a:r>
            <a:endParaRPr lang="en-US" sz="1450"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39523" y="2040582"/>
            <a:ext cx="223237" cy="223242"/>
          </a:xfrm>
          <a:prstGeom prst="rect">
            <a:avLst/>
          </a:prstGeom>
        </p:spPr>
      </p:pic>
      <p:sp>
        <p:nvSpPr>
          <p:cNvPr id="21" name="Text 17"/>
          <p:cNvSpPr/>
          <p:nvPr/>
        </p:nvSpPr>
        <p:spPr>
          <a:xfrm>
            <a:off x="6767442" y="2035969"/>
            <a:ext cx="4769128" cy="232470"/>
          </a:xfrm>
          <a:prstGeom prst="rect">
            <a:avLst/>
          </a:prstGeom>
          <a:noFill/>
          <a:ln/>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SOC Analysts</a:t>
            </a:r>
            <a:endParaRPr lang="en-US" sz="1450" dirty="0"/>
          </a:p>
        </p:txBody>
      </p:sp>
      <p:sp>
        <p:nvSpPr>
          <p:cNvPr id="22" name="Text 18"/>
          <p:cNvSpPr/>
          <p:nvPr/>
        </p:nvSpPr>
        <p:spPr>
          <a:xfrm>
            <a:off x="6767442" y="2402384"/>
            <a:ext cx="4769128" cy="226219"/>
          </a:xfrm>
          <a:prstGeom prst="rect">
            <a:avLst/>
          </a:prstGeom>
          <a:noFill/>
          <a:ln/>
        </p:spPr>
        <p:txBody>
          <a:bodyPr wrap="none" lIns="0" tIns="0" rIns="0" bIns="0" rtlCol="0" anchor="t"/>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Monitor dashboards and triage incoming alerts for true positives.</a:t>
            </a:r>
            <a:endParaRPr lang="en-US" sz="1150" dirty="0"/>
          </a:p>
        </p:txBody>
      </p:sp>
      <p:pic>
        <p:nvPicPr>
          <p:cNvPr id="2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39523" y="2901107"/>
            <a:ext cx="223237" cy="223242"/>
          </a:xfrm>
          <a:prstGeom prst="rect">
            <a:avLst/>
          </a:prstGeom>
        </p:spPr>
      </p:pic>
      <p:sp>
        <p:nvSpPr>
          <p:cNvPr id="24" name="Text 19"/>
          <p:cNvSpPr/>
          <p:nvPr/>
        </p:nvSpPr>
        <p:spPr>
          <a:xfrm>
            <a:off x="6767442" y="2896493"/>
            <a:ext cx="4769128" cy="232470"/>
          </a:xfrm>
          <a:prstGeom prst="rect">
            <a:avLst/>
          </a:prstGeom>
          <a:noFill/>
          <a:ln/>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Incident Handlers</a:t>
            </a:r>
            <a:endParaRPr lang="en-US" sz="1450" dirty="0"/>
          </a:p>
        </p:txBody>
      </p:sp>
      <p:sp>
        <p:nvSpPr>
          <p:cNvPr id="25" name="Text 20"/>
          <p:cNvSpPr/>
          <p:nvPr/>
        </p:nvSpPr>
        <p:spPr>
          <a:xfrm>
            <a:off x="6767442" y="3262908"/>
            <a:ext cx="4769128" cy="226219"/>
          </a:xfrm>
          <a:prstGeom prst="rect">
            <a:avLst/>
          </a:prstGeom>
          <a:noFill/>
          <a:ln/>
        </p:spPr>
        <p:txBody>
          <a:bodyPr wrap="none" lIns="0" tIns="0" rIns="0" bIns="0" rtlCol="0" anchor="t"/>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Lead investigation workflows and coordinate response activities.</a:t>
            </a:r>
            <a:endParaRPr lang="en-US" sz="1150" dirty="0"/>
          </a:p>
        </p:txBody>
      </p:sp>
      <p:pic>
        <p:nvPicPr>
          <p:cNvPr id="26"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39523" y="3761631"/>
            <a:ext cx="223237" cy="223242"/>
          </a:xfrm>
          <a:prstGeom prst="rect">
            <a:avLst/>
          </a:prstGeom>
        </p:spPr>
      </p:pic>
      <p:sp>
        <p:nvSpPr>
          <p:cNvPr id="27" name="Text 21"/>
          <p:cNvSpPr/>
          <p:nvPr/>
        </p:nvSpPr>
        <p:spPr>
          <a:xfrm>
            <a:off x="6767442" y="3757017"/>
            <a:ext cx="4769128" cy="232470"/>
          </a:xfrm>
          <a:prstGeom prst="rect">
            <a:avLst/>
          </a:prstGeom>
          <a:noFill/>
          <a:ln/>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Threat Hunters</a:t>
            </a:r>
            <a:endParaRPr lang="en-US" sz="1450" dirty="0"/>
          </a:p>
        </p:txBody>
      </p:sp>
      <p:sp>
        <p:nvSpPr>
          <p:cNvPr id="28" name="Text 22"/>
          <p:cNvSpPr/>
          <p:nvPr/>
        </p:nvSpPr>
        <p:spPr>
          <a:xfrm>
            <a:off x="6767442" y="4123432"/>
            <a:ext cx="4769128" cy="226219"/>
          </a:xfrm>
          <a:prstGeom prst="rect">
            <a:avLst/>
          </a:prstGeom>
          <a:noFill/>
          <a:ln/>
        </p:spPr>
        <p:txBody>
          <a:bodyPr wrap="none" lIns="0" tIns="0" rIns="0" bIns="0" rtlCol="0" anchor="t"/>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Proactively search for hidden threats that evade automated detection.</a:t>
            </a:r>
            <a:endParaRPr lang="en-US" sz="1150" dirty="0"/>
          </a:p>
        </p:txBody>
      </p:sp>
      <p:pic>
        <p:nvPicPr>
          <p:cNvPr id="29"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39523" y="4622155"/>
            <a:ext cx="223237" cy="223242"/>
          </a:xfrm>
          <a:prstGeom prst="rect">
            <a:avLst/>
          </a:prstGeom>
        </p:spPr>
      </p:pic>
      <p:sp>
        <p:nvSpPr>
          <p:cNvPr id="30" name="Text 23"/>
          <p:cNvSpPr/>
          <p:nvPr/>
        </p:nvSpPr>
        <p:spPr>
          <a:xfrm>
            <a:off x="6767442" y="4617541"/>
            <a:ext cx="4769128" cy="232470"/>
          </a:xfrm>
          <a:prstGeom prst="rect">
            <a:avLst/>
          </a:prstGeom>
          <a:noFill/>
          <a:ln/>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Forensics Team</a:t>
            </a:r>
            <a:endParaRPr lang="en-US" sz="1450" dirty="0"/>
          </a:p>
        </p:txBody>
      </p:sp>
      <p:sp>
        <p:nvSpPr>
          <p:cNvPr id="31" name="Text 24"/>
          <p:cNvSpPr/>
          <p:nvPr/>
        </p:nvSpPr>
        <p:spPr>
          <a:xfrm>
            <a:off x="6767442" y="4983956"/>
            <a:ext cx="4769128" cy="226219"/>
          </a:xfrm>
          <a:prstGeom prst="rect">
            <a:avLst/>
          </a:prstGeom>
          <a:noFill/>
          <a:ln/>
        </p:spPr>
        <p:txBody>
          <a:bodyPr wrap="none" lIns="0" tIns="0" rIns="0" bIns="0" rtlCol="0" anchor="t"/>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Perform deep technical analysis and preserve admissible evidence.</a:t>
            </a:r>
            <a:endParaRPr lang="en-US" sz="1150" dirty="0"/>
          </a:p>
        </p:txBody>
      </p:sp>
      <p:sp>
        <p:nvSpPr>
          <p:cNvPr id="32" name="Text 25"/>
          <p:cNvSpPr/>
          <p:nvPr/>
        </p:nvSpPr>
        <p:spPr>
          <a:xfrm>
            <a:off x="6283763" y="5360888"/>
            <a:ext cx="5252807" cy="361950"/>
          </a:xfrm>
          <a:prstGeom prst="rect">
            <a:avLst/>
          </a:prstGeom>
          <a:noFill/>
          <a:ln/>
        </p:spPr>
        <p:txBody>
          <a:bodyPr wrap="square" lIns="0" tIns="0" rIns="0" bIns="0" rtlCol="0" anchor="t">
            <a:normAutofit/>
          </a:bodyPr>
          <a:lstStyle/>
          <a:p>
            <a:pPr marL="0" indent="0" algn="l">
              <a:lnSpc>
                <a:spcPct val="127000"/>
              </a:lnSpc>
              <a:buNone/>
            </a:pPr>
            <a:r>
              <a:rPr lang="en-US" sz="900" dirty="0">
                <a:solidFill>
                  <a:srgbClr val="4C4C4D"/>
                </a:solidFill>
                <a:latin typeface="Heebo" pitchFamily="34" charset="0"/>
                <a:ea typeface="Heebo" pitchFamily="34" charset="-122"/>
                <a:cs typeface="Heebo" pitchFamily="34" charset="-120"/>
              </a:rPr>
              <a:t>Effective detection requires tight coordination between the SOC, IT operations, and business unit stakeholders.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727075"/>
            <a:ext cx="543308" cy="188516"/>
          </a:xfrm>
          <a:prstGeom prst="roundRect">
            <a:avLst>
              <a:gd name="adj" fmla="val 7896"/>
            </a:avLst>
          </a:prstGeom>
          <a:solidFill>
            <a:srgbClr val="CCD7FF"/>
          </a:solidFill>
          <a:ln/>
        </p:spPr>
        <p:txBody>
          <a:bodyPr/>
          <a:lstStyle/>
          <a:p>
            <a:endParaRPr lang="en-US"/>
          </a:p>
        </p:txBody>
      </p:sp>
      <p:sp>
        <p:nvSpPr>
          <p:cNvPr id="3" name="Text 1"/>
          <p:cNvSpPr/>
          <p:nvPr/>
        </p:nvSpPr>
        <p:spPr>
          <a:xfrm>
            <a:off x="735887" y="764282"/>
            <a:ext cx="1004069" cy="114102"/>
          </a:xfrm>
          <a:prstGeom prst="rect">
            <a:avLst/>
          </a:prstGeom>
          <a:noFill/>
          <a:ln/>
        </p:spPr>
        <p:txBody>
          <a:bodyPr wrap="none" lIns="0" tIns="0" rIns="0" bIns="0" rtlCol="0" anchor="t"/>
          <a:lstStyle/>
          <a:p>
            <a:pPr marL="0" indent="0" algn="l">
              <a:lnSpc>
                <a:spcPct val="96000"/>
              </a:lnSpc>
              <a:buNone/>
            </a:pPr>
            <a:r>
              <a:rPr lang="en-US" sz="750" dirty="0">
                <a:solidFill>
                  <a:srgbClr val="4C4C4D"/>
                </a:solidFill>
                <a:latin typeface="Heebo" pitchFamily="34" charset="0"/>
                <a:ea typeface="Heebo" pitchFamily="34" charset="-122"/>
                <a:cs typeface="Heebo" pitchFamily="34" charset="-120"/>
              </a:rPr>
              <a:t>PHASE 3</a:t>
            </a:r>
            <a:endParaRPr lang="en-US" sz="750" dirty="0"/>
          </a:p>
        </p:txBody>
      </p:sp>
      <p:sp>
        <p:nvSpPr>
          <p:cNvPr id="4" name="Text 2"/>
          <p:cNvSpPr/>
          <p:nvPr/>
        </p:nvSpPr>
        <p:spPr>
          <a:xfrm>
            <a:off x="661475" y="952798"/>
            <a:ext cx="10868745" cy="387648"/>
          </a:xfrm>
          <a:prstGeom prst="rect">
            <a:avLst/>
          </a:prstGeom>
          <a:noFill/>
          <a:ln/>
        </p:spPr>
        <p:txBody>
          <a:bodyPr wrap="none" lIns="0" tIns="0" rIns="0" bIns="0" rtlCol="0" anchor="t"/>
          <a:lstStyle/>
          <a:p>
            <a:pPr marL="0" indent="0" algn="l">
              <a:lnSpc>
                <a:spcPct val="104000"/>
              </a:lnSpc>
              <a:buNone/>
            </a:pPr>
            <a:r>
              <a:rPr lang="en-US" sz="2400" dirty="0">
                <a:solidFill>
                  <a:srgbClr val="152D47"/>
                </a:solidFill>
                <a:latin typeface="Crimson Pro SemiBold" pitchFamily="34" charset="0"/>
                <a:ea typeface="Crimson Pro SemiBold" pitchFamily="34" charset="-122"/>
                <a:cs typeface="Crimson Pro SemiBold" pitchFamily="34" charset="-120"/>
              </a:rPr>
              <a:t>Containment, Eradication, and Recovery</a:t>
            </a:r>
            <a:endParaRPr lang="en-US" sz="2400" dirty="0"/>
          </a:p>
        </p:txBody>
      </p:sp>
      <p:sp>
        <p:nvSpPr>
          <p:cNvPr id="5" name="Text 3"/>
          <p:cNvSpPr/>
          <p:nvPr/>
        </p:nvSpPr>
        <p:spPr>
          <a:xfrm>
            <a:off x="661475" y="1572915"/>
            <a:ext cx="5283068" cy="193774"/>
          </a:xfrm>
          <a:prstGeom prst="rect">
            <a:avLst/>
          </a:prstGeom>
          <a:noFill/>
          <a:ln/>
        </p:spPr>
        <p:txBody>
          <a:bodyPr wrap="none" lIns="0" tIns="0" rIns="0" bIns="0" rtlCol="0" anchor="t"/>
          <a:lstStyle/>
          <a:p>
            <a:pPr marL="0" indent="0" algn="l">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Containment Strategies</a:t>
            </a:r>
            <a:endParaRPr lang="en-US" sz="1200" dirty="0"/>
          </a:p>
        </p:txBody>
      </p:sp>
      <p:sp>
        <p:nvSpPr>
          <p:cNvPr id="6" name="Shape 4"/>
          <p:cNvSpPr/>
          <p:nvPr/>
        </p:nvSpPr>
        <p:spPr>
          <a:xfrm>
            <a:off x="661475" y="1871266"/>
            <a:ext cx="5283068" cy="2021483"/>
          </a:xfrm>
          <a:prstGeom prst="roundRect">
            <a:avLst>
              <a:gd name="adj" fmla="val 920"/>
            </a:avLst>
          </a:prstGeom>
          <a:solidFill>
            <a:srgbClr val="F2EEEE"/>
          </a:solidFill>
          <a:ln/>
        </p:spPr>
        <p:txBody>
          <a:bodyPr/>
          <a:lstStyle/>
          <a:p>
            <a:endParaRPr lang="en-US"/>
          </a:p>
        </p:txBody>
      </p:sp>
      <p:sp>
        <p:nvSpPr>
          <p:cNvPr id="7" name="Shape 5"/>
          <p:cNvSpPr/>
          <p:nvPr/>
        </p:nvSpPr>
        <p:spPr>
          <a:xfrm>
            <a:off x="661475" y="1871266"/>
            <a:ext cx="2641534" cy="2021483"/>
          </a:xfrm>
          <a:custGeom>
            <a:avLst/>
            <a:gdLst/>
            <a:ahLst/>
            <a:cxnLst/>
            <a:rect l="l" t="t" r="r" b="b"/>
            <a:pathLst>
              <a:path w="2641534" h="2021483">
                <a:moveTo>
                  <a:pt x="15505" y="0"/>
                </a:moveTo>
                <a:lnTo>
                  <a:pt x="2641534" y="0"/>
                </a:lnTo>
                <a:lnTo>
                  <a:pt x="2641534" y="2021483"/>
                </a:lnTo>
                <a:lnTo>
                  <a:pt x="15505" y="2021483"/>
                </a:lnTo>
                <a:arcTo wR="15505" hR="15506" stAng="5400000" swAng="5400000"/>
                <a:lnTo>
                  <a:pt x="0" y="15506"/>
                </a:lnTo>
                <a:arcTo wR="15505" hR="15506" stAng="10800000" swAng="5400000"/>
                <a:close/>
              </a:path>
            </a:pathLst>
          </a:custGeom>
          <a:solidFill>
            <a:srgbClr val="F2EEEE"/>
          </a:solidFill>
          <a:ln/>
        </p:spPr>
        <p:txBody>
          <a:bodyPr/>
          <a:lstStyle/>
          <a:p>
            <a:endParaRPr lang="en-US"/>
          </a:p>
        </p:txBody>
      </p:sp>
      <p:sp>
        <p:nvSpPr>
          <p:cNvPr id="8" name="Text 6"/>
          <p:cNvSpPr/>
          <p:nvPr/>
        </p:nvSpPr>
        <p:spPr>
          <a:xfrm>
            <a:off x="785495" y="1995289"/>
            <a:ext cx="2393493"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Short-Term Containment</a:t>
            </a:r>
            <a:endParaRPr lang="en-US" sz="1200" dirty="0"/>
          </a:p>
        </p:txBody>
      </p:sp>
      <p:sp>
        <p:nvSpPr>
          <p:cNvPr id="9" name="Text 7"/>
          <p:cNvSpPr/>
          <p:nvPr/>
        </p:nvSpPr>
        <p:spPr>
          <a:xfrm>
            <a:off x="785495" y="2282031"/>
            <a:ext cx="2393493" cy="1486694"/>
          </a:xfrm>
          <a:prstGeom prst="rect">
            <a:avLst/>
          </a:prstGeom>
          <a:noFill/>
          <a:ln/>
        </p:spPr>
        <p:txBody>
          <a:bodyPr wrap="square" lIns="0" tIns="0" rIns="0" bIns="0" rtlCol="0" anchor="t">
            <a:normAutofit/>
          </a:bodyPr>
          <a:lstStyle/>
          <a:p>
            <a:pPr marL="193040" indent="-193040" algn="l">
              <a:lnSpc>
                <a:spcPct val="117000"/>
              </a:lnSpc>
              <a:buSzPct val="100000"/>
              <a:buChar char="•"/>
            </a:pPr>
            <a:r>
              <a:rPr lang="en-US" sz="950" dirty="0">
                <a:solidFill>
                  <a:srgbClr val="4C4C4D"/>
                </a:solidFill>
                <a:latin typeface="Heebo" pitchFamily="34" charset="0"/>
                <a:ea typeface="Heebo" pitchFamily="34" charset="-122"/>
                <a:cs typeface="Heebo" pitchFamily="34" charset="-120"/>
              </a:rPr>
              <a:t>Isolate affected systems from the network</a:t>
            </a:r>
            <a:endParaRPr lang="en-US" sz="950" dirty="0"/>
          </a:p>
          <a:p>
            <a:pPr marL="193040" indent="-193040" algn="l">
              <a:lnSpc>
                <a:spcPct val="117000"/>
              </a:lnSpc>
              <a:buSzPct val="100000"/>
              <a:buChar char="•"/>
            </a:pPr>
            <a:r>
              <a:rPr lang="en-US" sz="950" dirty="0">
                <a:solidFill>
                  <a:srgbClr val="4C4C4D"/>
                </a:solidFill>
                <a:latin typeface="Heebo" pitchFamily="34" charset="0"/>
                <a:ea typeface="Heebo" pitchFamily="34" charset="-122"/>
                <a:cs typeface="Heebo" pitchFamily="34" charset="-120"/>
              </a:rPr>
              <a:t>Block malicious IPs and domains at the perimeter</a:t>
            </a:r>
            <a:endParaRPr lang="en-US" sz="950" dirty="0"/>
          </a:p>
          <a:p>
            <a:pPr marL="193040" indent="-193040" algn="l">
              <a:lnSpc>
                <a:spcPct val="117000"/>
              </a:lnSpc>
              <a:buSzPct val="100000"/>
              <a:buChar char="•"/>
            </a:pPr>
            <a:r>
              <a:rPr lang="en-US" sz="950" dirty="0">
                <a:solidFill>
                  <a:srgbClr val="4C4C4D"/>
                </a:solidFill>
                <a:latin typeface="Heebo" pitchFamily="34" charset="0"/>
                <a:ea typeface="Heebo" pitchFamily="34" charset="-122"/>
                <a:cs typeface="Heebo" pitchFamily="34" charset="-120"/>
              </a:rPr>
              <a:t>Disable compromised accounts immediately</a:t>
            </a:r>
            <a:endParaRPr lang="en-US" sz="950" dirty="0"/>
          </a:p>
          <a:p>
            <a:pPr marL="193040" indent="-193040" algn="l">
              <a:lnSpc>
                <a:spcPct val="117000"/>
              </a:lnSpc>
              <a:buSzPct val="100000"/>
              <a:buChar char="•"/>
            </a:pPr>
            <a:r>
              <a:rPr lang="en-US" sz="950" dirty="0">
                <a:solidFill>
                  <a:srgbClr val="4C4C4D"/>
                </a:solidFill>
                <a:latin typeface="Heebo" pitchFamily="34" charset="0"/>
                <a:ea typeface="Heebo" pitchFamily="34" charset="-122"/>
                <a:cs typeface="Heebo" pitchFamily="34" charset="-120"/>
              </a:rPr>
              <a:t>Preserve forensic evidence before changes are made</a:t>
            </a:r>
            <a:endParaRPr lang="en-US" sz="950" dirty="0"/>
          </a:p>
        </p:txBody>
      </p:sp>
      <p:sp>
        <p:nvSpPr>
          <p:cNvPr id="10" name="Shape 8"/>
          <p:cNvSpPr/>
          <p:nvPr/>
        </p:nvSpPr>
        <p:spPr>
          <a:xfrm>
            <a:off x="3303009" y="1871266"/>
            <a:ext cx="2641534" cy="2021483"/>
          </a:xfrm>
          <a:custGeom>
            <a:avLst/>
            <a:gdLst/>
            <a:ahLst/>
            <a:cxnLst/>
            <a:rect l="l" t="t" r="r" b="b"/>
            <a:pathLst>
              <a:path w="2641534" h="2021483">
                <a:moveTo>
                  <a:pt x="0" y="0"/>
                </a:moveTo>
                <a:lnTo>
                  <a:pt x="2626028" y="0"/>
                </a:lnTo>
                <a:arcTo wR="15505" hR="15506" stAng="16200000" swAng="5400000"/>
                <a:lnTo>
                  <a:pt x="2641534" y="2005977"/>
                </a:lnTo>
                <a:arcTo wR="15505" hR="15506" stAng="0" swAng="5400000"/>
                <a:lnTo>
                  <a:pt x="0" y="2021483"/>
                </a:lnTo>
                <a:lnTo>
                  <a:pt x="0" y="0"/>
                </a:lnTo>
                <a:close/>
              </a:path>
            </a:pathLst>
          </a:custGeom>
          <a:solidFill>
            <a:srgbClr val="F2EEEE"/>
          </a:solidFill>
          <a:ln/>
        </p:spPr>
        <p:txBody>
          <a:bodyPr/>
          <a:lstStyle/>
          <a:p>
            <a:endParaRPr lang="en-US"/>
          </a:p>
        </p:txBody>
      </p:sp>
      <p:sp>
        <p:nvSpPr>
          <p:cNvPr id="11" name="Shape 9"/>
          <p:cNvSpPr/>
          <p:nvPr/>
        </p:nvSpPr>
        <p:spPr>
          <a:xfrm>
            <a:off x="3303009" y="1871266"/>
            <a:ext cx="12700" cy="2021483"/>
          </a:xfrm>
          <a:prstGeom prst="roundRect">
            <a:avLst>
              <a:gd name="adj" fmla="val 49999"/>
            </a:avLst>
          </a:prstGeom>
          <a:solidFill>
            <a:srgbClr val="D8D4D4"/>
          </a:solidFill>
          <a:ln/>
        </p:spPr>
        <p:txBody>
          <a:bodyPr/>
          <a:lstStyle/>
          <a:p>
            <a:endParaRPr lang="en-US"/>
          </a:p>
        </p:txBody>
      </p:sp>
      <p:sp>
        <p:nvSpPr>
          <p:cNvPr id="12" name="Text 10"/>
          <p:cNvSpPr/>
          <p:nvPr/>
        </p:nvSpPr>
        <p:spPr>
          <a:xfrm>
            <a:off x="3427029" y="1995289"/>
            <a:ext cx="2393493"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Long-Term Containment</a:t>
            </a:r>
            <a:endParaRPr lang="en-US" sz="1200" dirty="0"/>
          </a:p>
        </p:txBody>
      </p:sp>
      <p:sp>
        <p:nvSpPr>
          <p:cNvPr id="13" name="Text 11"/>
          <p:cNvSpPr/>
          <p:nvPr/>
        </p:nvSpPr>
        <p:spPr>
          <a:xfrm>
            <a:off x="3427029" y="2282031"/>
            <a:ext cx="2393493" cy="1486694"/>
          </a:xfrm>
          <a:prstGeom prst="rect">
            <a:avLst/>
          </a:prstGeom>
          <a:noFill/>
          <a:ln/>
        </p:spPr>
        <p:txBody>
          <a:bodyPr wrap="square" lIns="0" tIns="0" rIns="0" bIns="0" rtlCol="0" anchor="t">
            <a:normAutofit/>
          </a:bodyPr>
          <a:lstStyle/>
          <a:p>
            <a:pPr marL="193040" indent="-193040" algn="l">
              <a:lnSpc>
                <a:spcPct val="117000"/>
              </a:lnSpc>
              <a:buSzPct val="100000"/>
              <a:buChar char="•"/>
            </a:pPr>
            <a:r>
              <a:rPr lang="en-US" sz="950" dirty="0">
                <a:solidFill>
                  <a:srgbClr val="4C4C4D"/>
                </a:solidFill>
                <a:latin typeface="Heebo" pitchFamily="34" charset="0"/>
                <a:ea typeface="Heebo" pitchFamily="34" charset="-122"/>
                <a:cs typeface="Heebo" pitchFamily="34" charset="-120"/>
              </a:rPr>
              <a:t>Apply emergency security patches to exploited systems</a:t>
            </a:r>
            <a:endParaRPr lang="en-US" sz="950" dirty="0"/>
          </a:p>
          <a:p>
            <a:pPr marL="193040" indent="-193040" algn="l">
              <a:lnSpc>
                <a:spcPct val="117000"/>
              </a:lnSpc>
              <a:buSzPct val="100000"/>
              <a:buChar char="•"/>
            </a:pPr>
            <a:r>
              <a:rPr lang="en-US" sz="950" dirty="0">
                <a:solidFill>
                  <a:srgbClr val="4C4C4D"/>
                </a:solidFill>
                <a:latin typeface="Heebo" pitchFamily="34" charset="0"/>
                <a:ea typeface="Heebo" pitchFamily="34" charset="-122"/>
                <a:cs typeface="Heebo" pitchFamily="34" charset="-120"/>
              </a:rPr>
              <a:t>Implement compensating controls organization-wide</a:t>
            </a:r>
            <a:endParaRPr lang="en-US" sz="950" dirty="0"/>
          </a:p>
          <a:p>
            <a:pPr marL="193040" indent="-193040" algn="l">
              <a:lnSpc>
                <a:spcPct val="117000"/>
              </a:lnSpc>
              <a:buSzPct val="100000"/>
              <a:buChar char="•"/>
            </a:pPr>
            <a:r>
              <a:rPr lang="en-US" sz="950" dirty="0">
                <a:solidFill>
                  <a:srgbClr val="4C4C4D"/>
                </a:solidFill>
                <a:latin typeface="Heebo" pitchFamily="34" charset="0"/>
                <a:ea typeface="Heebo" pitchFamily="34" charset="-122"/>
                <a:cs typeface="Heebo" pitchFamily="34" charset="-120"/>
              </a:rPr>
              <a:t>Segment network architecture to limit lateral movement</a:t>
            </a:r>
            <a:endParaRPr lang="en-US" sz="950" dirty="0"/>
          </a:p>
          <a:p>
            <a:pPr marL="193040" indent="-193040" algn="l">
              <a:lnSpc>
                <a:spcPct val="117000"/>
              </a:lnSpc>
              <a:buSzPct val="100000"/>
              <a:buChar char="•"/>
            </a:pPr>
            <a:r>
              <a:rPr lang="en-US" sz="950" dirty="0">
                <a:solidFill>
                  <a:srgbClr val="4C4C4D"/>
                </a:solidFill>
                <a:latin typeface="Heebo" pitchFamily="34" charset="0"/>
                <a:ea typeface="Heebo" pitchFamily="34" charset="-122"/>
                <a:cs typeface="Heebo" pitchFamily="34" charset="-120"/>
              </a:rPr>
              <a:t>Strengthen access controls and privilege management</a:t>
            </a:r>
            <a:endParaRPr lang="en-US" sz="950" dirty="0"/>
          </a:p>
        </p:txBody>
      </p:sp>
      <p:sp>
        <p:nvSpPr>
          <p:cNvPr id="14" name="Text 12"/>
          <p:cNvSpPr/>
          <p:nvPr/>
        </p:nvSpPr>
        <p:spPr>
          <a:xfrm>
            <a:off x="6253502" y="1572915"/>
            <a:ext cx="5283068" cy="193774"/>
          </a:xfrm>
          <a:prstGeom prst="rect">
            <a:avLst/>
          </a:prstGeom>
          <a:noFill/>
          <a:ln/>
        </p:spPr>
        <p:txBody>
          <a:bodyPr wrap="none" lIns="0" tIns="0" rIns="0" bIns="0" rtlCol="0" anchor="t"/>
          <a:lstStyle/>
          <a:p>
            <a:pPr marL="0" indent="0" algn="l">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Eradication and Recovery</a:t>
            </a:r>
            <a:endParaRPr lang="en-US" sz="1200" dirty="0"/>
          </a:p>
        </p:txBody>
      </p:sp>
      <p:sp>
        <p:nvSpPr>
          <p:cNvPr id="15" name="Text 13"/>
          <p:cNvSpPr/>
          <p:nvPr/>
        </p:nvSpPr>
        <p:spPr>
          <a:xfrm>
            <a:off x="6253502" y="1871266"/>
            <a:ext cx="248041" cy="154980"/>
          </a:xfrm>
          <a:prstGeom prst="rect">
            <a:avLst/>
          </a:prstGeom>
          <a:noFill/>
          <a:ln/>
        </p:spPr>
        <p:txBody>
          <a:bodyPr wrap="none" lIns="0" tIns="0" rIns="0" bIns="0" rtlCol="0" anchor="ctr"/>
          <a:lstStyle/>
          <a:p>
            <a:pPr marL="0" indent="0" algn="l">
              <a:lnSpc>
                <a:spcPct val="100000"/>
              </a:lnSpc>
              <a:buNone/>
            </a:pPr>
            <a:r>
              <a:rPr lang="en-US" sz="950" dirty="0">
                <a:solidFill>
                  <a:srgbClr val="4C4C4D"/>
                </a:solidFill>
                <a:latin typeface="Crimson Pro Light" pitchFamily="34" charset="0"/>
                <a:ea typeface="Crimson Pro Light" pitchFamily="34" charset="-122"/>
                <a:cs typeface="Crimson Pro Light" pitchFamily="34" charset="-120"/>
              </a:rPr>
              <a:t>01</a:t>
            </a:r>
            <a:endParaRPr lang="en-US" sz="950" dirty="0"/>
          </a:p>
        </p:txBody>
      </p:sp>
      <p:sp>
        <p:nvSpPr>
          <p:cNvPr id="16" name="Shape 14"/>
          <p:cNvSpPr/>
          <p:nvPr/>
        </p:nvSpPr>
        <p:spPr>
          <a:xfrm>
            <a:off x="6253502" y="2069306"/>
            <a:ext cx="5283068" cy="12700"/>
          </a:xfrm>
          <a:prstGeom prst="rect">
            <a:avLst/>
          </a:prstGeom>
          <a:solidFill>
            <a:srgbClr val="2150FE"/>
          </a:solidFill>
          <a:ln/>
        </p:spPr>
        <p:txBody>
          <a:bodyPr/>
          <a:lstStyle/>
          <a:p>
            <a:endParaRPr lang="en-US"/>
          </a:p>
        </p:txBody>
      </p:sp>
      <p:sp>
        <p:nvSpPr>
          <p:cNvPr id="17" name="Text 15"/>
          <p:cNvSpPr/>
          <p:nvPr/>
        </p:nvSpPr>
        <p:spPr>
          <a:xfrm>
            <a:off x="6253502" y="2156718"/>
            <a:ext cx="5283068"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Remove Malware</a:t>
            </a:r>
            <a:endParaRPr lang="en-US" sz="1200" dirty="0"/>
          </a:p>
        </p:txBody>
      </p:sp>
      <p:sp>
        <p:nvSpPr>
          <p:cNvPr id="18" name="Text 16"/>
          <p:cNvSpPr/>
          <p:nvPr/>
        </p:nvSpPr>
        <p:spPr>
          <a:xfrm>
            <a:off x="6253502" y="2443460"/>
            <a:ext cx="5283068"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Delete malicious files, registry entries, and scheduled tasks. Verify removal with multiple scanning tools.</a:t>
            </a:r>
            <a:endParaRPr lang="en-US" sz="950" dirty="0"/>
          </a:p>
        </p:txBody>
      </p:sp>
      <p:sp>
        <p:nvSpPr>
          <p:cNvPr id="19" name="Text 17"/>
          <p:cNvSpPr/>
          <p:nvPr/>
        </p:nvSpPr>
        <p:spPr>
          <a:xfrm>
            <a:off x="6253502" y="2976662"/>
            <a:ext cx="248041" cy="154980"/>
          </a:xfrm>
          <a:prstGeom prst="rect">
            <a:avLst/>
          </a:prstGeom>
          <a:noFill/>
          <a:ln/>
        </p:spPr>
        <p:txBody>
          <a:bodyPr wrap="none" lIns="0" tIns="0" rIns="0" bIns="0" rtlCol="0" anchor="ctr"/>
          <a:lstStyle/>
          <a:p>
            <a:pPr marL="0" indent="0" algn="l">
              <a:lnSpc>
                <a:spcPct val="100000"/>
              </a:lnSpc>
              <a:buNone/>
            </a:pPr>
            <a:r>
              <a:rPr lang="en-US" sz="950" dirty="0">
                <a:solidFill>
                  <a:srgbClr val="4C4C4D"/>
                </a:solidFill>
                <a:latin typeface="Crimson Pro Light" pitchFamily="34" charset="0"/>
                <a:ea typeface="Crimson Pro Light" pitchFamily="34" charset="-122"/>
                <a:cs typeface="Crimson Pro Light" pitchFamily="34" charset="-120"/>
              </a:rPr>
              <a:t>02</a:t>
            </a:r>
            <a:endParaRPr lang="en-US" sz="950" dirty="0"/>
          </a:p>
        </p:txBody>
      </p:sp>
      <p:sp>
        <p:nvSpPr>
          <p:cNvPr id="20" name="Shape 18"/>
          <p:cNvSpPr/>
          <p:nvPr/>
        </p:nvSpPr>
        <p:spPr>
          <a:xfrm>
            <a:off x="6253502" y="3174702"/>
            <a:ext cx="5283068" cy="12700"/>
          </a:xfrm>
          <a:prstGeom prst="rect">
            <a:avLst/>
          </a:prstGeom>
          <a:solidFill>
            <a:srgbClr val="2150FE"/>
          </a:solidFill>
          <a:ln/>
        </p:spPr>
        <p:txBody>
          <a:bodyPr/>
          <a:lstStyle/>
          <a:p>
            <a:endParaRPr lang="en-US"/>
          </a:p>
        </p:txBody>
      </p:sp>
      <p:sp>
        <p:nvSpPr>
          <p:cNvPr id="21" name="Text 19"/>
          <p:cNvSpPr/>
          <p:nvPr/>
        </p:nvSpPr>
        <p:spPr>
          <a:xfrm>
            <a:off x="6253502" y="3262114"/>
            <a:ext cx="5283068"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Close Vulnerabilities</a:t>
            </a:r>
            <a:endParaRPr lang="en-US" sz="1200" dirty="0"/>
          </a:p>
        </p:txBody>
      </p:sp>
      <p:sp>
        <p:nvSpPr>
          <p:cNvPr id="22" name="Text 20"/>
          <p:cNvSpPr/>
          <p:nvPr/>
        </p:nvSpPr>
        <p:spPr>
          <a:xfrm>
            <a:off x="6253502" y="3548856"/>
            <a:ext cx="5283068" cy="173633"/>
          </a:xfrm>
          <a:prstGeom prst="rect">
            <a:avLst/>
          </a:prstGeom>
          <a:noFill/>
          <a:ln/>
        </p:spPr>
        <p:txBody>
          <a:bodyPr wrap="none" lIns="0" tIns="0" rIns="0" bIns="0" rtlCol="0" anchor="t"/>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Patch all exploited weaknesses and eliminate misconfigurations that facilitated the breach.</a:t>
            </a:r>
            <a:endParaRPr lang="en-US" sz="950" dirty="0"/>
          </a:p>
        </p:txBody>
      </p:sp>
      <p:sp>
        <p:nvSpPr>
          <p:cNvPr id="23" name="Text 21"/>
          <p:cNvSpPr/>
          <p:nvPr/>
        </p:nvSpPr>
        <p:spPr>
          <a:xfrm>
            <a:off x="6253502" y="3908425"/>
            <a:ext cx="248041" cy="154980"/>
          </a:xfrm>
          <a:prstGeom prst="rect">
            <a:avLst/>
          </a:prstGeom>
          <a:noFill/>
          <a:ln/>
        </p:spPr>
        <p:txBody>
          <a:bodyPr wrap="none" lIns="0" tIns="0" rIns="0" bIns="0" rtlCol="0" anchor="ctr"/>
          <a:lstStyle/>
          <a:p>
            <a:pPr marL="0" indent="0" algn="l">
              <a:lnSpc>
                <a:spcPct val="100000"/>
              </a:lnSpc>
              <a:buNone/>
            </a:pPr>
            <a:r>
              <a:rPr lang="en-US" sz="950" dirty="0">
                <a:solidFill>
                  <a:srgbClr val="4C4C4D"/>
                </a:solidFill>
                <a:latin typeface="Crimson Pro Light" pitchFamily="34" charset="0"/>
                <a:ea typeface="Crimson Pro Light" pitchFamily="34" charset="-122"/>
                <a:cs typeface="Crimson Pro Light" pitchFamily="34" charset="-120"/>
              </a:rPr>
              <a:t>03</a:t>
            </a:r>
            <a:endParaRPr lang="en-US" sz="950" dirty="0"/>
          </a:p>
        </p:txBody>
      </p:sp>
      <p:sp>
        <p:nvSpPr>
          <p:cNvPr id="24" name="Shape 22"/>
          <p:cNvSpPr/>
          <p:nvPr/>
        </p:nvSpPr>
        <p:spPr>
          <a:xfrm>
            <a:off x="6253502" y="4106466"/>
            <a:ext cx="5283068" cy="12700"/>
          </a:xfrm>
          <a:prstGeom prst="rect">
            <a:avLst/>
          </a:prstGeom>
          <a:solidFill>
            <a:srgbClr val="2150FE"/>
          </a:solidFill>
          <a:ln/>
        </p:spPr>
        <p:txBody>
          <a:bodyPr/>
          <a:lstStyle/>
          <a:p>
            <a:endParaRPr lang="en-US"/>
          </a:p>
        </p:txBody>
      </p:sp>
      <p:sp>
        <p:nvSpPr>
          <p:cNvPr id="25" name="Text 23"/>
          <p:cNvSpPr/>
          <p:nvPr/>
        </p:nvSpPr>
        <p:spPr>
          <a:xfrm>
            <a:off x="6253502" y="4193877"/>
            <a:ext cx="5283068"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Restore Systems</a:t>
            </a:r>
            <a:endParaRPr lang="en-US" sz="1200" dirty="0"/>
          </a:p>
        </p:txBody>
      </p:sp>
      <p:sp>
        <p:nvSpPr>
          <p:cNvPr id="26" name="Text 24"/>
          <p:cNvSpPr/>
          <p:nvPr/>
        </p:nvSpPr>
        <p:spPr>
          <a:xfrm>
            <a:off x="6253502" y="4480620"/>
            <a:ext cx="5283068"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Rebuild from clean backups or known-good images. Validate integrity before returning to production.</a:t>
            </a:r>
            <a:endParaRPr lang="en-US" sz="950" dirty="0"/>
          </a:p>
        </p:txBody>
      </p:sp>
      <p:sp>
        <p:nvSpPr>
          <p:cNvPr id="27" name="Text 25"/>
          <p:cNvSpPr/>
          <p:nvPr/>
        </p:nvSpPr>
        <p:spPr>
          <a:xfrm>
            <a:off x="6253502" y="5013821"/>
            <a:ext cx="248041" cy="154980"/>
          </a:xfrm>
          <a:prstGeom prst="rect">
            <a:avLst/>
          </a:prstGeom>
          <a:noFill/>
          <a:ln/>
        </p:spPr>
        <p:txBody>
          <a:bodyPr wrap="none" lIns="0" tIns="0" rIns="0" bIns="0" rtlCol="0" anchor="ctr"/>
          <a:lstStyle/>
          <a:p>
            <a:pPr marL="0" indent="0" algn="l">
              <a:lnSpc>
                <a:spcPct val="100000"/>
              </a:lnSpc>
              <a:buNone/>
            </a:pPr>
            <a:r>
              <a:rPr lang="en-US" sz="950" dirty="0">
                <a:solidFill>
                  <a:srgbClr val="4C4C4D"/>
                </a:solidFill>
                <a:latin typeface="Crimson Pro Light" pitchFamily="34" charset="0"/>
                <a:ea typeface="Crimson Pro Light" pitchFamily="34" charset="-122"/>
                <a:cs typeface="Crimson Pro Light" pitchFamily="34" charset="-120"/>
              </a:rPr>
              <a:t>04</a:t>
            </a:r>
            <a:endParaRPr lang="en-US" sz="950" dirty="0"/>
          </a:p>
        </p:txBody>
      </p:sp>
      <p:sp>
        <p:nvSpPr>
          <p:cNvPr id="28" name="Shape 26"/>
          <p:cNvSpPr/>
          <p:nvPr/>
        </p:nvSpPr>
        <p:spPr>
          <a:xfrm>
            <a:off x="6253502" y="5211862"/>
            <a:ext cx="5283068" cy="12700"/>
          </a:xfrm>
          <a:prstGeom prst="rect">
            <a:avLst/>
          </a:prstGeom>
          <a:solidFill>
            <a:srgbClr val="2150FE"/>
          </a:solidFill>
          <a:ln/>
        </p:spPr>
        <p:txBody>
          <a:bodyPr/>
          <a:lstStyle/>
          <a:p>
            <a:endParaRPr lang="en-US"/>
          </a:p>
        </p:txBody>
      </p:sp>
      <p:sp>
        <p:nvSpPr>
          <p:cNvPr id="29" name="Text 27"/>
          <p:cNvSpPr/>
          <p:nvPr/>
        </p:nvSpPr>
        <p:spPr>
          <a:xfrm>
            <a:off x="6253502" y="5299273"/>
            <a:ext cx="5283068"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Monitor and Return</a:t>
            </a:r>
            <a:endParaRPr lang="en-US" sz="1200" dirty="0"/>
          </a:p>
        </p:txBody>
      </p:sp>
      <p:sp>
        <p:nvSpPr>
          <p:cNvPr id="30" name="Text 28"/>
          <p:cNvSpPr/>
          <p:nvPr/>
        </p:nvSpPr>
        <p:spPr>
          <a:xfrm>
            <a:off x="6253502" y="5586016"/>
            <a:ext cx="5283068"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Enhanced surveillance during the recovery window. Phased restoration of full business operations.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480417"/>
            <a:ext cx="652347" cy="226219"/>
          </a:xfrm>
          <a:prstGeom prst="roundRect">
            <a:avLst>
              <a:gd name="adj" fmla="val 7896"/>
            </a:avLst>
          </a:prstGeom>
          <a:solidFill>
            <a:srgbClr val="CCD7FF"/>
          </a:solidFill>
          <a:ln/>
        </p:spPr>
        <p:txBody>
          <a:bodyPr/>
          <a:lstStyle/>
          <a:p>
            <a:endParaRPr lang="en-US"/>
          </a:p>
        </p:txBody>
      </p:sp>
      <p:sp>
        <p:nvSpPr>
          <p:cNvPr id="3" name="Text 1"/>
          <p:cNvSpPr/>
          <p:nvPr/>
        </p:nvSpPr>
        <p:spPr>
          <a:xfrm>
            <a:off x="750769" y="525066"/>
            <a:ext cx="1083342" cy="136922"/>
          </a:xfrm>
          <a:prstGeom prst="rect">
            <a:avLst/>
          </a:prstGeom>
          <a:noFill/>
          <a:ln/>
        </p:spPr>
        <p:txBody>
          <a:bodyPr wrap="none" lIns="0" tIns="0" rIns="0" bIns="0" rtlCol="0" anchor="t"/>
          <a:lstStyle/>
          <a:p>
            <a:pPr marL="0" indent="0" algn="l">
              <a:lnSpc>
                <a:spcPct val="96000"/>
              </a:lnSpc>
              <a:buNone/>
            </a:pPr>
            <a:r>
              <a:rPr lang="en-US" sz="900" dirty="0">
                <a:solidFill>
                  <a:srgbClr val="4C4C4D"/>
                </a:solidFill>
                <a:latin typeface="Heebo" pitchFamily="34" charset="0"/>
                <a:ea typeface="Heebo" pitchFamily="34" charset="-122"/>
                <a:cs typeface="Heebo" pitchFamily="34" charset="-120"/>
              </a:rPr>
              <a:t>PHASE 4</a:t>
            </a:r>
            <a:endParaRPr lang="en-US" sz="900" dirty="0"/>
          </a:p>
        </p:txBody>
      </p:sp>
      <p:sp>
        <p:nvSpPr>
          <p:cNvPr id="4" name="Text 2"/>
          <p:cNvSpPr/>
          <p:nvPr/>
        </p:nvSpPr>
        <p:spPr>
          <a:xfrm>
            <a:off x="661475" y="760214"/>
            <a:ext cx="10868745" cy="465138"/>
          </a:xfrm>
          <a:prstGeom prst="rect">
            <a:avLst/>
          </a:prstGeom>
          <a:noFill/>
          <a:ln/>
        </p:spPr>
        <p:txBody>
          <a:bodyPr wrap="none" lIns="0" tIns="0" rIns="0" bIns="0" rtlCol="0" anchor="t"/>
          <a:lstStyle/>
          <a:p>
            <a:pPr marL="0" indent="0" algn="l">
              <a:lnSpc>
                <a:spcPct val="104000"/>
              </a:lnSpc>
              <a:buNone/>
            </a:pPr>
            <a:r>
              <a:rPr lang="en-US" sz="2900" dirty="0">
                <a:solidFill>
                  <a:srgbClr val="152D47"/>
                </a:solidFill>
                <a:latin typeface="Crimson Pro SemiBold" pitchFamily="34" charset="0"/>
                <a:ea typeface="Crimson Pro SemiBold" pitchFamily="34" charset="-122"/>
                <a:cs typeface="Crimson Pro SemiBold" pitchFamily="34" charset="-120"/>
              </a:rPr>
              <a:t>Lessons Learned and Root Cause Analysis</a:t>
            </a:r>
            <a:endParaRPr lang="en-US" sz="2900" dirty="0"/>
          </a:p>
        </p:txBody>
      </p:sp>
      <p:sp>
        <p:nvSpPr>
          <p:cNvPr id="5" name="Text 3"/>
          <p:cNvSpPr/>
          <p:nvPr/>
        </p:nvSpPr>
        <p:spPr>
          <a:xfrm>
            <a:off x="661475" y="1560215"/>
            <a:ext cx="5814371" cy="232470"/>
          </a:xfrm>
          <a:prstGeom prst="rect">
            <a:avLst/>
          </a:prstGeom>
          <a:noFill/>
          <a:ln/>
        </p:spPr>
        <p:txBody>
          <a:bodyPr wrap="none" lIns="0" tIns="0" rIns="0" bIns="0" rtlCol="0" anchor="t"/>
          <a:lstStyle/>
          <a:p>
            <a:pPr marL="0" indent="0" algn="l">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Lessons Learned Process</a:t>
            </a:r>
            <a:endParaRPr lang="en-US" sz="1450" dirty="0"/>
          </a:p>
        </p:txBody>
      </p:sp>
      <p:sp>
        <p:nvSpPr>
          <p:cNvPr id="6" name="Text 4"/>
          <p:cNvSpPr/>
          <p:nvPr/>
        </p:nvSpPr>
        <p:spPr>
          <a:xfrm>
            <a:off x="661475" y="1926630"/>
            <a:ext cx="5814371"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Conduct structured review sessions </a:t>
            </a:r>
            <a:r>
              <a:rPr lang="en-US" sz="1150" b="1" dirty="0">
                <a:solidFill>
                  <a:srgbClr val="4C4C4D"/>
                </a:solidFill>
                <a:latin typeface="Heebo Bold" pitchFamily="34" charset="0"/>
                <a:ea typeface="Heebo Bold" pitchFamily="34" charset="-122"/>
                <a:cs typeface="Heebo Bold" pitchFamily="34" charset="-120"/>
              </a:rPr>
              <a:t>within two weeks of incident closure</a:t>
            </a:r>
            <a:r>
              <a:rPr lang="en-US" sz="1150" dirty="0">
                <a:solidFill>
                  <a:srgbClr val="4C4C4D"/>
                </a:solidFill>
                <a:latin typeface="Heebo" pitchFamily="34" charset="0"/>
                <a:ea typeface="Heebo" pitchFamily="34" charset="-122"/>
                <a:cs typeface="Heebo" pitchFamily="34" charset="-120"/>
              </a:rPr>
              <a:t> to capture insights while details remain fresh. Create a blame-free environment focused entirely on organizational learning.</a:t>
            </a:r>
            <a:endParaRPr lang="en-US" sz="1150" dirty="0"/>
          </a:p>
        </p:txBody>
      </p:sp>
      <p:sp>
        <p:nvSpPr>
          <p:cNvPr id="7" name="Shape 5"/>
          <p:cNvSpPr/>
          <p:nvPr/>
        </p:nvSpPr>
        <p:spPr>
          <a:xfrm>
            <a:off x="661475" y="2755999"/>
            <a:ext cx="2840165" cy="1380827"/>
          </a:xfrm>
          <a:prstGeom prst="roundRect">
            <a:avLst>
              <a:gd name="adj" fmla="val 1617"/>
            </a:avLst>
          </a:prstGeom>
          <a:solidFill>
            <a:srgbClr val="FFFFFF"/>
          </a:solidFill>
          <a:ln w="19050">
            <a:solidFill>
              <a:srgbClr val="D8D4D4"/>
            </a:solidFill>
            <a:prstDash val="solid"/>
          </a:ln>
        </p:spPr>
        <p:txBody>
          <a:bodyPr/>
          <a:lstStyle/>
          <a:p>
            <a:endParaRPr lang="en-US"/>
          </a:p>
        </p:txBody>
      </p:sp>
      <p:sp>
        <p:nvSpPr>
          <p:cNvPr id="8" name="Text 6"/>
          <p:cNvSpPr/>
          <p:nvPr/>
        </p:nvSpPr>
        <p:spPr>
          <a:xfrm>
            <a:off x="829349" y="2923877"/>
            <a:ext cx="2504417" cy="232470"/>
          </a:xfrm>
          <a:prstGeom prst="rect">
            <a:avLst/>
          </a:prstGeom>
          <a:noFill/>
          <a:ln/>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What happened and when?</a:t>
            </a:r>
            <a:endParaRPr lang="en-US" sz="1450" dirty="0"/>
          </a:p>
        </p:txBody>
      </p:sp>
      <p:sp>
        <p:nvSpPr>
          <p:cNvPr id="9" name="Text 7"/>
          <p:cNvSpPr/>
          <p:nvPr/>
        </p:nvSpPr>
        <p:spPr>
          <a:xfrm>
            <a:off x="829349" y="3290292"/>
            <a:ext cx="2504417"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Reconstruct the full timeline of events from initial compromise to full restoration.</a:t>
            </a:r>
            <a:endParaRPr lang="en-US" sz="1150" dirty="0"/>
          </a:p>
        </p:txBody>
      </p:sp>
      <p:sp>
        <p:nvSpPr>
          <p:cNvPr id="10" name="Shape 8"/>
          <p:cNvSpPr/>
          <p:nvPr/>
        </p:nvSpPr>
        <p:spPr>
          <a:xfrm>
            <a:off x="3635582" y="2755999"/>
            <a:ext cx="2840264" cy="1380827"/>
          </a:xfrm>
          <a:prstGeom prst="roundRect">
            <a:avLst>
              <a:gd name="adj" fmla="val 1617"/>
            </a:avLst>
          </a:prstGeom>
          <a:solidFill>
            <a:srgbClr val="FFFFFF"/>
          </a:solidFill>
          <a:ln w="19050">
            <a:solidFill>
              <a:srgbClr val="D8D4D4"/>
            </a:solidFill>
            <a:prstDash val="solid"/>
          </a:ln>
        </p:spPr>
        <p:txBody>
          <a:bodyPr/>
          <a:lstStyle/>
          <a:p>
            <a:endParaRPr lang="en-US"/>
          </a:p>
        </p:txBody>
      </p:sp>
      <p:sp>
        <p:nvSpPr>
          <p:cNvPr id="11" name="Text 9"/>
          <p:cNvSpPr/>
          <p:nvPr/>
        </p:nvSpPr>
        <p:spPr>
          <a:xfrm>
            <a:off x="3803456" y="2923877"/>
            <a:ext cx="2504516" cy="232470"/>
          </a:xfrm>
          <a:prstGeom prst="rect">
            <a:avLst/>
          </a:prstGeom>
          <a:noFill/>
          <a:ln/>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What worked well?</a:t>
            </a:r>
            <a:endParaRPr lang="en-US" sz="1450" dirty="0"/>
          </a:p>
        </p:txBody>
      </p:sp>
      <p:sp>
        <p:nvSpPr>
          <p:cNvPr id="12" name="Text 10"/>
          <p:cNvSpPr/>
          <p:nvPr/>
        </p:nvSpPr>
        <p:spPr>
          <a:xfrm>
            <a:off x="3803456" y="3290292"/>
            <a:ext cx="2504516"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Identify response actions and controls that limited the impact of the incident.</a:t>
            </a:r>
            <a:endParaRPr lang="en-US" sz="1150" dirty="0"/>
          </a:p>
        </p:txBody>
      </p:sp>
      <p:sp>
        <p:nvSpPr>
          <p:cNvPr id="13" name="Shape 11"/>
          <p:cNvSpPr/>
          <p:nvPr/>
        </p:nvSpPr>
        <p:spPr>
          <a:xfrm>
            <a:off x="661475" y="4270772"/>
            <a:ext cx="5814371" cy="928390"/>
          </a:xfrm>
          <a:prstGeom prst="roundRect">
            <a:avLst>
              <a:gd name="adj" fmla="val 2405"/>
            </a:avLst>
          </a:prstGeom>
          <a:solidFill>
            <a:srgbClr val="FFFFFF"/>
          </a:solidFill>
          <a:ln w="19050">
            <a:solidFill>
              <a:srgbClr val="D8D4D4"/>
            </a:solidFill>
            <a:prstDash val="solid"/>
          </a:ln>
        </p:spPr>
        <p:txBody>
          <a:bodyPr/>
          <a:lstStyle/>
          <a:p>
            <a:endParaRPr lang="en-US"/>
          </a:p>
        </p:txBody>
      </p:sp>
      <p:sp>
        <p:nvSpPr>
          <p:cNvPr id="14" name="Text 12"/>
          <p:cNvSpPr/>
          <p:nvPr/>
        </p:nvSpPr>
        <p:spPr>
          <a:xfrm>
            <a:off x="829349" y="4438650"/>
            <a:ext cx="5478623" cy="232470"/>
          </a:xfrm>
          <a:prstGeom prst="rect">
            <a:avLst/>
          </a:prstGeom>
          <a:noFill/>
          <a:ln/>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What could be improved?</a:t>
            </a:r>
            <a:endParaRPr lang="en-US" sz="1450" dirty="0"/>
          </a:p>
        </p:txBody>
      </p:sp>
      <p:sp>
        <p:nvSpPr>
          <p:cNvPr id="15" name="Text 13"/>
          <p:cNvSpPr/>
          <p:nvPr/>
        </p:nvSpPr>
        <p:spPr>
          <a:xfrm>
            <a:off x="829349" y="4805065"/>
            <a:ext cx="5478623" cy="226219"/>
          </a:xfrm>
          <a:prstGeom prst="rect">
            <a:avLst/>
          </a:prstGeom>
          <a:noFill/>
          <a:ln/>
        </p:spPr>
        <p:txBody>
          <a:bodyPr wrap="none" lIns="0" tIns="0" rIns="0" bIns="0" rtlCol="0" anchor="t"/>
          <a:lstStyle/>
          <a:p>
            <a:pPr marL="0" indent="0" algn="l">
              <a:lnSpc>
                <a:spcPct val="127000"/>
              </a:lnSpc>
              <a:buNone/>
            </a:pPr>
            <a:r>
              <a:rPr lang="en-US" sz="1150" dirty="0">
                <a:solidFill>
                  <a:srgbClr val="4C4C4D"/>
                </a:solidFill>
                <a:latin typeface="Heebo" pitchFamily="34" charset="0"/>
                <a:ea typeface="Heebo" pitchFamily="34" charset="-122"/>
                <a:cs typeface="Heebo" pitchFamily="34" charset="-120"/>
              </a:rPr>
              <a:t>Uncover gaps in detection, communication, tooling, or team coordination.</a:t>
            </a:r>
            <a:endParaRPr lang="en-US" sz="1150" dirty="0"/>
          </a:p>
        </p:txBody>
      </p:sp>
      <p:sp>
        <p:nvSpPr>
          <p:cNvPr id="16" name="Shape 14"/>
          <p:cNvSpPr/>
          <p:nvPr/>
        </p:nvSpPr>
        <p:spPr>
          <a:xfrm>
            <a:off x="6738174" y="1426270"/>
            <a:ext cx="4905451" cy="4951313"/>
          </a:xfrm>
          <a:prstGeom prst="roundRect">
            <a:avLst>
              <a:gd name="adj" fmla="val 455"/>
            </a:avLst>
          </a:prstGeom>
          <a:solidFill>
            <a:srgbClr val="2150FE"/>
          </a:solidFill>
          <a:ln/>
        </p:spPr>
        <p:txBody>
          <a:bodyPr/>
          <a:lstStyle/>
          <a:p>
            <a:endParaRPr lang="en-US"/>
          </a:p>
        </p:txBody>
      </p:sp>
      <p:sp>
        <p:nvSpPr>
          <p:cNvPr id="17" name="Text 15"/>
          <p:cNvSpPr/>
          <p:nvPr/>
        </p:nvSpPr>
        <p:spPr>
          <a:xfrm>
            <a:off x="6886998" y="1560215"/>
            <a:ext cx="4607802" cy="232470"/>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Crimson Pro SemiBold" pitchFamily="34" charset="0"/>
                <a:ea typeface="Crimson Pro SemiBold" pitchFamily="34" charset="-122"/>
                <a:cs typeface="Crimson Pro SemiBold" pitchFamily="34" charset="-120"/>
              </a:rPr>
              <a:t>Root Cause Analysis Techniques</a:t>
            </a:r>
            <a:endParaRPr lang="en-US" sz="1450" dirty="0"/>
          </a:p>
        </p:txBody>
      </p:sp>
      <p:sp>
        <p:nvSpPr>
          <p:cNvPr id="18" name="Text 16"/>
          <p:cNvSpPr/>
          <p:nvPr/>
        </p:nvSpPr>
        <p:spPr>
          <a:xfrm>
            <a:off x="7355795" y="1994495"/>
            <a:ext cx="4139005" cy="232470"/>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Crimson Pro SemiBold" pitchFamily="34" charset="0"/>
                <a:ea typeface="Crimson Pro SemiBold" pitchFamily="34" charset="-122"/>
                <a:cs typeface="Crimson Pro SemiBold" pitchFamily="34" charset="-120"/>
              </a:rPr>
              <a:t>Five Whys Methodology</a:t>
            </a:r>
            <a:endParaRPr lang="en-US" sz="1450" dirty="0"/>
          </a:p>
        </p:txBody>
      </p:sp>
      <p:sp>
        <p:nvSpPr>
          <p:cNvPr id="19" name="Text 17"/>
          <p:cNvSpPr/>
          <p:nvPr/>
        </p:nvSpPr>
        <p:spPr>
          <a:xfrm>
            <a:off x="7355795" y="2360910"/>
            <a:ext cx="4139005"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FFFFFF"/>
                </a:solidFill>
                <a:latin typeface="Heebo" pitchFamily="34" charset="0"/>
                <a:ea typeface="Heebo" pitchFamily="34" charset="-122"/>
                <a:cs typeface="Heebo" pitchFamily="34" charset="-120"/>
              </a:rPr>
              <a:t>Iterative questioning to trace a problem back to its fundamental systemic cause.</a:t>
            </a:r>
            <a:endParaRPr lang="en-US" sz="1150" dirty="0"/>
          </a:p>
        </p:txBody>
      </p:sp>
      <p:sp>
        <p:nvSpPr>
          <p:cNvPr id="20" name="Text 18"/>
          <p:cNvSpPr/>
          <p:nvPr/>
        </p:nvSpPr>
        <p:spPr>
          <a:xfrm>
            <a:off x="7355795" y="3132336"/>
            <a:ext cx="4139005" cy="232470"/>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Crimson Pro SemiBold" pitchFamily="34" charset="0"/>
                <a:ea typeface="Crimson Pro SemiBold" pitchFamily="34" charset="-122"/>
                <a:cs typeface="Crimson Pro SemiBold" pitchFamily="34" charset="-120"/>
              </a:rPr>
              <a:t>Fishbone Diagrams</a:t>
            </a:r>
            <a:endParaRPr lang="en-US" sz="1450" dirty="0"/>
          </a:p>
        </p:txBody>
      </p:sp>
      <p:sp>
        <p:nvSpPr>
          <p:cNvPr id="21" name="Text 19"/>
          <p:cNvSpPr/>
          <p:nvPr/>
        </p:nvSpPr>
        <p:spPr>
          <a:xfrm>
            <a:off x="7355795" y="3498751"/>
            <a:ext cx="4139005"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FFFFFF"/>
                </a:solidFill>
                <a:latin typeface="Heebo" pitchFamily="34" charset="0"/>
                <a:ea typeface="Heebo" pitchFamily="34" charset="-122"/>
                <a:cs typeface="Heebo" pitchFamily="34" charset="-120"/>
              </a:rPr>
              <a:t>Visualize contributing factors across people, process, technology, and environment.</a:t>
            </a:r>
            <a:endParaRPr lang="en-US" sz="1150" dirty="0"/>
          </a:p>
        </p:txBody>
      </p:sp>
      <p:sp>
        <p:nvSpPr>
          <p:cNvPr id="22" name="Text 20"/>
          <p:cNvSpPr/>
          <p:nvPr/>
        </p:nvSpPr>
        <p:spPr>
          <a:xfrm>
            <a:off x="7355795" y="4270177"/>
            <a:ext cx="4139005" cy="232470"/>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Crimson Pro SemiBold" pitchFamily="34" charset="0"/>
                <a:ea typeface="Crimson Pro SemiBold" pitchFamily="34" charset="-122"/>
                <a:cs typeface="Crimson Pro SemiBold" pitchFamily="34" charset="-120"/>
              </a:rPr>
              <a:t>Timeline Reconstruction</a:t>
            </a:r>
            <a:endParaRPr lang="en-US" sz="1450" dirty="0"/>
          </a:p>
        </p:txBody>
      </p:sp>
      <p:sp>
        <p:nvSpPr>
          <p:cNvPr id="23" name="Text 21"/>
          <p:cNvSpPr/>
          <p:nvPr/>
        </p:nvSpPr>
        <p:spPr>
          <a:xfrm>
            <a:off x="7355795" y="4636591"/>
            <a:ext cx="4139005"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FFFFFF"/>
                </a:solidFill>
                <a:latin typeface="Heebo" pitchFamily="34" charset="0"/>
                <a:ea typeface="Heebo" pitchFamily="34" charset="-122"/>
                <a:cs typeface="Heebo" pitchFamily="34" charset="-120"/>
              </a:rPr>
              <a:t>Establish precise chronology of attacker actions and defender responses.</a:t>
            </a:r>
            <a:endParaRPr lang="en-US" sz="1150" dirty="0"/>
          </a:p>
        </p:txBody>
      </p:sp>
      <p:sp>
        <p:nvSpPr>
          <p:cNvPr id="24" name="Text 22"/>
          <p:cNvSpPr/>
          <p:nvPr/>
        </p:nvSpPr>
        <p:spPr>
          <a:xfrm>
            <a:off x="7355795" y="5408017"/>
            <a:ext cx="4139005" cy="232470"/>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Crimson Pro SemiBold" pitchFamily="34" charset="0"/>
                <a:ea typeface="Crimson Pro SemiBold" pitchFamily="34" charset="-122"/>
                <a:cs typeface="Crimson Pro SemiBold" pitchFamily="34" charset="-120"/>
              </a:rPr>
              <a:t>Attack Chain Analysis</a:t>
            </a:r>
            <a:endParaRPr lang="en-US" sz="1450" dirty="0"/>
          </a:p>
        </p:txBody>
      </p:sp>
      <p:sp>
        <p:nvSpPr>
          <p:cNvPr id="25" name="Text 23"/>
          <p:cNvSpPr/>
          <p:nvPr/>
        </p:nvSpPr>
        <p:spPr>
          <a:xfrm>
            <a:off x="7355795" y="5774432"/>
            <a:ext cx="4139005"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FFFFFF"/>
                </a:solidFill>
                <a:latin typeface="Heebo" pitchFamily="34" charset="0"/>
                <a:ea typeface="Heebo" pitchFamily="34" charset="-122"/>
                <a:cs typeface="Heebo" pitchFamily="34" charset="-120"/>
              </a:rPr>
              <a:t>Map attacker progression using the MITRE ATT&amp;CK framework or kill-chain model.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496689"/>
            <a:ext cx="1378709" cy="213717"/>
          </a:xfrm>
          <a:prstGeom prst="roundRect">
            <a:avLst>
              <a:gd name="adj" fmla="val 7894"/>
            </a:avLst>
          </a:prstGeom>
          <a:solidFill>
            <a:srgbClr val="CCD7FF"/>
          </a:solidFill>
          <a:ln/>
        </p:spPr>
        <p:txBody>
          <a:bodyPr/>
          <a:lstStyle/>
          <a:p>
            <a:endParaRPr lang="en-US"/>
          </a:p>
        </p:txBody>
      </p:sp>
      <p:sp>
        <p:nvSpPr>
          <p:cNvPr id="3" name="Text 1"/>
          <p:cNvSpPr/>
          <p:nvPr/>
        </p:nvSpPr>
        <p:spPr>
          <a:xfrm>
            <a:off x="745809" y="538857"/>
            <a:ext cx="1819626" cy="129381"/>
          </a:xfrm>
          <a:prstGeom prst="rect">
            <a:avLst/>
          </a:prstGeom>
          <a:noFill/>
          <a:ln/>
        </p:spPr>
        <p:txBody>
          <a:bodyPr wrap="none" lIns="0" tIns="0" rIns="0" bIns="0" rtlCol="0" anchor="t"/>
          <a:lstStyle/>
          <a:p>
            <a:pPr marL="0" indent="0" algn="l">
              <a:lnSpc>
                <a:spcPct val="96000"/>
              </a:lnSpc>
              <a:buNone/>
            </a:pPr>
            <a:r>
              <a:rPr lang="en-US" sz="850" dirty="0">
                <a:solidFill>
                  <a:srgbClr val="4C4C4D"/>
                </a:solidFill>
                <a:latin typeface="Heebo" pitchFamily="34" charset="0"/>
                <a:ea typeface="Heebo" pitchFamily="34" charset="-122"/>
                <a:cs typeface="Heebo" pitchFamily="34" charset="-120"/>
              </a:rPr>
              <a:t>PHASE 4 — CONTINUED</a:t>
            </a:r>
            <a:endParaRPr lang="en-US" sz="850" dirty="0"/>
          </a:p>
        </p:txBody>
      </p:sp>
      <p:sp>
        <p:nvSpPr>
          <p:cNvPr id="4" name="Text 2"/>
          <p:cNvSpPr/>
          <p:nvPr/>
        </p:nvSpPr>
        <p:spPr>
          <a:xfrm>
            <a:off x="661475" y="758130"/>
            <a:ext cx="10868745" cy="439241"/>
          </a:xfrm>
          <a:prstGeom prst="rect">
            <a:avLst/>
          </a:prstGeom>
          <a:noFill/>
          <a:ln/>
        </p:spPr>
        <p:txBody>
          <a:bodyPr wrap="none" lIns="0" tIns="0" rIns="0" bIns="0" rtlCol="0" anchor="t"/>
          <a:lstStyle/>
          <a:p>
            <a:pPr marL="0" indent="0" algn="l">
              <a:lnSpc>
                <a:spcPct val="104000"/>
              </a:lnSpc>
              <a:buNone/>
            </a:pPr>
            <a:r>
              <a:rPr lang="en-US" sz="2750" dirty="0">
                <a:solidFill>
                  <a:srgbClr val="152D47"/>
                </a:solidFill>
                <a:latin typeface="Crimson Pro SemiBold" pitchFamily="34" charset="0"/>
                <a:ea typeface="Crimson Pro SemiBold" pitchFamily="34" charset="-122"/>
                <a:cs typeface="Crimson Pro SemiBold" pitchFamily="34" charset="-120"/>
              </a:rPr>
              <a:t>Post-Incident Documentation and Continuous Improvement</a:t>
            </a:r>
            <a:endParaRPr lang="en-US" sz="2750" dirty="0"/>
          </a:p>
        </p:txBody>
      </p:sp>
      <p:sp>
        <p:nvSpPr>
          <p:cNvPr id="5" name="Text 3"/>
          <p:cNvSpPr/>
          <p:nvPr/>
        </p:nvSpPr>
        <p:spPr>
          <a:xfrm>
            <a:off x="661475" y="1496020"/>
            <a:ext cx="5262927" cy="219571"/>
          </a:xfrm>
          <a:prstGeom prst="rect">
            <a:avLst/>
          </a:prstGeom>
          <a:noFill/>
          <a:ln/>
        </p:spPr>
        <p:txBody>
          <a:bodyPr wrap="none" lIns="0" tIns="0" rIns="0" bIns="0" rtlCol="0" anchor="t"/>
          <a:lstStyle/>
          <a:p>
            <a:pPr marL="0" indent="0" algn="l">
              <a:lnSpc>
                <a:spcPct val="104000"/>
              </a:lnSpc>
              <a:buNone/>
            </a:pPr>
            <a:r>
              <a:rPr lang="en-US" sz="1350" dirty="0">
                <a:solidFill>
                  <a:srgbClr val="152D47"/>
                </a:solidFill>
                <a:latin typeface="Crimson Pro SemiBold" pitchFamily="34" charset="0"/>
                <a:ea typeface="Crimson Pro SemiBold" pitchFamily="34" charset="-122"/>
                <a:cs typeface="Crimson Pro SemiBold" pitchFamily="34" charset="-120"/>
              </a:rPr>
              <a:t>Incident Documentation Requirements</a:t>
            </a:r>
            <a:endParaRPr lang="en-US" sz="1350" dirty="0"/>
          </a:p>
        </p:txBody>
      </p:sp>
      <p:sp>
        <p:nvSpPr>
          <p:cNvPr id="6" name="Text 4"/>
          <p:cNvSpPr/>
          <p:nvPr/>
        </p:nvSpPr>
        <p:spPr>
          <a:xfrm>
            <a:off x="661475" y="1835051"/>
            <a:ext cx="5262927" cy="624185"/>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Comprehensive documentation ensures regulatory compliance, supports potential legal proceedings, and enables institutional knowledge sharing across the security team.</a:t>
            </a:r>
            <a:endParaRPr lang="en-US" sz="11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425" y="2574528"/>
            <a:ext cx="5281976" cy="1584523"/>
          </a:xfrm>
          <a:prstGeom prst="rect">
            <a:avLst/>
          </a:prstGeom>
        </p:spPr>
      </p:pic>
      <p:sp>
        <p:nvSpPr>
          <p:cNvPr id="8" name="Text 5"/>
          <p:cNvSpPr/>
          <p:nvPr/>
        </p:nvSpPr>
        <p:spPr>
          <a:xfrm>
            <a:off x="840064" y="2593578"/>
            <a:ext cx="5084338"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Required Documentation Elements</a:t>
            </a:r>
            <a:endParaRPr lang="en-US" sz="1350" dirty="0"/>
          </a:p>
        </p:txBody>
      </p:sp>
      <p:sp>
        <p:nvSpPr>
          <p:cNvPr id="9" name="Text 6"/>
          <p:cNvSpPr/>
          <p:nvPr/>
        </p:nvSpPr>
        <p:spPr>
          <a:xfrm>
            <a:off x="840064" y="2932609"/>
            <a:ext cx="5084338" cy="1207393"/>
          </a:xfrm>
          <a:prstGeom prst="rect">
            <a:avLst/>
          </a:prstGeom>
          <a:noFill/>
          <a:ln/>
        </p:spPr>
        <p:txBody>
          <a:bodyPr wrap="square" lIns="0" tIns="0" rIns="0" bIns="0" rtlCol="0" anchor="t">
            <a:normAutofit/>
          </a:bodyPr>
          <a:lstStyle/>
          <a:p>
            <a:pPr marL="223520" indent="-223520" algn="l">
              <a:lnSpc>
                <a:spcPct val="123000"/>
              </a:lnSpc>
              <a:buSzPct val="100000"/>
              <a:buChar char="•"/>
            </a:pPr>
            <a:r>
              <a:rPr lang="en-US" sz="1100" dirty="0">
                <a:solidFill>
                  <a:srgbClr val="4C4C4D"/>
                </a:solidFill>
                <a:latin typeface="Heebo" pitchFamily="34" charset="0"/>
                <a:ea typeface="Heebo" pitchFamily="34" charset="-122"/>
                <a:cs typeface="Heebo" pitchFamily="34" charset="-120"/>
              </a:rPr>
              <a:t>Incident timeline and full sequence of events</a:t>
            </a:r>
            <a:endParaRPr lang="en-US" sz="1100" dirty="0"/>
          </a:p>
          <a:p>
            <a:pPr marL="223520" indent="-223520" algn="l">
              <a:lnSpc>
                <a:spcPct val="123000"/>
              </a:lnSpc>
              <a:buSzPct val="100000"/>
              <a:buChar char="•"/>
            </a:pPr>
            <a:r>
              <a:rPr lang="en-US" sz="1100" dirty="0">
                <a:solidFill>
                  <a:srgbClr val="4C4C4D"/>
                </a:solidFill>
                <a:latin typeface="Heebo" pitchFamily="34" charset="0"/>
                <a:ea typeface="Heebo" pitchFamily="34" charset="-122"/>
                <a:cs typeface="Heebo" pitchFamily="34" charset="-120"/>
              </a:rPr>
              <a:t>All actions taken and key decisions made</a:t>
            </a:r>
            <a:endParaRPr lang="en-US" sz="1100" dirty="0"/>
          </a:p>
          <a:p>
            <a:pPr marL="223520" indent="-223520" algn="l">
              <a:lnSpc>
                <a:spcPct val="123000"/>
              </a:lnSpc>
              <a:buSzPct val="100000"/>
              <a:buChar char="•"/>
            </a:pPr>
            <a:r>
              <a:rPr lang="en-US" sz="1100" dirty="0">
                <a:solidFill>
                  <a:srgbClr val="4C4C4D"/>
                </a:solidFill>
                <a:latin typeface="Heebo" pitchFamily="34" charset="0"/>
                <a:ea typeface="Heebo" pitchFamily="34" charset="-122"/>
                <a:cs typeface="Heebo" pitchFamily="34" charset="-120"/>
              </a:rPr>
              <a:t>Evidence collected, preserved, and chain of custody records</a:t>
            </a:r>
            <a:endParaRPr lang="en-US" sz="1100" dirty="0"/>
          </a:p>
          <a:p>
            <a:pPr marL="223520" indent="-223520" algn="l">
              <a:lnSpc>
                <a:spcPct val="123000"/>
              </a:lnSpc>
              <a:buSzPct val="100000"/>
              <a:buChar char="•"/>
            </a:pPr>
            <a:r>
              <a:rPr lang="en-US" sz="1100" dirty="0">
                <a:solidFill>
                  <a:srgbClr val="4C4C4D"/>
                </a:solidFill>
                <a:latin typeface="Heebo" pitchFamily="34" charset="0"/>
                <a:ea typeface="Heebo" pitchFamily="34" charset="-122"/>
                <a:cs typeface="Heebo" pitchFamily="34" charset="-120"/>
              </a:rPr>
              <a:t>Impact assessment — operational, financial, and reputational costs</a:t>
            </a:r>
            <a:endParaRPr lang="en-US" sz="1100" dirty="0"/>
          </a:p>
          <a:p>
            <a:pPr marL="223520" indent="-223520" algn="l">
              <a:lnSpc>
                <a:spcPct val="123000"/>
              </a:lnSpc>
              <a:buSzPct val="100000"/>
              <a:buChar char="•"/>
            </a:pPr>
            <a:r>
              <a:rPr lang="en-US" sz="1100" dirty="0">
                <a:solidFill>
                  <a:srgbClr val="4C4C4D"/>
                </a:solidFill>
                <a:latin typeface="Heebo" pitchFamily="34" charset="0"/>
                <a:ea typeface="Heebo" pitchFamily="34" charset="-122"/>
                <a:cs typeface="Heebo" pitchFamily="34" charset="-120"/>
              </a:rPr>
              <a:t>Stakeholder notifications sent with timestamps</a:t>
            </a:r>
            <a:endParaRPr lang="en-US" sz="1100" dirty="0"/>
          </a:p>
        </p:txBody>
      </p:sp>
      <p:sp>
        <p:nvSpPr>
          <p:cNvPr id="10" name="Text 7"/>
          <p:cNvSpPr/>
          <p:nvPr/>
        </p:nvSpPr>
        <p:spPr>
          <a:xfrm>
            <a:off x="6273643" y="1496020"/>
            <a:ext cx="5262927" cy="219571"/>
          </a:xfrm>
          <a:prstGeom prst="rect">
            <a:avLst/>
          </a:prstGeom>
          <a:noFill/>
          <a:ln/>
        </p:spPr>
        <p:txBody>
          <a:bodyPr wrap="none" lIns="0" tIns="0" rIns="0" bIns="0" rtlCol="0" anchor="t"/>
          <a:lstStyle/>
          <a:p>
            <a:pPr marL="0" indent="0" algn="l">
              <a:lnSpc>
                <a:spcPct val="104000"/>
              </a:lnSpc>
              <a:buNone/>
            </a:pPr>
            <a:r>
              <a:rPr lang="en-US" sz="1350" dirty="0">
                <a:solidFill>
                  <a:srgbClr val="152D47"/>
                </a:solidFill>
                <a:latin typeface="Crimson Pro SemiBold" pitchFamily="34" charset="0"/>
                <a:ea typeface="Crimson Pro SemiBold" pitchFamily="34" charset="-122"/>
                <a:cs typeface="Crimson Pro SemiBold" pitchFamily="34" charset="-120"/>
              </a:rPr>
              <a:t>Improvement Recommendation Focus Areas</a:t>
            </a:r>
            <a:endParaRPr lang="en-US" sz="135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73643" y="1849934"/>
            <a:ext cx="351424" cy="351433"/>
          </a:xfrm>
          <a:prstGeom prst="rect">
            <a:avLst/>
          </a:prstGeom>
        </p:spPr>
      </p:pic>
      <p:sp>
        <p:nvSpPr>
          <p:cNvPr id="12" name="Text 8"/>
          <p:cNvSpPr/>
          <p:nvPr/>
        </p:nvSpPr>
        <p:spPr>
          <a:xfrm>
            <a:off x="6774388" y="1849934"/>
            <a:ext cx="4762182"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Security Controls</a:t>
            </a:r>
            <a:endParaRPr lang="en-US" sz="1350" dirty="0"/>
          </a:p>
        </p:txBody>
      </p:sp>
      <p:sp>
        <p:nvSpPr>
          <p:cNvPr id="13" name="Text 9"/>
          <p:cNvSpPr/>
          <p:nvPr/>
        </p:nvSpPr>
        <p:spPr>
          <a:xfrm>
            <a:off x="6774388" y="2188964"/>
            <a:ext cx="4762182"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Enhancements to technical and administrative controls based on identified gaps.</a:t>
            </a:r>
            <a:endParaRPr lang="en-US" sz="11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73643" y="2844006"/>
            <a:ext cx="351424" cy="351433"/>
          </a:xfrm>
          <a:prstGeom prst="rect">
            <a:avLst/>
          </a:prstGeom>
        </p:spPr>
      </p:pic>
      <p:sp>
        <p:nvSpPr>
          <p:cNvPr id="15" name="Text 10"/>
          <p:cNvSpPr/>
          <p:nvPr/>
        </p:nvSpPr>
        <p:spPr>
          <a:xfrm>
            <a:off x="6774388" y="2844006"/>
            <a:ext cx="4762182"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Policies and Procedures</a:t>
            </a:r>
            <a:endParaRPr lang="en-US" sz="1350" dirty="0"/>
          </a:p>
        </p:txBody>
      </p:sp>
      <p:sp>
        <p:nvSpPr>
          <p:cNvPr id="16" name="Text 11"/>
          <p:cNvSpPr/>
          <p:nvPr/>
        </p:nvSpPr>
        <p:spPr>
          <a:xfrm>
            <a:off x="6774388" y="3183037"/>
            <a:ext cx="4762182" cy="208062"/>
          </a:xfrm>
          <a:prstGeom prst="rect">
            <a:avLst/>
          </a:prstGeom>
          <a:noFill/>
          <a:ln/>
        </p:spPr>
        <p:txBody>
          <a:bodyPr wrap="none" lIns="0" tIns="0" rIns="0" bIns="0" rtlCol="0" anchor="t"/>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Update IR plan, playbooks, and runbooks to reflect lessons learned.</a:t>
            </a:r>
            <a:endParaRPr lang="en-US" sz="110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73643" y="3630017"/>
            <a:ext cx="351424" cy="351433"/>
          </a:xfrm>
          <a:prstGeom prst="rect">
            <a:avLst/>
          </a:prstGeom>
        </p:spPr>
      </p:pic>
      <p:sp>
        <p:nvSpPr>
          <p:cNvPr id="18" name="Text 12"/>
          <p:cNvSpPr/>
          <p:nvPr/>
        </p:nvSpPr>
        <p:spPr>
          <a:xfrm>
            <a:off x="6774388" y="3630017"/>
            <a:ext cx="4762182"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Training and Awareness</a:t>
            </a:r>
            <a:endParaRPr lang="en-US" sz="1350" dirty="0"/>
          </a:p>
        </p:txBody>
      </p:sp>
      <p:sp>
        <p:nvSpPr>
          <p:cNvPr id="19" name="Text 13"/>
          <p:cNvSpPr/>
          <p:nvPr/>
        </p:nvSpPr>
        <p:spPr>
          <a:xfrm>
            <a:off x="6774388" y="3969048"/>
            <a:ext cx="4762182"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Address identified skill and knowledge gaps through targeted training programs.</a:t>
            </a:r>
            <a:endParaRPr lang="en-US" sz="110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73643" y="4624090"/>
            <a:ext cx="351424" cy="351433"/>
          </a:xfrm>
          <a:prstGeom prst="rect">
            <a:avLst/>
          </a:prstGeom>
        </p:spPr>
      </p:pic>
      <p:sp>
        <p:nvSpPr>
          <p:cNvPr id="21" name="Text 14"/>
          <p:cNvSpPr/>
          <p:nvPr/>
        </p:nvSpPr>
        <p:spPr>
          <a:xfrm>
            <a:off x="6774388" y="4624090"/>
            <a:ext cx="4762182" cy="219571"/>
          </a:xfrm>
          <a:prstGeom prst="rect">
            <a:avLst/>
          </a:prstGeom>
          <a:noFill/>
          <a:ln/>
        </p:spPr>
        <p:txBody>
          <a:bodyPr wrap="none" lIns="0" tIns="0" rIns="0" bIns="0" rtlCol="0" anchor="t"/>
          <a:lstStyle/>
          <a:p>
            <a:pPr marL="0" indent="0" algn="l">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Tools and Technology</a:t>
            </a:r>
            <a:endParaRPr lang="en-US" sz="1350" dirty="0"/>
          </a:p>
        </p:txBody>
      </p:sp>
      <p:sp>
        <p:nvSpPr>
          <p:cNvPr id="22" name="Text 15"/>
          <p:cNvSpPr/>
          <p:nvPr/>
        </p:nvSpPr>
        <p:spPr>
          <a:xfrm>
            <a:off x="6774388" y="4963120"/>
            <a:ext cx="4762182"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C4C4D"/>
                </a:solidFill>
                <a:latin typeface="Heebo" pitchFamily="34" charset="0"/>
                <a:ea typeface="Heebo" pitchFamily="34" charset="-122"/>
                <a:cs typeface="Heebo" pitchFamily="34" charset="-120"/>
              </a:rPr>
              <a:t>Procure or optimize security tools to close detection and response capability gaps.</a:t>
            </a:r>
            <a:endParaRPr lang="en-US" sz="1100" dirty="0"/>
          </a:p>
        </p:txBody>
      </p:sp>
      <p:sp>
        <p:nvSpPr>
          <p:cNvPr id="23" name="Shape 16"/>
          <p:cNvSpPr/>
          <p:nvPr/>
        </p:nvSpPr>
        <p:spPr>
          <a:xfrm>
            <a:off x="661475" y="5647928"/>
            <a:ext cx="10868745" cy="713284"/>
          </a:xfrm>
          <a:prstGeom prst="roundRect">
            <a:avLst>
              <a:gd name="adj" fmla="val 2956"/>
            </a:avLst>
          </a:prstGeom>
          <a:solidFill>
            <a:srgbClr val="CCD7FF"/>
          </a:solidFill>
          <a:ln/>
        </p:spPr>
        <p:txBody>
          <a:bodyPr/>
          <a:lstStyle/>
          <a:p>
            <a:endParaRPr lang="en-US"/>
          </a:p>
        </p:txBody>
      </p:sp>
      <p:pic>
        <p:nvPicPr>
          <p:cNvPr id="24" name="Image 5" descr="preencoded.png"/>
          <p:cNvPicPr>
            <a:picLocks noChangeAspect="1"/>
          </p:cNvPicPr>
          <p:nvPr/>
        </p:nvPicPr>
        <p:blipFill>
          <a:blip r:embed="rId8"/>
          <a:stretch>
            <a:fillRect/>
          </a:stretch>
        </p:blipFill>
        <p:spPr>
          <a:xfrm>
            <a:off x="801965" y="5819279"/>
            <a:ext cx="175712" cy="140494"/>
          </a:xfrm>
          <a:prstGeom prst="rect">
            <a:avLst/>
          </a:prstGeom>
        </p:spPr>
      </p:pic>
      <p:sp>
        <p:nvSpPr>
          <p:cNvPr id="25" name="Text 17"/>
          <p:cNvSpPr/>
          <p:nvPr/>
        </p:nvSpPr>
        <p:spPr>
          <a:xfrm>
            <a:off x="1118167" y="5802511"/>
            <a:ext cx="10271563"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000000"/>
                </a:solidFill>
                <a:latin typeface="Heebo" pitchFamily="34" charset="0"/>
                <a:ea typeface="Heebo" pitchFamily="34" charset="-122"/>
                <a:cs typeface="Heebo" pitchFamily="34" charset="-120"/>
              </a:rPr>
              <a:t>Post-incident activities are not the end — they are the beginning of the next preparation phase. Knowledge from each incident feeds back into preparation, creating a continuous improvement cycle that strengthens organizational resilience.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469503"/>
            <a:ext cx="1605716" cy="251420"/>
          </a:xfrm>
          <a:prstGeom prst="roundRect">
            <a:avLst>
              <a:gd name="adj" fmla="val 7894"/>
            </a:avLst>
          </a:prstGeom>
          <a:noFill/>
          <a:ln w="6350">
            <a:solidFill>
              <a:srgbClr val="2150FE"/>
            </a:solidFill>
            <a:prstDash val="solid"/>
          </a:ln>
        </p:spPr>
        <p:txBody>
          <a:bodyPr/>
          <a:lstStyle/>
          <a:p>
            <a:endParaRPr lang="en-US"/>
          </a:p>
        </p:txBody>
      </p:sp>
      <p:sp>
        <p:nvSpPr>
          <p:cNvPr id="3" name="Text 1"/>
          <p:cNvSpPr/>
          <p:nvPr/>
        </p:nvSpPr>
        <p:spPr>
          <a:xfrm>
            <a:off x="760691" y="519113"/>
            <a:ext cx="2016868" cy="152202"/>
          </a:xfrm>
          <a:prstGeom prst="rect">
            <a:avLst/>
          </a:prstGeom>
          <a:noFill/>
          <a:ln/>
        </p:spPr>
        <p:txBody>
          <a:bodyPr wrap="none" lIns="0" tIns="0" rIns="0" bIns="0" rtlCol="0" anchor="t"/>
          <a:lstStyle/>
          <a:p>
            <a:pPr marL="0" indent="0" algn="l">
              <a:lnSpc>
                <a:spcPct val="96000"/>
              </a:lnSpc>
              <a:buNone/>
            </a:pPr>
            <a:r>
              <a:rPr lang="en-US" sz="1000" dirty="0">
                <a:solidFill>
                  <a:srgbClr val="2150FE"/>
                </a:solidFill>
                <a:latin typeface="Heebo" pitchFamily="34" charset="0"/>
                <a:ea typeface="Heebo" pitchFamily="34" charset="-122"/>
                <a:cs typeface="Heebo" pitchFamily="34" charset="-120"/>
              </a:rPr>
              <a:t>IR PLAN COMPONENTS</a:t>
            </a:r>
            <a:endParaRPr lang="en-US" sz="1000" dirty="0"/>
          </a:p>
        </p:txBody>
      </p:sp>
      <p:sp>
        <p:nvSpPr>
          <p:cNvPr id="4" name="Text 2"/>
          <p:cNvSpPr/>
          <p:nvPr/>
        </p:nvSpPr>
        <p:spPr>
          <a:xfrm>
            <a:off x="661475" y="787003"/>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2D47"/>
                </a:solidFill>
                <a:latin typeface="Crimson Pro SemiBold" pitchFamily="34" charset="0"/>
                <a:ea typeface="Crimson Pro SemiBold" pitchFamily="34" charset="-122"/>
                <a:cs typeface="Crimson Pro SemiBold" pitchFamily="34" charset="-120"/>
              </a:rPr>
              <a:t>Incident Response Plan: Core Components</a:t>
            </a:r>
            <a:endParaRPr lang="en-US" sz="3250" dirty="0"/>
          </a:p>
        </p:txBody>
      </p:sp>
      <p:sp>
        <p:nvSpPr>
          <p:cNvPr id="5" name="Shape 3"/>
          <p:cNvSpPr/>
          <p:nvPr/>
        </p:nvSpPr>
        <p:spPr>
          <a:xfrm>
            <a:off x="661475" y="1551781"/>
            <a:ext cx="10868745" cy="1217513"/>
          </a:xfrm>
          <a:prstGeom prst="roundRect">
            <a:avLst>
              <a:gd name="adj" fmla="val 2038"/>
            </a:avLst>
          </a:prstGeom>
          <a:solidFill>
            <a:srgbClr val="F2EEEE"/>
          </a:solidFill>
          <a:ln/>
        </p:spPr>
        <p:txBody>
          <a:bodyPr/>
          <a:lstStyle/>
          <a:p>
            <a:endParaRPr lang="en-US"/>
          </a:p>
        </p:txBody>
      </p:sp>
      <p:sp>
        <p:nvSpPr>
          <p:cNvPr id="6" name="Text 4"/>
          <p:cNvSpPr/>
          <p:nvPr/>
        </p:nvSpPr>
        <p:spPr>
          <a:xfrm>
            <a:off x="826769" y="1717080"/>
            <a:ext cx="1053815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Mission, Objectives &amp; Structure</a:t>
            </a:r>
            <a:endParaRPr lang="en-US" sz="1600" dirty="0"/>
          </a:p>
        </p:txBody>
      </p:sp>
      <p:sp>
        <p:nvSpPr>
          <p:cNvPr id="7" name="Text 5"/>
          <p:cNvSpPr/>
          <p:nvPr/>
        </p:nvSpPr>
        <p:spPr>
          <a:xfrm>
            <a:off x="826769" y="2074763"/>
            <a:ext cx="1053815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Define the IR program's purpose, goals, and alignment with organizational risk management strategy. Includes CSIRT composition, reporting hierarchy, authority levels, and integration with IT and business units.</a:t>
            </a:r>
            <a:endParaRPr lang="en-US" sz="1300" dirty="0"/>
          </a:p>
        </p:txBody>
      </p:sp>
      <p:sp>
        <p:nvSpPr>
          <p:cNvPr id="8" name="Shape 6"/>
          <p:cNvSpPr/>
          <p:nvPr/>
        </p:nvSpPr>
        <p:spPr>
          <a:xfrm>
            <a:off x="661475" y="2934593"/>
            <a:ext cx="10868745" cy="1217513"/>
          </a:xfrm>
          <a:prstGeom prst="roundRect">
            <a:avLst>
              <a:gd name="adj" fmla="val 2038"/>
            </a:avLst>
          </a:prstGeom>
          <a:solidFill>
            <a:srgbClr val="F2EEEE"/>
          </a:solidFill>
          <a:ln/>
        </p:spPr>
        <p:txBody>
          <a:bodyPr/>
          <a:lstStyle/>
          <a:p>
            <a:endParaRPr lang="en-US"/>
          </a:p>
        </p:txBody>
      </p:sp>
      <p:sp>
        <p:nvSpPr>
          <p:cNvPr id="9" name="Text 7"/>
          <p:cNvSpPr/>
          <p:nvPr/>
        </p:nvSpPr>
        <p:spPr>
          <a:xfrm>
            <a:off x="826769" y="3099891"/>
            <a:ext cx="1053815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Roles, Responsibilities &amp; Escalation</a:t>
            </a:r>
            <a:endParaRPr lang="en-US" sz="1600" dirty="0"/>
          </a:p>
        </p:txBody>
      </p:sp>
      <p:sp>
        <p:nvSpPr>
          <p:cNvPr id="10" name="Text 8"/>
          <p:cNvSpPr/>
          <p:nvPr/>
        </p:nvSpPr>
        <p:spPr>
          <a:xfrm>
            <a:off x="826769" y="3457575"/>
            <a:ext cx="1053815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Clear definition of team member duties, decision-making authority, and the RACI matrix. Covers escalation criteria, chain of command, executive notification thresholds, and decision frameworks for high-severity events.</a:t>
            </a:r>
            <a:endParaRPr lang="en-US" sz="1300" dirty="0"/>
          </a:p>
        </p:txBody>
      </p:sp>
      <p:sp>
        <p:nvSpPr>
          <p:cNvPr id="11" name="Shape 9"/>
          <p:cNvSpPr/>
          <p:nvPr/>
        </p:nvSpPr>
        <p:spPr>
          <a:xfrm>
            <a:off x="661475" y="4317405"/>
            <a:ext cx="10868745" cy="952897"/>
          </a:xfrm>
          <a:prstGeom prst="roundRect">
            <a:avLst>
              <a:gd name="adj" fmla="val 2603"/>
            </a:avLst>
          </a:prstGeom>
          <a:solidFill>
            <a:srgbClr val="F2EEEE"/>
          </a:solidFill>
          <a:ln/>
        </p:spPr>
        <p:txBody>
          <a:bodyPr/>
          <a:lstStyle/>
          <a:p>
            <a:endParaRPr lang="en-US"/>
          </a:p>
        </p:txBody>
      </p:sp>
      <p:sp>
        <p:nvSpPr>
          <p:cNvPr id="12" name="Text 10"/>
          <p:cNvSpPr/>
          <p:nvPr/>
        </p:nvSpPr>
        <p:spPr>
          <a:xfrm>
            <a:off x="826769" y="4482703"/>
            <a:ext cx="1053815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Communication Protocols</a:t>
            </a:r>
            <a:endParaRPr lang="en-US" sz="1600" dirty="0"/>
          </a:p>
        </p:txBody>
      </p:sp>
      <p:sp>
        <p:nvSpPr>
          <p:cNvPr id="13" name="Text 11"/>
          <p:cNvSpPr/>
          <p:nvPr/>
        </p:nvSpPr>
        <p:spPr>
          <a:xfrm>
            <a:off x="826769" y="4840387"/>
            <a:ext cx="10538157" cy="264616"/>
          </a:xfrm>
          <a:prstGeom prst="rect">
            <a:avLst/>
          </a:prstGeom>
          <a:noFill/>
          <a:ln/>
        </p:spPr>
        <p:txBody>
          <a:bodyPr wrap="none" lIns="0" tIns="0" rIns="0" bIns="0" rtlCol="0" anchor="t"/>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Internal notification procedures, external stakeholder communication plans, and secure channels for sensitive data exchange.</a:t>
            </a:r>
            <a:endParaRPr lang="en-US" sz="1300" dirty="0"/>
          </a:p>
        </p:txBody>
      </p:sp>
      <p:sp>
        <p:nvSpPr>
          <p:cNvPr id="14" name="Shape 12"/>
          <p:cNvSpPr/>
          <p:nvPr/>
        </p:nvSpPr>
        <p:spPr>
          <a:xfrm>
            <a:off x="661475" y="5435600"/>
            <a:ext cx="10868745" cy="952897"/>
          </a:xfrm>
          <a:prstGeom prst="roundRect">
            <a:avLst>
              <a:gd name="adj" fmla="val 2603"/>
            </a:avLst>
          </a:prstGeom>
          <a:solidFill>
            <a:srgbClr val="F2EEEE"/>
          </a:solidFill>
          <a:ln/>
        </p:spPr>
        <p:txBody>
          <a:bodyPr/>
          <a:lstStyle/>
          <a:p>
            <a:endParaRPr lang="en-US"/>
          </a:p>
        </p:txBody>
      </p:sp>
      <p:sp>
        <p:nvSpPr>
          <p:cNvPr id="15" name="Text 13"/>
          <p:cNvSpPr/>
          <p:nvPr/>
        </p:nvSpPr>
        <p:spPr>
          <a:xfrm>
            <a:off x="826769" y="5600898"/>
            <a:ext cx="1053815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Resource Requirements</a:t>
            </a:r>
            <a:endParaRPr lang="en-US" sz="1600" dirty="0"/>
          </a:p>
        </p:txBody>
      </p:sp>
      <p:sp>
        <p:nvSpPr>
          <p:cNvPr id="16" name="Text 14"/>
          <p:cNvSpPr/>
          <p:nvPr/>
        </p:nvSpPr>
        <p:spPr>
          <a:xfrm>
            <a:off x="826769" y="5958582"/>
            <a:ext cx="10538157" cy="264616"/>
          </a:xfrm>
          <a:prstGeom prst="rect">
            <a:avLst/>
          </a:prstGeom>
          <a:noFill/>
          <a:ln/>
        </p:spPr>
        <p:txBody>
          <a:bodyPr wrap="none" lIns="0" tIns="0" rIns="0" bIns="0" rtlCol="0" anchor="t"/>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Tools, technologies, personnel, budget allocation, training programs, and external service provider contracts.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694829"/>
            <a:ext cx="1097233" cy="188516"/>
          </a:xfrm>
          <a:prstGeom prst="roundRect">
            <a:avLst>
              <a:gd name="adj" fmla="val 7896"/>
            </a:avLst>
          </a:prstGeom>
          <a:solidFill>
            <a:srgbClr val="CCD7FF"/>
          </a:solidFill>
          <a:ln/>
        </p:spPr>
        <p:txBody>
          <a:bodyPr/>
          <a:lstStyle/>
          <a:p>
            <a:endParaRPr lang="en-US"/>
          </a:p>
        </p:txBody>
      </p:sp>
      <p:sp>
        <p:nvSpPr>
          <p:cNvPr id="3" name="Text 1"/>
          <p:cNvSpPr/>
          <p:nvPr/>
        </p:nvSpPr>
        <p:spPr>
          <a:xfrm>
            <a:off x="735887" y="732036"/>
            <a:ext cx="1557993" cy="114102"/>
          </a:xfrm>
          <a:prstGeom prst="rect">
            <a:avLst/>
          </a:prstGeom>
          <a:noFill/>
          <a:ln/>
        </p:spPr>
        <p:txBody>
          <a:bodyPr wrap="none" lIns="0" tIns="0" rIns="0" bIns="0" rtlCol="0" anchor="t"/>
          <a:lstStyle/>
          <a:p>
            <a:pPr marL="0" indent="0" algn="l">
              <a:lnSpc>
                <a:spcPct val="96000"/>
              </a:lnSpc>
              <a:buNone/>
            </a:pPr>
            <a:r>
              <a:rPr lang="en-US" sz="750" dirty="0">
                <a:solidFill>
                  <a:srgbClr val="4C4C4D"/>
                </a:solidFill>
                <a:latin typeface="Heebo" pitchFamily="34" charset="0"/>
                <a:ea typeface="Heebo" pitchFamily="34" charset="-122"/>
                <a:cs typeface="Heebo" pitchFamily="34" charset="-120"/>
              </a:rPr>
              <a:t>IR TEAM STRUCTURE</a:t>
            </a:r>
            <a:endParaRPr lang="en-US" sz="750" dirty="0"/>
          </a:p>
        </p:txBody>
      </p:sp>
      <p:sp>
        <p:nvSpPr>
          <p:cNvPr id="4" name="Text 2"/>
          <p:cNvSpPr/>
          <p:nvPr/>
        </p:nvSpPr>
        <p:spPr>
          <a:xfrm>
            <a:off x="661475" y="920552"/>
            <a:ext cx="10868745" cy="387648"/>
          </a:xfrm>
          <a:prstGeom prst="rect">
            <a:avLst/>
          </a:prstGeom>
          <a:noFill/>
          <a:ln/>
        </p:spPr>
        <p:txBody>
          <a:bodyPr wrap="none" lIns="0" tIns="0" rIns="0" bIns="0" rtlCol="0" anchor="t"/>
          <a:lstStyle/>
          <a:p>
            <a:pPr marL="0" indent="0" algn="l">
              <a:lnSpc>
                <a:spcPct val="104000"/>
              </a:lnSpc>
              <a:buNone/>
            </a:pPr>
            <a:r>
              <a:rPr lang="en-US" sz="2400" dirty="0">
                <a:solidFill>
                  <a:srgbClr val="152D47"/>
                </a:solidFill>
                <a:latin typeface="Crimson Pro SemiBold" pitchFamily="34" charset="0"/>
                <a:ea typeface="Crimson Pro SemiBold" pitchFamily="34" charset="-122"/>
                <a:cs typeface="Crimson Pro SemiBold" pitchFamily="34" charset="-120"/>
              </a:rPr>
              <a:t>Incident Response Team Roles and RACI Matrix</a:t>
            </a:r>
            <a:endParaRPr lang="en-US" sz="24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552277"/>
            <a:ext cx="2595001" cy="1428353"/>
          </a:xfrm>
          <a:prstGeom prst="rect">
            <a:avLst/>
          </a:prstGeom>
        </p:spPr>
      </p:pic>
      <p:sp>
        <p:nvSpPr>
          <p:cNvPr id="6" name="Text 3"/>
          <p:cNvSpPr/>
          <p:nvPr/>
        </p:nvSpPr>
        <p:spPr>
          <a:xfrm>
            <a:off x="848994" y="1689001"/>
            <a:ext cx="2270763"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Incident Manager</a:t>
            </a:r>
            <a:endParaRPr lang="en-US" sz="1200" dirty="0"/>
          </a:p>
        </p:txBody>
      </p:sp>
      <p:sp>
        <p:nvSpPr>
          <p:cNvPr id="7" name="Text 4"/>
          <p:cNvSpPr/>
          <p:nvPr/>
        </p:nvSpPr>
        <p:spPr>
          <a:xfrm>
            <a:off x="848994" y="1975743"/>
            <a:ext cx="2270763" cy="868164"/>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Leads IR operations, coordinates team activities, makes critical decisions, communicates with executives, and manages resources and priorities throughout the incident lifecycle.</a:t>
            </a:r>
            <a:endParaRPr lang="en-US" sz="9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9442" y="1552277"/>
            <a:ext cx="2595101" cy="1428353"/>
          </a:xfrm>
          <a:prstGeom prst="rect">
            <a:avLst/>
          </a:prstGeom>
        </p:spPr>
      </p:pic>
      <p:sp>
        <p:nvSpPr>
          <p:cNvPr id="9" name="Text 5"/>
          <p:cNvSpPr/>
          <p:nvPr/>
        </p:nvSpPr>
        <p:spPr>
          <a:xfrm>
            <a:off x="3536961" y="1689001"/>
            <a:ext cx="2270862"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Security Analysts</a:t>
            </a:r>
            <a:endParaRPr lang="en-US" sz="1200" dirty="0"/>
          </a:p>
        </p:txBody>
      </p:sp>
      <p:sp>
        <p:nvSpPr>
          <p:cNvPr id="10" name="Text 6"/>
          <p:cNvSpPr/>
          <p:nvPr/>
        </p:nvSpPr>
        <p:spPr>
          <a:xfrm>
            <a:off x="3536961" y="1975743"/>
            <a:ext cx="2270862" cy="694531"/>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Monitor security alerts, perform initial triage, conduct threat analysis, investigate incidents, document findings, and implement containment measures.</a:t>
            </a:r>
            <a:endParaRPr lang="en-US" sz="9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073598"/>
            <a:ext cx="2595001" cy="1428353"/>
          </a:xfrm>
          <a:prstGeom prst="rect">
            <a:avLst/>
          </a:prstGeom>
        </p:spPr>
      </p:pic>
      <p:sp>
        <p:nvSpPr>
          <p:cNvPr id="12" name="Text 7"/>
          <p:cNvSpPr/>
          <p:nvPr/>
        </p:nvSpPr>
        <p:spPr>
          <a:xfrm>
            <a:off x="848994" y="3210322"/>
            <a:ext cx="2270763"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Forensics Specialists</a:t>
            </a:r>
            <a:endParaRPr lang="en-US" sz="1200" dirty="0"/>
          </a:p>
        </p:txBody>
      </p:sp>
      <p:sp>
        <p:nvSpPr>
          <p:cNvPr id="13" name="Text 8"/>
          <p:cNvSpPr/>
          <p:nvPr/>
        </p:nvSpPr>
        <p:spPr>
          <a:xfrm>
            <a:off x="848994" y="3497064"/>
            <a:ext cx="2270763" cy="868164"/>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Collect and preserve digital evidence, perform deep technical analysis, conduct malware reverse engineering, support legal proceedings, and maintain strict chain of custody.</a:t>
            </a:r>
            <a:endParaRPr lang="en-US" sz="9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9442" y="3073598"/>
            <a:ext cx="2595101" cy="1428353"/>
          </a:xfrm>
          <a:prstGeom prst="rect">
            <a:avLst/>
          </a:prstGeom>
        </p:spPr>
      </p:pic>
      <p:sp>
        <p:nvSpPr>
          <p:cNvPr id="15" name="Text 9"/>
          <p:cNvSpPr/>
          <p:nvPr/>
        </p:nvSpPr>
        <p:spPr>
          <a:xfrm>
            <a:off x="3536961" y="3210322"/>
            <a:ext cx="2270862"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Communications Lead</a:t>
            </a:r>
            <a:endParaRPr lang="en-US" sz="1200" dirty="0"/>
          </a:p>
        </p:txBody>
      </p:sp>
      <p:sp>
        <p:nvSpPr>
          <p:cNvPr id="16" name="Text 10"/>
          <p:cNvSpPr/>
          <p:nvPr/>
        </p:nvSpPr>
        <p:spPr>
          <a:xfrm>
            <a:off x="3536961" y="3497064"/>
            <a:ext cx="2270862" cy="868164"/>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Manages internal and external communications, coordinates with legal and PR teams, prepares stakeholder notifications, and handles media inquiries with consistent messaging.</a:t>
            </a:r>
            <a:endParaRPr lang="en-US" sz="950" dirty="0"/>
          </a:p>
        </p:txBody>
      </p:sp>
      <p:sp>
        <p:nvSpPr>
          <p:cNvPr id="17" name="Text 11"/>
          <p:cNvSpPr/>
          <p:nvPr/>
        </p:nvSpPr>
        <p:spPr>
          <a:xfrm>
            <a:off x="6253502" y="1540669"/>
            <a:ext cx="5283068" cy="193774"/>
          </a:xfrm>
          <a:prstGeom prst="rect">
            <a:avLst/>
          </a:prstGeom>
          <a:noFill/>
          <a:ln/>
        </p:spPr>
        <p:txBody>
          <a:bodyPr wrap="none" lIns="0" tIns="0" rIns="0" bIns="0" rtlCol="0" anchor="t"/>
          <a:lstStyle/>
          <a:p>
            <a:pPr marL="0" indent="0" algn="l">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RACI Matrix</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914074445"/>
              </p:ext>
            </p:extLst>
          </p:nvPr>
        </p:nvGraphicFramePr>
        <p:xfrm>
          <a:off x="6253502" y="1839020"/>
          <a:ext cx="5389858" cy="1818832"/>
        </p:xfrm>
        <a:graphic>
          <a:graphicData uri="http://schemas.openxmlformats.org/drawingml/2006/table">
            <a:tbl>
              <a:tblPr/>
              <a:tblGrid>
                <a:gridCol w="1320767">
                  <a:extLst>
                    <a:ext uri="{9D8B030D-6E8A-4147-A177-3AD203B41FA5}">
                      <a16:colId xmlns:a16="http://schemas.microsoft.com/office/drawing/2014/main" val="20000"/>
                    </a:ext>
                  </a:extLst>
                </a:gridCol>
                <a:gridCol w="1320767">
                  <a:extLst>
                    <a:ext uri="{9D8B030D-6E8A-4147-A177-3AD203B41FA5}">
                      <a16:colId xmlns:a16="http://schemas.microsoft.com/office/drawing/2014/main" val="20001"/>
                    </a:ext>
                  </a:extLst>
                </a:gridCol>
                <a:gridCol w="1320767">
                  <a:extLst>
                    <a:ext uri="{9D8B030D-6E8A-4147-A177-3AD203B41FA5}">
                      <a16:colId xmlns:a16="http://schemas.microsoft.com/office/drawing/2014/main" val="20002"/>
                    </a:ext>
                  </a:extLst>
                </a:gridCol>
                <a:gridCol w="1427557">
                  <a:extLst>
                    <a:ext uri="{9D8B030D-6E8A-4147-A177-3AD203B41FA5}">
                      <a16:colId xmlns:a16="http://schemas.microsoft.com/office/drawing/2014/main" val="20003"/>
                    </a:ext>
                  </a:extLst>
                </a:gridCol>
              </a:tblGrid>
              <a:tr h="301022">
                <a:tc>
                  <a:txBody>
                    <a:bodyPr/>
                    <a:lstStyle/>
                    <a:p>
                      <a:pPr marL="0" indent="0" algn="l">
                        <a:buNone/>
                      </a:pPr>
                      <a:r>
                        <a:rPr lang="en-US" sz="950" b="1" dirty="0">
                          <a:solidFill>
                            <a:srgbClr val="4C4C4D"/>
                          </a:solidFill>
                          <a:latin typeface="Heebo" pitchFamily="34" charset="0"/>
                          <a:ea typeface="Heebo" pitchFamily="34" charset="-122"/>
                          <a:cs typeface="Heebo" pitchFamily="34" charset="-120"/>
                        </a:rPr>
                        <a:t>Activity</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b="1" dirty="0">
                          <a:solidFill>
                            <a:srgbClr val="4C4C4D"/>
                          </a:solidFill>
                          <a:latin typeface="Heebo" pitchFamily="34" charset="0"/>
                          <a:ea typeface="Heebo" pitchFamily="34" charset="-122"/>
                          <a:cs typeface="Heebo" pitchFamily="34" charset="-120"/>
                        </a:rPr>
                        <a:t>Manager</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b="1" dirty="0">
                          <a:solidFill>
                            <a:srgbClr val="4C4C4D"/>
                          </a:solidFill>
                          <a:latin typeface="Heebo" pitchFamily="34" charset="0"/>
                          <a:ea typeface="Heebo" pitchFamily="34" charset="-122"/>
                          <a:cs typeface="Heebo" pitchFamily="34" charset="-120"/>
                        </a:rPr>
                        <a:t>Analyst</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b="1" dirty="0">
                          <a:solidFill>
                            <a:srgbClr val="4C4C4D"/>
                          </a:solidFill>
                          <a:latin typeface="Heebo" pitchFamily="34" charset="0"/>
                          <a:ea typeface="Heebo" pitchFamily="34" charset="-122"/>
                          <a:cs typeface="Heebo" pitchFamily="34" charset="-120"/>
                        </a:rPr>
                        <a:t>Forensics</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0"/>
                  </a:ext>
                </a:extLst>
              </a:tr>
              <a:tr h="304197">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Detection</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A</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R</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I</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1"/>
                  </a:ext>
                </a:extLst>
              </a:tr>
              <a:tr h="304197">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Analysis</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A</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R</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C</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2"/>
                  </a:ext>
                </a:extLst>
              </a:tr>
              <a:tr h="304197">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Containment</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R/A</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R</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C</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3"/>
                  </a:ext>
                </a:extLst>
              </a:tr>
              <a:tr h="304197">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Evidence</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A</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C</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R</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4"/>
                  </a:ext>
                </a:extLst>
              </a:tr>
              <a:tr h="301022">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Communication</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R/A</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I</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950" dirty="0">
                          <a:solidFill>
                            <a:srgbClr val="4C4C4D"/>
                          </a:solidFill>
                          <a:latin typeface="Heebo" pitchFamily="34" charset="0"/>
                          <a:ea typeface="Heebo" pitchFamily="34" charset="-122"/>
                          <a:cs typeface="Heebo" pitchFamily="34" charset="-120"/>
                        </a:rPr>
                        <a:t>I</a:t>
                      </a:r>
                      <a:endParaRPr lang="en-US" sz="950" dirty="0">
                        <a:latin typeface="Heebo" charset="0"/>
                        <a:ea typeface="Heebo" charset="0"/>
                        <a:cs typeface="Heebo" charset="0"/>
                      </a:endParaRPr>
                    </a:p>
                  </a:txBody>
                  <a:tcPr marL="124044" marR="124044"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9" name="Text 12"/>
          <p:cNvSpPr/>
          <p:nvPr/>
        </p:nvSpPr>
        <p:spPr>
          <a:xfrm>
            <a:off x="6253502" y="3775174"/>
            <a:ext cx="5892653" cy="138906"/>
          </a:xfrm>
          <a:prstGeom prst="rect">
            <a:avLst/>
          </a:prstGeom>
          <a:noFill/>
          <a:ln/>
        </p:spPr>
        <p:txBody>
          <a:bodyPr wrap="none" lIns="0" tIns="0" rIns="0" bIns="0" rtlCol="0" anchor="t"/>
          <a:lstStyle/>
          <a:p>
            <a:pPr marL="0" indent="0" algn="l">
              <a:lnSpc>
                <a:spcPct val="117000"/>
              </a:lnSpc>
              <a:buNone/>
            </a:pPr>
            <a:r>
              <a:rPr lang="en-US" sz="750" b="1" dirty="0">
                <a:solidFill>
                  <a:srgbClr val="4C4C4D"/>
                </a:solidFill>
                <a:latin typeface="Heebo Bold" pitchFamily="34" charset="0"/>
                <a:ea typeface="Heebo Bold" pitchFamily="34" charset="-122"/>
                <a:cs typeface="Heebo Bold" pitchFamily="34" charset="-120"/>
              </a:rPr>
              <a:t>R</a:t>
            </a:r>
            <a:r>
              <a:rPr lang="en-US" sz="750" dirty="0">
                <a:solidFill>
                  <a:srgbClr val="4C4C4D"/>
                </a:solidFill>
                <a:latin typeface="Heebo" pitchFamily="34" charset="0"/>
                <a:ea typeface="Heebo" pitchFamily="34" charset="-122"/>
                <a:cs typeface="Heebo" pitchFamily="34" charset="-120"/>
              </a:rPr>
              <a:t> = Responsible | </a:t>
            </a:r>
            <a:r>
              <a:rPr lang="en-US" sz="750" b="1" dirty="0">
                <a:solidFill>
                  <a:srgbClr val="4C4C4D"/>
                </a:solidFill>
                <a:latin typeface="Heebo Bold" pitchFamily="34" charset="0"/>
                <a:ea typeface="Heebo Bold" pitchFamily="34" charset="-122"/>
                <a:cs typeface="Heebo Bold" pitchFamily="34" charset="-120"/>
              </a:rPr>
              <a:t>A</a:t>
            </a:r>
            <a:r>
              <a:rPr lang="en-US" sz="750" dirty="0">
                <a:solidFill>
                  <a:srgbClr val="4C4C4D"/>
                </a:solidFill>
                <a:latin typeface="Heebo" pitchFamily="34" charset="0"/>
                <a:ea typeface="Heebo" pitchFamily="34" charset="-122"/>
                <a:cs typeface="Heebo" pitchFamily="34" charset="-120"/>
              </a:rPr>
              <a:t> = Accountable | </a:t>
            </a:r>
            <a:r>
              <a:rPr lang="en-US" sz="750" b="1" dirty="0">
                <a:solidFill>
                  <a:srgbClr val="4C4C4D"/>
                </a:solidFill>
                <a:latin typeface="Heebo Bold" pitchFamily="34" charset="0"/>
                <a:ea typeface="Heebo Bold" pitchFamily="34" charset="-122"/>
                <a:cs typeface="Heebo Bold" pitchFamily="34" charset="-120"/>
              </a:rPr>
              <a:t>C</a:t>
            </a:r>
            <a:r>
              <a:rPr lang="en-US" sz="750" dirty="0">
                <a:solidFill>
                  <a:srgbClr val="4C4C4D"/>
                </a:solidFill>
                <a:latin typeface="Heebo" pitchFamily="34" charset="0"/>
                <a:ea typeface="Heebo" pitchFamily="34" charset="-122"/>
                <a:cs typeface="Heebo" pitchFamily="34" charset="-120"/>
              </a:rPr>
              <a:t> = Consulted | </a:t>
            </a:r>
            <a:r>
              <a:rPr lang="en-US" sz="750" b="1" dirty="0">
                <a:solidFill>
                  <a:srgbClr val="4C4C4D"/>
                </a:solidFill>
                <a:latin typeface="Heebo Bold" pitchFamily="34" charset="0"/>
                <a:ea typeface="Heebo Bold" pitchFamily="34" charset="-122"/>
                <a:cs typeface="Heebo Bold" pitchFamily="34" charset="-120"/>
              </a:rPr>
              <a:t>I</a:t>
            </a:r>
            <a:r>
              <a:rPr lang="en-US" sz="750" dirty="0">
                <a:solidFill>
                  <a:srgbClr val="4C4C4D"/>
                </a:solidFill>
                <a:latin typeface="Heebo" pitchFamily="34" charset="0"/>
                <a:ea typeface="Heebo" pitchFamily="34" charset="-122"/>
                <a:cs typeface="Heebo" pitchFamily="34" charset="-120"/>
              </a:rPr>
              <a:t> = Informed</a:t>
            </a:r>
            <a:endParaRPr lang="en-US" sz="750" dirty="0"/>
          </a:p>
        </p:txBody>
      </p:sp>
      <p:sp>
        <p:nvSpPr>
          <p:cNvPr id="20" name="Text 13"/>
          <p:cNvSpPr/>
          <p:nvPr/>
        </p:nvSpPr>
        <p:spPr>
          <a:xfrm>
            <a:off x="6253502" y="4007048"/>
            <a:ext cx="5283068" cy="193774"/>
          </a:xfrm>
          <a:prstGeom prst="rect">
            <a:avLst/>
          </a:prstGeom>
          <a:noFill/>
          <a:ln/>
        </p:spPr>
        <p:txBody>
          <a:bodyPr wrap="none" lIns="0" tIns="0" rIns="0" bIns="0" rtlCol="0" anchor="t"/>
          <a:lstStyle/>
          <a:p>
            <a:pPr marL="0" indent="0" algn="l">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External Stakeholders</a:t>
            </a:r>
            <a:endParaRPr lang="en-US" sz="1200" dirty="0"/>
          </a:p>
        </p:txBody>
      </p:sp>
      <p:sp>
        <p:nvSpPr>
          <p:cNvPr id="21" name="Shape 14"/>
          <p:cNvSpPr/>
          <p:nvPr/>
        </p:nvSpPr>
        <p:spPr>
          <a:xfrm>
            <a:off x="6253502" y="4371280"/>
            <a:ext cx="62010" cy="62012"/>
          </a:xfrm>
          <a:prstGeom prst="ellipse">
            <a:avLst/>
          </a:prstGeom>
          <a:solidFill>
            <a:srgbClr val="2150FE"/>
          </a:solidFill>
          <a:ln/>
        </p:spPr>
        <p:txBody>
          <a:bodyPr/>
          <a:lstStyle/>
          <a:p>
            <a:endParaRPr lang="en-US"/>
          </a:p>
        </p:txBody>
      </p:sp>
      <p:sp>
        <p:nvSpPr>
          <p:cNvPr id="22" name="Text 15"/>
          <p:cNvSpPr/>
          <p:nvPr/>
        </p:nvSpPr>
        <p:spPr>
          <a:xfrm>
            <a:off x="6408478" y="4305399"/>
            <a:ext cx="5128092"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Legal Counsel</a:t>
            </a:r>
            <a:endParaRPr lang="en-US" sz="1200" dirty="0"/>
          </a:p>
        </p:txBody>
      </p:sp>
      <p:sp>
        <p:nvSpPr>
          <p:cNvPr id="23" name="Text 16"/>
          <p:cNvSpPr/>
          <p:nvPr/>
        </p:nvSpPr>
        <p:spPr>
          <a:xfrm>
            <a:off x="6408478" y="4592141"/>
            <a:ext cx="5128092" cy="173633"/>
          </a:xfrm>
          <a:prstGeom prst="rect">
            <a:avLst/>
          </a:prstGeom>
          <a:noFill/>
          <a:ln/>
        </p:spPr>
        <p:txBody>
          <a:bodyPr wrap="none" lIns="0" tIns="0" rIns="0" bIns="0" rtlCol="0" anchor="t"/>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Regulatory compliance and liability guidance</a:t>
            </a:r>
            <a:endParaRPr lang="en-US" sz="950" dirty="0"/>
          </a:p>
        </p:txBody>
      </p:sp>
      <p:sp>
        <p:nvSpPr>
          <p:cNvPr id="24" name="Shape 17"/>
          <p:cNvSpPr/>
          <p:nvPr/>
        </p:nvSpPr>
        <p:spPr>
          <a:xfrm>
            <a:off x="6253502" y="5017691"/>
            <a:ext cx="62010" cy="62012"/>
          </a:xfrm>
          <a:prstGeom prst="ellipse">
            <a:avLst/>
          </a:prstGeom>
          <a:solidFill>
            <a:srgbClr val="2150FE"/>
          </a:solidFill>
          <a:ln/>
        </p:spPr>
        <p:txBody>
          <a:bodyPr/>
          <a:lstStyle/>
          <a:p>
            <a:endParaRPr lang="en-US"/>
          </a:p>
        </p:txBody>
      </p:sp>
      <p:sp>
        <p:nvSpPr>
          <p:cNvPr id="25" name="Text 18"/>
          <p:cNvSpPr/>
          <p:nvPr/>
        </p:nvSpPr>
        <p:spPr>
          <a:xfrm>
            <a:off x="6408478" y="4951809"/>
            <a:ext cx="5128092"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Law Enforcement</a:t>
            </a:r>
            <a:endParaRPr lang="en-US" sz="1200" dirty="0"/>
          </a:p>
        </p:txBody>
      </p:sp>
      <p:sp>
        <p:nvSpPr>
          <p:cNvPr id="26" name="Text 19"/>
          <p:cNvSpPr/>
          <p:nvPr/>
        </p:nvSpPr>
        <p:spPr>
          <a:xfrm>
            <a:off x="6408478" y="5238552"/>
            <a:ext cx="5128092" cy="173633"/>
          </a:xfrm>
          <a:prstGeom prst="rect">
            <a:avLst/>
          </a:prstGeom>
          <a:noFill/>
          <a:ln/>
        </p:spPr>
        <p:txBody>
          <a:bodyPr wrap="none" lIns="0" tIns="0" rIns="0" bIns="0" rtlCol="0" anchor="t"/>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Criminal investigation support and coordination</a:t>
            </a:r>
            <a:endParaRPr lang="en-US" sz="950" dirty="0"/>
          </a:p>
        </p:txBody>
      </p:sp>
      <p:sp>
        <p:nvSpPr>
          <p:cNvPr id="27" name="Shape 20"/>
          <p:cNvSpPr/>
          <p:nvPr/>
        </p:nvSpPr>
        <p:spPr>
          <a:xfrm>
            <a:off x="6253502" y="5664101"/>
            <a:ext cx="62010" cy="62012"/>
          </a:xfrm>
          <a:prstGeom prst="ellipse">
            <a:avLst/>
          </a:prstGeom>
          <a:solidFill>
            <a:srgbClr val="2150FE"/>
          </a:solidFill>
          <a:ln/>
        </p:spPr>
        <p:txBody>
          <a:bodyPr/>
          <a:lstStyle/>
          <a:p>
            <a:endParaRPr lang="en-US"/>
          </a:p>
        </p:txBody>
      </p:sp>
      <p:sp>
        <p:nvSpPr>
          <p:cNvPr id="28" name="Text 21"/>
          <p:cNvSpPr/>
          <p:nvPr/>
        </p:nvSpPr>
        <p:spPr>
          <a:xfrm>
            <a:off x="6408478" y="5598220"/>
            <a:ext cx="5128092" cy="193774"/>
          </a:xfrm>
          <a:prstGeom prst="rect">
            <a:avLst/>
          </a:prstGeom>
          <a:noFill/>
          <a:ln/>
        </p:spPr>
        <p:txBody>
          <a:bodyPr wrap="none" lIns="0" tIns="0" rIns="0" bIns="0" rtlCol="0" anchor="t"/>
          <a:lstStyle/>
          <a:p>
            <a:pPr marL="0" indent="0" algn="l">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ISACs and External IR Firms</a:t>
            </a:r>
            <a:endParaRPr lang="en-US" sz="1200" dirty="0"/>
          </a:p>
        </p:txBody>
      </p:sp>
      <p:sp>
        <p:nvSpPr>
          <p:cNvPr id="29" name="Text 22"/>
          <p:cNvSpPr/>
          <p:nvPr/>
        </p:nvSpPr>
        <p:spPr>
          <a:xfrm>
            <a:off x="6408478" y="5884962"/>
            <a:ext cx="5128092" cy="173633"/>
          </a:xfrm>
          <a:prstGeom prst="rect">
            <a:avLst/>
          </a:prstGeom>
          <a:noFill/>
          <a:ln/>
        </p:spPr>
        <p:txBody>
          <a:bodyPr wrap="none" lIns="0" tIns="0" rIns="0" bIns="0" rtlCol="0" anchor="t"/>
          <a:lstStyle/>
          <a:p>
            <a:pPr marL="0" indent="0" algn="l">
              <a:lnSpc>
                <a:spcPct val="117000"/>
              </a:lnSpc>
              <a:buNone/>
            </a:pPr>
            <a:r>
              <a:rPr lang="en-US" sz="950" dirty="0">
                <a:solidFill>
                  <a:srgbClr val="4C4C4D"/>
                </a:solidFill>
                <a:latin typeface="Heebo" pitchFamily="34" charset="0"/>
                <a:ea typeface="Heebo" pitchFamily="34" charset="-122"/>
                <a:cs typeface="Heebo" pitchFamily="34" charset="-120"/>
              </a:rPr>
              <a:t>Threat intelligence sharing and specialized expertise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544116"/>
            <a:ext cx="773292" cy="201116"/>
          </a:xfrm>
          <a:prstGeom prst="roundRect">
            <a:avLst>
              <a:gd name="adj" fmla="val 7895"/>
            </a:avLst>
          </a:prstGeom>
          <a:solidFill>
            <a:srgbClr val="CCD7FF"/>
          </a:solidFill>
          <a:ln/>
        </p:spPr>
        <p:txBody>
          <a:bodyPr/>
          <a:lstStyle/>
          <a:p>
            <a:endParaRPr lang="en-US"/>
          </a:p>
        </p:txBody>
      </p:sp>
      <p:sp>
        <p:nvSpPr>
          <p:cNvPr id="3" name="Text 1"/>
          <p:cNvSpPr/>
          <p:nvPr/>
        </p:nvSpPr>
        <p:spPr>
          <a:xfrm>
            <a:off x="740848" y="583803"/>
            <a:ext cx="1224130" cy="121741"/>
          </a:xfrm>
          <a:prstGeom prst="rect">
            <a:avLst/>
          </a:prstGeom>
          <a:noFill/>
          <a:ln/>
        </p:spPr>
        <p:txBody>
          <a:bodyPr wrap="none" lIns="0" tIns="0" rIns="0" bIns="0" rtlCol="0" anchor="t"/>
          <a:lstStyle/>
          <a:p>
            <a:pPr marL="0" indent="0" algn="l">
              <a:lnSpc>
                <a:spcPct val="96000"/>
              </a:lnSpc>
              <a:buNone/>
            </a:pPr>
            <a:r>
              <a:rPr lang="en-US" sz="800" dirty="0">
                <a:solidFill>
                  <a:srgbClr val="4C4C4D"/>
                </a:solidFill>
                <a:latin typeface="Heebo" pitchFamily="34" charset="0"/>
                <a:ea typeface="Heebo" pitchFamily="34" charset="-122"/>
                <a:cs typeface="Heebo" pitchFamily="34" charset="-120"/>
              </a:rPr>
              <a:t>CASE STUDY</a:t>
            </a:r>
            <a:endParaRPr lang="en-US" sz="800" dirty="0"/>
          </a:p>
        </p:txBody>
      </p:sp>
      <p:sp>
        <p:nvSpPr>
          <p:cNvPr id="4" name="Text 2"/>
          <p:cNvSpPr/>
          <p:nvPr/>
        </p:nvSpPr>
        <p:spPr>
          <a:xfrm>
            <a:off x="661475" y="787499"/>
            <a:ext cx="10868745" cy="413445"/>
          </a:xfrm>
          <a:prstGeom prst="rect">
            <a:avLst/>
          </a:prstGeom>
          <a:noFill/>
          <a:ln/>
        </p:spPr>
        <p:txBody>
          <a:bodyPr wrap="none" lIns="0" tIns="0" rIns="0" bIns="0" rtlCol="0" anchor="t"/>
          <a:lstStyle/>
          <a:p>
            <a:pPr marL="0" indent="0" algn="l">
              <a:lnSpc>
                <a:spcPct val="104000"/>
              </a:lnSpc>
              <a:buNone/>
            </a:pPr>
            <a:r>
              <a:rPr lang="en-US" sz="2600" dirty="0">
                <a:solidFill>
                  <a:srgbClr val="152D47"/>
                </a:solidFill>
                <a:latin typeface="Crimson Pro SemiBold" pitchFamily="34" charset="0"/>
                <a:ea typeface="Crimson Pro SemiBold" pitchFamily="34" charset="-122"/>
                <a:cs typeface="Crimson Pro SemiBold" pitchFamily="34" charset="-120"/>
              </a:rPr>
              <a:t>Case Study: Ransomware Incident Response</a:t>
            </a:r>
            <a:endParaRPr lang="en-US" sz="2600" dirty="0"/>
          </a:p>
        </p:txBody>
      </p:sp>
      <p:sp>
        <p:nvSpPr>
          <p:cNvPr id="5" name="Text 3"/>
          <p:cNvSpPr/>
          <p:nvPr/>
        </p:nvSpPr>
        <p:spPr>
          <a:xfrm>
            <a:off x="661475" y="1359694"/>
            <a:ext cx="11478330" cy="190500"/>
          </a:xfrm>
          <a:prstGeom prst="rect">
            <a:avLst/>
          </a:prstGeom>
          <a:noFill/>
          <a:ln/>
        </p:spPr>
        <p:txBody>
          <a:bodyPr wrap="none" lIns="0" tIns="0" rIns="0" bIns="0" rtlCol="0" anchor="t"/>
          <a:lstStyle/>
          <a:p>
            <a:pPr marL="0" indent="0" algn="l">
              <a:lnSpc>
                <a:spcPct val="120000"/>
              </a:lnSpc>
              <a:buNone/>
            </a:pPr>
            <a:r>
              <a:rPr lang="en-US" sz="1000" b="1" dirty="0">
                <a:solidFill>
                  <a:srgbClr val="4C4C4D"/>
                </a:solidFill>
                <a:latin typeface="Heebo Bold" pitchFamily="34" charset="0"/>
                <a:ea typeface="Heebo Bold" pitchFamily="34" charset="-122"/>
                <a:cs typeface="Heebo Bold" pitchFamily="34" charset="-120"/>
              </a:rPr>
              <a:t>Target:</a:t>
            </a:r>
            <a:r>
              <a:rPr lang="en-US" sz="1000" dirty="0">
                <a:solidFill>
                  <a:srgbClr val="4C4C4D"/>
                </a:solidFill>
                <a:latin typeface="Heebo" pitchFamily="34" charset="0"/>
                <a:ea typeface="Heebo" pitchFamily="34" charset="-122"/>
                <a:cs typeface="Heebo" pitchFamily="34" charset="-120"/>
              </a:rPr>
              <a:t> Mid-size healthcare organization (2,500 employees) · </a:t>
            </a:r>
            <a:r>
              <a:rPr lang="en-US" sz="1000" b="1" dirty="0">
                <a:solidFill>
                  <a:srgbClr val="4C4C4D"/>
                </a:solidFill>
                <a:latin typeface="Heebo Bold" pitchFamily="34" charset="0"/>
                <a:ea typeface="Heebo Bold" pitchFamily="34" charset="-122"/>
                <a:cs typeface="Heebo Bold" pitchFamily="34" charset="-120"/>
              </a:rPr>
              <a:t>Attack Vector:</a:t>
            </a:r>
            <a:r>
              <a:rPr lang="en-US" sz="1000" dirty="0">
                <a:solidFill>
                  <a:srgbClr val="4C4C4D"/>
                </a:solidFill>
                <a:latin typeface="Heebo" pitchFamily="34" charset="0"/>
                <a:ea typeface="Heebo" pitchFamily="34" charset="-122"/>
                <a:cs typeface="Heebo" pitchFamily="34" charset="-120"/>
              </a:rPr>
              <a:t> Phishing email with malicious attachment · </a:t>
            </a:r>
            <a:r>
              <a:rPr lang="en-US" sz="1000" b="1" dirty="0">
                <a:solidFill>
                  <a:srgbClr val="4C4C4D"/>
                </a:solidFill>
                <a:latin typeface="Heebo Bold" pitchFamily="34" charset="0"/>
                <a:ea typeface="Heebo Bold" pitchFamily="34" charset="-122"/>
                <a:cs typeface="Heebo Bold" pitchFamily="34" charset="-120"/>
              </a:rPr>
              <a:t>Ransomware:</a:t>
            </a:r>
            <a:r>
              <a:rPr lang="en-US" sz="1000" dirty="0">
                <a:solidFill>
                  <a:srgbClr val="4C4C4D"/>
                </a:solidFill>
                <a:latin typeface="Heebo" pitchFamily="34" charset="0"/>
                <a:ea typeface="Heebo" pitchFamily="34" charset="-122"/>
                <a:cs typeface="Heebo" pitchFamily="34" charset="-120"/>
              </a:rPr>
              <a:t> Ryuk variant encrypting critical systems</a:t>
            </a:r>
            <a:endParaRPr lang="en-US" sz="1000" dirty="0"/>
          </a:p>
        </p:txBody>
      </p:sp>
      <p:sp>
        <p:nvSpPr>
          <p:cNvPr id="6" name="Text 4"/>
          <p:cNvSpPr/>
          <p:nvPr/>
        </p:nvSpPr>
        <p:spPr>
          <a:xfrm>
            <a:off x="661475" y="1775023"/>
            <a:ext cx="5273047" cy="206673"/>
          </a:xfrm>
          <a:prstGeom prst="rect">
            <a:avLst/>
          </a:prstGeom>
          <a:noFill/>
          <a:ln/>
        </p:spPr>
        <p:txBody>
          <a:bodyPr wrap="none" lIns="0" tIns="0" rIns="0" bIns="0" rtlCol="0" anchor="t"/>
          <a:lstStyle/>
          <a:p>
            <a:pPr marL="0" indent="0" algn="l">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Incident Timeline</a:t>
            </a:r>
            <a:endParaRPr lang="en-US" sz="1300" dirty="0"/>
          </a:p>
        </p:txBody>
      </p:sp>
      <p:sp>
        <p:nvSpPr>
          <p:cNvPr id="7" name="Shape 5"/>
          <p:cNvSpPr/>
          <p:nvPr/>
        </p:nvSpPr>
        <p:spPr>
          <a:xfrm>
            <a:off x="3288424" y="2100759"/>
            <a:ext cx="19050" cy="4094063"/>
          </a:xfrm>
          <a:prstGeom prst="roundRect">
            <a:avLst>
              <a:gd name="adj" fmla="val 49999"/>
            </a:avLst>
          </a:prstGeom>
          <a:solidFill>
            <a:srgbClr val="D8D4D4"/>
          </a:solidFill>
          <a:ln/>
        </p:spPr>
        <p:txBody>
          <a:bodyPr/>
          <a:lstStyle/>
          <a:p>
            <a:endParaRPr lang="en-US"/>
          </a:p>
        </p:txBody>
      </p:sp>
      <p:sp>
        <p:nvSpPr>
          <p:cNvPr id="8" name="Shape 6"/>
          <p:cNvSpPr/>
          <p:nvPr/>
        </p:nvSpPr>
        <p:spPr>
          <a:xfrm>
            <a:off x="2771309" y="2240062"/>
            <a:ext cx="396865" cy="19050"/>
          </a:xfrm>
          <a:prstGeom prst="roundRect">
            <a:avLst>
              <a:gd name="adj" fmla="val 49999"/>
            </a:avLst>
          </a:prstGeom>
          <a:solidFill>
            <a:srgbClr val="D8D4D4"/>
          </a:solidFill>
          <a:ln/>
        </p:spPr>
        <p:txBody>
          <a:bodyPr/>
          <a:lstStyle/>
          <a:p>
            <a:endParaRPr lang="en-US"/>
          </a:p>
        </p:txBody>
      </p:sp>
      <p:sp>
        <p:nvSpPr>
          <p:cNvPr id="9" name="Shape 7"/>
          <p:cNvSpPr/>
          <p:nvPr/>
        </p:nvSpPr>
        <p:spPr>
          <a:xfrm>
            <a:off x="3149124" y="2100759"/>
            <a:ext cx="297649" cy="297656"/>
          </a:xfrm>
          <a:prstGeom prst="roundRect">
            <a:avLst>
              <a:gd name="adj" fmla="val 6668"/>
            </a:avLst>
          </a:prstGeom>
          <a:solidFill>
            <a:srgbClr val="F2EEEE"/>
          </a:solidFill>
          <a:ln/>
        </p:spPr>
        <p:txBody>
          <a:bodyPr/>
          <a:lstStyle/>
          <a:p>
            <a:endParaRPr lang="en-US"/>
          </a:p>
        </p:txBody>
      </p:sp>
      <p:sp>
        <p:nvSpPr>
          <p:cNvPr id="10" name="Text 8"/>
          <p:cNvSpPr/>
          <p:nvPr/>
        </p:nvSpPr>
        <p:spPr>
          <a:xfrm>
            <a:off x="3198732" y="2125563"/>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1</a:t>
            </a:r>
            <a:endParaRPr lang="en-US" sz="1550" dirty="0"/>
          </a:p>
        </p:txBody>
      </p:sp>
      <p:sp>
        <p:nvSpPr>
          <p:cNvPr id="11" name="Text 9"/>
          <p:cNvSpPr/>
          <p:nvPr/>
        </p:nvSpPr>
        <p:spPr>
          <a:xfrm>
            <a:off x="661475" y="2146201"/>
            <a:ext cx="1974999" cy="206673"/>
          </a:xfrm>
          <a:prstGeom prst="rect">
            <a:avLst/>
          </a:prstGeom>
          <a:noFill/>
          <a:ln/>
        </p:spPr>
        <p:txBody>
          <a:bodyPr wrap="none" lIns="0" tIns="0" rIns="0" bIns="0" rtlCol="0" anchor="t"/>
          <a:lstStyle/>
          <a:p>
            <a:pPr marL="0" indent="0" algn="r">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Day 1 — Initial Compromise</a:t>
            </a:r>
            <a:endParaRPr lang="en-US" sz="1300" dirty="0"/>
          </a:p>
        </p:txBody>
      </p:sp>
      <p:sp>
        <p:nvSpPr>
          <p:cNvPr id="12" name="Text 10"/>
          <p:cNvSpPr/>
          <p:nvPr/>
        </p:nvSpPr>
        <p:spPr>
          <a:xfrm>
            <a:off x="661475" y="2458641"/>
            <a:ext cx="1974999" cy="1143000"/>
          </a:xfrm>
          <a:prstGeom prst="rect">
            <a:avLst/>
          </a:prstGeom>
          <a:noFill/>
          <a:ln/>
        </p:spPr>
        <p:txBody>
          <a:bodyPr wrap="square" lIns="0" tIns="0" rIns="0" bIns="0" rtlCol="0" anchor="t">
            <a:normAutofit/>
          </a:bodyPr>
          <a:lstStyle/>
          <a:p>
            <a:pPr marL="0" indent="0" algn="r">
              <a:lnSpc>
                <a:spcPct val="120000"/>
              </a:lnSpc>
              <a:buNone/>
            </a:pPr>
            <a:r>
              <a:rPr lang="en-US" sz="1000" dirty="0">
                <a:solidFill>
                  <a:srgbClr val="4C4C4D"/>
                </a:solidFill>
                <a:latin typeface="Heebo" pitchFamily="34" charset="0"/>
                <a:ea typeface="Heebo" pitchFamily="34" charset="-122"/>
                <a:cs typeface="Heebo" pitchFamily="34" charset="-120"/>
              </a:rPr>
              <a:t>Employee opened phishing email. Malware established persistence and began stealthy lateral movement across the network for 72 hours before encryption triggered.</a:t>
            </a:r>
            <a:endParaRPr lang="en-US" sz="1000" dirty="0"/>
          </a:p>
        </p:txBody>
      </p:sp>
      <p:sp>
        <p:nvSpPr>
          <p:cNvPr id="13" name="Shape 11"/>
          <p:cNvSpPr/>
          <p:nvPr/>
        </p:nvSpPr>
        <p:spPr>
          <a:xfrm>
            <a:off x="3427724" y="2980928"/>
            <a:ext cx="396865" cy="19050"/>
          </a:xfrm>
          <a:prstGeom prst="roundRect">
            <a:avLst>
              <a:gd name="adj" fmla="val 49999"/>
            </a:avLst>
          </a:prstGeom>
          <a:solidFill>
            <a:srgbClr val="D8D4D4"/>
          </a:solidFill>
          <a:ln/>
        </p:spPr>
        <p:txBody>
          <a:bodyPr/>
          <a:lstStyle/>
          <a:p>
            <a:endParaRPr lang="en-US"/>
          </a:p>
        </p:txBody>
      </p:sp>
      <p:sp>
        <p:nvSpPr>
          <p:cNvPr id="14" name="Shape 12"/>
          <p:cNvSpPr/>
          <p:nvPr/>
        </p:nvSpPr>
        <p:spPr>
          <a:xfrm>
            <a:off x="3149124" y="2841625"/>
            <a:ext cx="297649" cy="297656"/>
          </a:xfrm>
          <a:prstGeom prst="roundRect">
            <a:avLst>
              <a:gd name="adj" fmla="val 6668"/>
            </a:avLst>
          </a:prstGeom>
          <a:solidFill>
            <a:srgbClr val="F2EEEE"/>
          </a:solidFill>
          <a:ln/>
        </p:spPr>
        <p:txBody>
          <a:bodyPr/>
          <a:lstStyle/>
          <a:p>
            <a:endParaRPr lang="en-US"/>
          </a:p>
        </p:txBody>
      </p:sp>
      <p:sp>
        <p:nvSpPr>
          <p:cNvPr id="15" name="Text 13"/>
          <p:cNvSpPr/>
          <p:nvPr/>
        </p:nvSpPr>
        <p:spPr>
          <a:xfrm>
            <a:off x="3198732" y="2866430"/>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2</a:t>
            </a:r>
            <a:endParaRPr lang="en-US" sz="1550" dirty="0"/>
          </a:p>
        </p:txBody>
      </p:sp>
      <p:sp>
        <p:nvSpPr>
          <p:cNvPr id="16" name="Text 14"/>
          <p:cNvSpPr/>
          <p:nvPr/>
        </p:nvSpPr>
        <p:spPr>
          <a:xfrm>
            <a:off x="3959424" y="2887067"/>
            <a:ext cx="1975098" cy="413345"/>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Day 4 — Detection and Containment</a:t>
            </a:r>
            <a:endParaRPr lang="en-US" sz="1300" dirty="0"/>
          </a:p>
        </p:txBody>
      </p:sp>
      <p:sp>
        <p:nvSpPr>
          <p:cNvPr id="17" name="Text 15"/>
          <p:cNvSpPr/>
          <p:nvPr/>
        </p:nvSpPr>
        <p:spPr>
          <a:xfrm>
            <a:off x="3959424" y="3406180"/>
            <a:ext cx="1975098" cy="9525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EDR alerts triggered. IR team activated immediately. Network segments isolated and affected systems quarantined. Offline backups verified intact.</a:t>
            </a:r>
            <a:endParaRPr lang="en-US" sz="1000" dirty="0"/>
          </a:p>
        </p:txBody>
      </p:sp>
      <p:sp>
        <p:nvSpPr>
          <p:cNvPr id="18" name="Shape 16"/>
          <p:cNvSpPr/>
          <p:nvPr/>
        </p:nvSpPr>
        <p:spPr>
          <a:xfrm>
            <a:off x="2771309" y="3952577"/>
            <a:ext cx="396865" cy="19050"/>
          </a:xfrm>
          <a:prstGeom prst="roundRect">
            <a:avLst>
              <a:gd name="adj" fmla="val 49999"/>
            </a:avLst>
          </a:prstGeom>
          <a:solidFill>
            <a:srgbClr val="D8D4D4"/>
          </a:solidFill>
          <a:ln/>
        </p:spPr>
        <p:txBody>
          <a:bodyPr/>
          <a:lstStyle/>
          <a:p>
            <a:endParaRPr lang="en-US"/>
          </a:p>
        </p:txBody>
      </p:sp>
      <p:sp>
        <p:nvSpPr>
          <p:cNvPr id="19" name="Shape 17"/>
          <p:cNvSpPr/>
          <p:nvPr/>
        </p:nvSpPr>
        <p:spPr>
          <a:xfrm>
            <a:off x="3149124" y="3813274"/>
            <a:ext cx="297649" cy="297656"/>
          </a:xfrm>
          <a:prstGeom prst="roundRect">
            <a:avLst>
              <a:gd name="adj" fmla="val 6668"/>
            </a:avLst>
          </a:prstGeom>
          <a:solidFill>
            <a:srgbClr val="F2EEEE"/>
          </a:solidFill>
          <a:ln/>
        </p:spPr>
        <p:txBody>
          <a:bodyPr/>
          <a:lstStyle/>
          <a:p>
            <a:endParaRPr lang="en-US"/>
          </a:p>
        </p:txBody>
      </p:sp>
      <p:sp>
        <p:nvSpPr>
          <p:cNvPr id="20" name="Text 18"/>
          <p:cNvSpPr/>
          <p:nvPr/>
        </p:nvSpPr>
        <p:spPr>
          <a:xfrm>
            <a:off x="3198732" y="3838079"/>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3</a:t>
            </a:r>
            <a:endParaRPr lang="en-US" sz="1550" dirty="0"/>
          </a:p>
        </p:txBody>
      </p:sp>
      <p:sp>
        <p:nvSpPr>
          <p:cNvPr id="21" name="Text 19"/>
          <p:cNvSpPr/>
          <p:nvPr/>
        </p:nvSpPr>
        <p:spPr>
          <a:xfrm>
            <a:off x="661475" y="3858716"/>
            <a:ext cx="1974999" cy="413345"/>
          </a:xfrm>
          <a:prstGeom prst="rect">
            <a:avLst/>
          </a:prstGeom>
          <a:noFill/>
          <a:ln/>
        </p:spPr>
        <p:txBody>
          <a:bodyPr wrap="square" lIns="0" tIns="0" rIns="0" bIns="0" rtlCol="0" anchor="t">
            <a:normAutofit/>
          </a:bodyPr>
          <a:lstStyle/>
          <a:p>
            <a:pPr marL="0" indent="0" algn="r">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Days 5–7 — Eradication and Recovery</a:t>
            </a:r>
            <a:endParaRPr lang="en-US" sz="1300" dirty="0"/>
          </a:p>
        </p:txBody>
      </p:sp>
      <p:sp>
        <p:nvSpPr>
          <p:cNvPr id="22" name="Text 20"/>
          <p:cNvSpPr/>
          <p:nvPr/>
        </p:nvSpPr>
        <p:spPr>
          <a:xfrm>
            <a:off x="661475" y="4377829"/>
            <a:ext cx="1974999" cy="952500"/>
          </a:xfrm>
          <a:prstGeom prst="rect">
            <a:avLst/>
          </a:prstGeom>
          <a:noFill/>
          <a:ln/>
        </p:spPr>
        <p:txBody>
          <a:bodyPr wrap="square" lIns="0" tIns="0" rIns="0" bIns="0" rtlCol="0" anchor="t">
            <a:normAutofit/>
          </a:bodyPr>
          <a:lstStyle/>
          <a:p>
            <a:pPr marL="0" indent="0" algn="r">
              <a:lnSpc>
                <a:spcPct val="120000"/>
              </a:lnSpc>
              <a:buNone/>
            </a:pPr>
            <a:r>
              <a:rPr lang="en-US" sz="1000" dirty="0">
                <a:solidFill>
                  <a:srgbClr val="4C4C4D"/>
                </a:solidFill>
                <a:latin typeface="Heebo" pitchFamily="34" charset="0"/>
                <a:ea typeface="Heebo" pitchFamily="34" charset="-122"/>
                <a:cs typeface="Heebo" pitchFamily="34" charset="-120"/>
              </a:rPr>
              <a:t>Forensic analysis completed. Malware fully removed. Systems rebuilt from clean backups. Security controls strengthened. Phased restoration commenced.</a:t>
            </a:r>
            <a:endParaRPr lang="en-US" sz="1000" dirty="0"/>
          </a:p>
        </p:txBody>
      </p:sp>
      <p:sp>
        <p:nvSpPr>
          <p:cNvPr id="23" name="Shape 21"/>
          <p:cNvSpPr/>
          <p:nvPr/>
        </p:nvSpPr>
        <p:spPr>
          <a:xfrm>
            <a:off x="3427724" y="4816971"/>
            <a:ext cx="396865" cy="19050"/>
          </a:xfrm>
          <a:prstGeom prst="roundRect">
            <a:avLst>
              <a:gd name="adj" fmla="val 49999"/>
            </a:avLst>
          </a:prstGeom>
          <a:solidFill>
            <a:srgbClr val="D8D4D4"/>
          </a:solidFill>
          <a:ln/>
        </p:spPr>
        <p:txBody>
          <a:bodyPr/>
          <a:lstStyle/>
          <a:p>
            <a:endParaRPr lang="en-US"/>
          </a:p>
        </p:txBody>
      </p:sp>
      <p:sp>
        <p:nvSpPr>
          <p:cNvPr id="24" name="Shape 22"/>
          <p:cNvSpPr/>
          <p:nvPr/>
        </p:nvSpPr>
        <p:spPr>
          <a:xfrm>
            <a:off x="3149124" y="4677668"/>
            <a:ext cx="297649" cy="297656"/>
          </a:xfrm>
          <a:prstGeom prst="roundRect">
            <a:avLst>
              <a:gd name="adj" fmla="val 6668"/>
            </a:avLst>
          </a:prstGeom>
          <a:solidFill>
            <a:srgbClr val="F2EEEE"/>
          </a:solidFill>
          <a:ln/>
        </p:spPr>
        <p:txBody>
          <a:bodyPr/>
          <a:lstStyle/>
          <a:p>
            <a:endParaRPr lang="en-US"/>
          </a:p>
        </p:txBody>
      </p:sp>
      <p:sp>
        <p:nvSpPr>
          <p:cNvPr id="25" name="Text 23"/>
          <p:cNvSpPr/>
          <p:nvPr/>
        </p:nvSpPr>
        <p:spPr>
          <a:xfrm>
            <a:off x="3198732" y="4702473"/>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4</a:t>
            </a:r>
            <a:endParaRPr lang="en-US" sz="1550" dirty="0"/>
          </a:p>
        </p:txBody>
      </p:sp>
      <p:sp>
        <p:nvSpPr>
          <p:cNvPr id="26" name="Text 24"/>
          <p:cNvSpPr/>
          <p:nvPr/>
        </p:nvSpPr>
        <p:spPr>
          <a:xfrm>
            <a:off x="3959424" y="4723110"/>
            <a:ext cx="1975098" cy="413345"/>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Day 14 — Post-Incident Review</a:t>
            </a:r>
            <a:endParaRPr lang="en-US" sz="1300" dirty="0"/>
          </a:p>
        </p:txBody>
      </p:sp>
      <p:sp>
        <p:nvSpPr>
          <p:cNvPr id="27" name="Text 25"/>
          <p:cNvSpPr/>
          <p:nvPr/>
        </p:nvSpPr>
        <p:spPr>
          <a:xfrm>
            <a:off x="3959424" y="5242223"/>
            <a:ext cx="1975098" cy="9525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Lessons learned session conducted. IR plan updated. Additional training scheduled. Threat intelligence shared with sector ISAC partners.</a:t>
            </a:r>
            <a:endParaRPr lang="en-US" sz="1000" dirty="0"/>
          </a:p>
        </p:txBody>
      </p:sp>
      <p:sp>
        <p:nvSpPr>
          <p:cNvPr id="28" name="Text 26"/>
          <p:cNvSpPr/>
          <p:nvPr/>
        </p:nvSpPr>
        <p:spPr>
          <a:xfrm>
            <a:off x="6263523" y="1775023"/>
            <a:ext cx="5273047" cy="206673"/>
          </a:xfrm>
          <a:prstGeom prst="rect">
            <a:avLst/>
          </a:prstGeom>
          <a:noFill/>
          <a:ln/>
        </p:spPr>
        <p:txBody>
          <a:bodyPr wrap="none" lIns="0" tIns="0" rIns="0" bIns="0" rtlCol="0" anchor="t"/>
          <a:lstStyle/>
          <a:p>
            <a:pPr marL="0" indent="0" algn="l">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Outcomes and Lessons Learned</a:t>
            </a:r>
            <a:endParaRPr lang="en-US" sz="1300" dirty="0"/>
          </a:p>
        </p:txBody>
      </p:sp>
      <p:sp>
        <p:nvSpPr>
          <p:cNvPr id="29" name="Shape 27"/>
          <p:cNvSpPr/>
          <p:nvPr/>
        </p:nvSpPr>
        <p:spPr>
          <a:xfrm>
            <a:off x="6263523" y="2100759"/>
            <a:ext cx="2583592" cy="2864941"/>
          </a:xfrm>
          <a:prstGeom prst="roundRect">
            <a:avLst>
              <a:gd name="adj" fmla="val 768"/>
            </a:avLst>
          </a:prstGeom>
          <a:solidFill>
            <a:srgbClr val="FFFFFF"/>
          </a:solidFill>
          <a:ln w="19050">
            <a:solidFill>
              <a:srgbClr val="D8D4D4"/>
            </a:solidFill>
            <a:prstDash val="solid"/>
          </a:ln>
        </p:spPr>
        <p:txBody>
          <a:bodyPr/>
          <a:lstStyle/>
          <a:p>
            <a:endParaRPr lang="en-US"/>
          </a:p>
        </p:txBody>
      </p:sp>
      <p:sp>
        <p:nvSpPr>
          <p:cNvPr id="30" name="Text 28"/>
          <p:cNvSpPr/>
          <p:nvPr/>
        </p:nvSpPr>
        <p:spPr>
          <a:xfrm>
            <a:off x="6414828" y="2252067"/>
            <a:ext cx="2280982" cy="213023"/>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Noto Color Emoji" pitchFamily="34" charset="0"/>
                <a:ea typeface="Noto Color Emoji" pitchFamily="34" charset="-122"/>
                <a:cs typeface="Noto Color Emoji" pitchFamily="34" charset="-120"/>
              </a:rPr>
              <a:t>✅</a:t>
            </a:r>
            <a:r>
              <a:rPr lang="en-US" sz="1300" dirty="0">
                <a:solidFill>
                  <a:srgbClr val="4C4C4D"/>
                </a:solidFill>
                <a:latin typeface="Crimson Pro SemiBold" pitchFamily="34" charset="0"/>
                <a:ea typeface="Crimson Pro SemiBold" pitchFamily="34" charset="-122"/>
                <a:cs typeface="Crimson Pro SemiBold" pitchFamily="34" charset="-120"/>
              </a:rPr>
              <a:t> Key Outcomes</a:t>
            </a:r>
            <a:endParaRPr lang="en-US" sz="1300" dirty="0"/>
          </a:p>
        </p:txBody>
      </p:sp>
      <p:sp>
        <p:nvSpPr>
          <p:cNvPr id="31" name="Text 29"/>
          <p:cNvSpPr/>
          <p:nvPr/>
        </p:nvSpPr>
        <p:spPr>
          <a:xfrm>
            <a:off x="6414828" y="2570857"/>
            <a:ext cx="2280982" cy="2053034"/>
          </a:xfrm>
          <a:prstGeom prst="rect">
            <a:avLst/>
          </a:prstGeom>
          <a:noFill/>
          <a:ln/>
        </p:spPr>
        <p:txBody>
          <a:bodyPr wrap="square" lIns="0" tIns="0" rIns="0" bIns="0" rtlCol="0" anchor="t">
            <a:normAutofit/>
          </a:bodyPr>
          <a:lstStyle/>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No ransom paid — recovery from backups successful</a:t>
            </a:r>
            <a:endParaRPr lang="en-US" sz="1000" dirty="0"/>
          </a:p>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Critical systems restored within 72 hours</a:t>
            </a:r>
            <a:endParaRPr lang="en-US" sz="1000" dirty="0"/>
          </a:p>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No patient data exfiltration confirmed</a:t>
            </a:r>
            <a:endParaRPr lang="en-US" sz="1000" dirty="0"/>
          </a:p>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All regulatory notifications completed on time</a:t>
            </a:r>
            <a:endParaRPr lang="en-US" sz="1000" dirty="0"/>
          </a:p>
          <a:p>
            <a:pPr marL="203200" indent="-203200" algn="l">
              <a:lnSpc>
                <a:spcPct val="120000"/>
              </a:lnSpc>
              <a:buSzPct val="100000"/>
              <a:buChar char="•"/>
            </a:pPr>
            <a:r>
              <a:rPr lang="en-US" sz="1000" dirty="0">
                <a:solidFill>
                  <a:srgbClr val="4C4C4D"/>
                </a:solidFill>
                <a:latin typeface="Heebo" pitchFamily="34" charset="0"/>
                <a:ea typeface="Heebo" pitchFamily="34" charset="-122"/>
                <a:cs typeface="Heebo" pitchFamily="34" charset="-120"/>
              </a:rPr>
              <a:t>Total downtime: 7 days for full restoration</a:t>
            </a:r>
            <a:endParaRPr lang="en-US" sz="1000" dirty="0"/>
          </a:p>
        </p:txBody>
      </p:sp>
      <p:sp>
        <p:nvSpPr>
          <p:cNvPr id="32" name="Shape 30"/>
          <p:cNvSpPr/>
          <p:nvPr/>
        </p:nvSpPr>
        <p:spPr>
          <a:xfrm>
            <a:off x="8952879" y="2100759"/>
            <a:ext cx="2583691" cy="2864941"/>
          </a:xfrm>
          <a:prstGeom prst="roundRect">
            <a:avLst>
              <a:gd name="adj" fmla="val 768"/>
            </a:avLst>
          </a:prstGeom>
          <a:solidFill>
            <a:srgbClr val="FFFFFF"/>
          </a:solidFill>
          <a:ln w="19050">
            <a:solidFill>
              <a:srgbClr val="D8D4D4"/>
            </a:solidFill>
            <a:prstDash val="solid"/>
          </a:ln>
        </p:spPr>
        <p:txBody>
          <a:bodyPr/>
          <a:lstStyle/>
          <a:p>
            <a:endParaRPr lang="en-US"/>
          </a:p>
        </p:txBody>
      </p:sp>
      <p:sp>
        <p:nvSpPr>
          <p:cNvPr id="33" name="Text 31"/>
          <p:cNvSpPr/>
          <p:nvPr/>
        </p:nvSpPr>
        <p:spPr>
          <a:xfrm>
            <a:off x="9104184" y="2252067"/>
            <a:ext cx="2281081" cy="213023"/>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Noto Color Emoji" pitchFamily="34" charset="0"/>
                <a:ea typeface="Noto Color Emoji" pitchFamily="34" charset="-122"/>
                <a:cs typeface="Noto Color Emoji" pitchFamily="34" charset="-120"/>
              </a:rPr>
              <a:t>📋</a:t>
            </a:r>
            <a:r>
              <a:rPr lang="en-US" sz="1300" dirty="0">
                <a:solidFill>
                  <a:srgbClr val="4C4C4D"/>
                </a:solidFill>
                <a:latin typeface="Crimson Pro SemiBold" pitchFamily="34" charset="0"/>
                <a:ea typeface="Crimson Pro SemiBold" pitchFamily="34" charset="-122"/>
                <a:cs typeface="Crimson Pro SemiBold" pitchFamily="34" charset="-120"/>
              </a:rPr>
              <a:t> Lessons Learned</a:t>
            </a:r>
            <a:endParaRPr lang="en-US" sz="1300" dirty="0"/>
          </a:p>
        </p:txBody>
      </p:sp>
      <p:sp>
        <p:nvSpPr>
          <p:cNvPr id="34" name="Text 32"/>
          <p:cNvSpPr/>
          <p:nvPr/>
        </p:nvSpPr>
        <p:spPr>
          <a:xfrm>
            <a:off x="9104184" y="2570857"/>
            <a:ext cx="2281081" cy="2243534"/>
          </a:xfrm>
          <a:prstGeom prst="rect">
            <a:avLst/>
          </a:prstGeom>
          <a:noFill/>
          <a:ln/>
        </p:spPr>
        <p:txBody>
          <a:bodyPr wrap="square" lIns="0" tIns="0" rIns="0" bIns="0" rtlCol="0" anchor="t">
            <a:normAutofit/>
          </a:bodyPr>
          <a:lstStyle/>
          <a:p>
            <a:pPr marL="203200" indent="-203200" algn="l">
              <a:lnSpc>
                <a:spcPct val="120000"/>
              </a:lnSpc>
              <a:buSzPct val="100000"/>
              <a:buFont typeface="+mj-lt"/>
              <a:buAutoNum type="arabicPeriod"/>
            </a:pPr>
            <a:r>
              <a:rPr lang="en-US" sz="1000" dirty="0">
                <a:solidFill>
                  <a:srgbClr val="4C4C4D"/>
                </a:solidFill>
                <a:latin typeface="Heebo" pitchFamily="34" charset="0"/>
                <a:ea typeface="Heebo" pitchFamily="34" charset="-122"/>
                <a:cs typeface="Heebo" pitchFamily="34" charset="-120"/>
              </a:rPr>
              <a:t>Enhanced email security and training reduced phishing risk</a:t>
            </a:r>
            <a:endParaRPr lang="en-US" sz="1000" dirty="0"/>
          </a:p>
          <a:p>
            <a:pPr marL="203200" indent="-203200" algn="l">
              <a:lnSpc>
                <a:spcPct val="120000"/>
              </a:lnSpc>
              <a:buSzPct val="100000"/>
              <a:buFont typeface="+mj-lt"/>
              <a:buAutoNum type="arabicPeriod" startAt="2"/>
            </a:pPr>
            <a:r>
              <a:rPr lang="en-US" sz="1000" dirty="0">
                <a:solidFill>
                  <a:srgbClr val="4C4C4D"/>
                </a:solidFill>
                <a:latin typeface="Heebo" pitchFamily="34" charset="0"/>
                <a:ea typeface="Heebo" pitchFamily="34" charset="-122"/>
                <a:cs typeface="Heebo" pitchFamily="34" charset="-120"/>
              </a:rPr>
              <a:t>Network segmentation limited ransomware spread significantly</a:t>
            </a:r>
            <a:endParaRPr lang="en-US" sz="1000" dirty="0"/>
          </a:p>
          <a:p>
            <a:pPr marL="203200" indent="-203200" algn="l">
              <a:lnSpc>
                <a:spcPct val="120000"/>
              </a:lnSpc>
              <a:buSzPct val="100000"/>
              <a:buFont typeface="+mj-lt"/>
              <a:buAutoNum type="arabicPeriod" startAt="3"/>
            </a:pPr>
            <a:r>
              <a:rPr lang="en-US" sz="1000" dirty="0">
                <a:solidFill>
                  <a:srgbClr val="4C4C4D"/>
                </a:solidFill>
                <a:latin typeface="Heebo" pitchFamily="34" charset="0"/>
                <a:ea typeface="Heebo" pitchFamily="34" charset="-122"/>
                <a:cs typeface="Heebo" pitchFamily="34" charset="-120"/>
              </a:rPr>
              <a:t>Offline backups were the critical factor in avoiding ransom payment</a:t>
            </a:r>
            <a:endParaRPr lang="en-US" sz="1000" dirty="0"/>
          </a:p>
          <a:p>
            <a:pPr marL="203200" indent="-203200" algn="l">
              <a:lnSpc>
                <a:spcPct val="120000"/>
              </a:lnSpc>
              <a:buSzPct val="100000"/>
              <a:buFont typeface="+mj-lt"/>
              <a:buAutoNum type="arabicPeriod" startAt="4"/>
            </a:pPr>
            <a:r>
              <a:rPr lang="en-US" sz="1000" dirty="0">
                <a:solidFill>
                  <a:srgbClr val="4C4C4D"/>
                </a:solidFill>
                <a:latin typeface="Heebo" pitchFamily="34" charset="0"/>
                <a:ea typeface="Heebo" pitchFamily="34" charset="-122"/>
                <a:cs typeface="Heebo" pitchFamily="34" charset="-120"/>
              </a:rPr>
              <a:t>Pre-established IR team and playbooks accelerated response speed</a:t>
            </a:r>
            <a:endParaRPr lang="en-US" sz="1000" dirty="0"/>
          </a:p>
          <a:p>
            <a:pPr marL="203200" indent="-203200" algn="l">
              <a:lnSpc>
                <a:spcPct val="120000"/>
              </a:lnSpc>
              <a:buSzPct val="100000"/>
              <a:buFont typeface="+mj-lt"/>
              <a:buAutoNum type="arabicPeriod" startAt="5"/>
            </a:pPr>
            <a:r>
              <a:rPr lang="en-US" sz="1000" dirty="0">
                <a:solidFill>
                  <a:srgbClr val="4C4C4D"/>
                </a:solidFill>
                <a:latin typeface="Heebo" pitchFamily="34" charset="0"/>
                <a:ea typeface="Heebo" pitchFamily="34" charset="-122"/>
                <a:cs typeface="Heebo" pitchFamily="34" charset="-120"/>
              </a:rPr>
              <a:t>Regular backup testing revealed restoration gaps to address</a:t>
            </a:r>
            <a:endParaRPr lang="en-US" sz="1000" dirty="0"/>
          </a:p>
        </p:txBody>
      </p:sp>
      <p:sp>
        <p:nvSpPr>
          <p:cNvPr id="35" name="Shape 33"/>
          <p:cNvSpPr/>
          <p:nvPr/>
        </p:nvSpPr>
        <p:spPr>
          <a:xfrm>
            <a:off x="6263523" y="5084763"/>
            <a:ext cx="5273047" cy="828080"/>
          </a:xfrm>
          <a:prstGeom prst="roundRect">
            <a:avLst>
              <a:gd name="adj" fmla="val 2397"/>
            </a:avLst>
          </a:prstGeom>
          <a:solidFill>
            <a:srgbClr val="B6FCB8"/>
          </a:solidFill>
          <a:ln/>
        </p:spPr>
        <p:txBody>
          <a:bodyPr/>
          <a:lstStyle/>
          <a:p>
            <a:endParaRPr lang="en-US"/>
          </a:p>
        </p:txBody>
      </p:sp>
      <p:pic>
        <p:nvPicPr>
          <p:cNvPr id="36" name="Image 0" descr="preencoded.png"/>
          <p:cNvPicPr>
            <a:picLocks noChangeAspect="1"/>
          </p:cNvPicPr>
          <p:nvPr/>
        </p:nvPicPr>
        <p:blipFill>
          <a:blip r:embed="rId3"/>
          <a:stretch>
            <a:fillRect/>
          </a:stretch>
        </p:blipFill>
        <p:spPr>
          <a:xfrm>
            <a:off x="6395778" y="5241131"/>
            <a:ext cx="165294" cy="132259"/>
          </a:xfrm>
          <a:prstGeom prst="rect">
            <a:avLst/>
          </a:prstGeom>
        </p:spPr>
      </p:pic>
      <p:sp>
        <p:nvSpPr>
          <p:cNvPr id="37" name="Text 34"/>
          <p:cNvSpPr/>
          <p:nvPr/>
        </p:nvSpPr>
        <p:spPr>
          <a:xfrm>
            <a:off x="6693328" y="5213052"/>
            <a:ext cx="4710987" cy="571500"/>
          </a:xfrm>
          <a:prstGeom prst="rect">
            <a:avLst/>
          </a:prstGeom>
          <a:noFill/>
          <a:ln/>
        </p:spPr>
        <p:txBody>
          <a:bodyPr wrap="square" lIns="0" tIns="0" rIns="0" bIns="0" rtlCol="0" anchor="t">
            <a:normAutofit/>
          </a:bodyPr>
          <a:lstStyle/>
          <a:p>
            <a:pPr marL="0" indent="0" algn="l">
              <a:lnSpc>
                <a:spcPct val="120000"/>
              </a:lnSpc>
              <a:buNone/>
            </a:pPr>
            <a:r>
              <a:rPr lang="en-US" sz="1000" b="1" dirty="0">
                <a:solidFill>
                  <a:srgbClr val="000000"/>
                </a:solidFill>
                <a:latin typeface="Heebo Bold" pitchFamily="34" charset="0"/>
                <a:ea typeface="Heebo Bold" pitchFamily="34" charset="-122"/>
                <a:cs typeface="Heebo Bold" pitchFamily="34" charset="-120"/>
              </a:rPr>
              <a:t>Critical Success Factor:</a:t>
            </a:r>
            <a:r>
              <a:rPr lang="en-US" sz="1000" dirty="0">
                <a:solidFill>
                  <a:srgbClr val="000000"/>
                </a:solidFill>
                <a:latin typeface="Heebo" pitchFamily="34" charset="0"/>
                <a:ea typeface="Heebo" pitchFamily="34" charset="-122"/>
                <a:cs typeface="Heebo" pitchFamily="34" charset="-120"/>
              </a:rPr>
              <a:t> The organization's investment in preparation — IR plan, trained team, and tested backups — enabled effective response and prevented catastrophic data loss.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1323082"/>
            <a:ext cx="1470385" cy="251420"/>
          </a:xfrm>
          <a:prstGeom prst="roundRect">
            <a:avLst>
              <a:gd name="adj" fmla="val 7894"/>
            </a:avLst>
          </a:prstGeom>
          <a:noFill/>
          <a:ln w="6350">
            <a:solidFill>
              <a:srgbClr val="2150FE"/>
            </a:solidFill>
            <a:prstDash val="solid"/>
          </a:ln>
        </p:spPr>
        <p:txBody>
          <a:bodyPr/>
          <a:lstStyle/>
          <a:p>
            <a:endParaRPr lang="en-US"/>
          </a:p>
        </p:txBody>
      </p:sp>
      <p:sp>
        <p:nvSpPr>
          <p:cNvPr id="3" name="Text 1"/>
          <p:cNvSpPr/>
          <p:nvPr/>
        </p:nvSpPr>
        <p:spPr>
          <a:xfrm>
            <a:off x="760691" y="1372691"/>
            <a:ext cx="1881537" cy="152202"/>
          </a:xfrm>
          <a:prstGeom prst="rect">
            <a:avLst/>
          </a:prstGeom>
          <a:noFill/>
          <a:ln/>
        </p:spPr>
        <p:txBody>
          <a:bodyPr wrap="none" lIns="0" tIns="0" rIns="0" bIns="0" rtlCol="0" anchor="t"/>
          <a:lstStyle/>
          <a:p>
            <a:pPr marL="0" indent="0" algn="l">
              <a:lnSpc>
                <a:spcPct val="96000"/>
              </a:lnSpc>
              <a:buNone/>
            </a:pPr>
            <a:r>
              <a:rPr lang="en-US" sz="1000" dirty="0">
                <a:solidFill>
                  <a:srgbClr val="2150FE"/>
                </a:solidFill>
                <a:latin typeface="Heebo" pitchFamily="34" charset="0"/>
                <a:ea typeface="Heebo" pitchFamily="34" charset="-122"/>
                <a:cs typeface="Heebo" pitchFamily="34" charset="-120"/>
              </a:rPr>
              <a:t>WEEK 20 · SUMMARY</a:t>
            </a:r>
            <a:endParaRPr lang="en-US" sz="1000" dirty="0"/>
          </a:p>
        </p:txBody>
      </p:sp>
      <p:sp>
        <p:nvSpPr>
          <p:cNvPr id="4" name="Text 2"/>
          <p:cNvSpPr/>
          <p:nvPr/>
        </p:nvSpPr>
        <p:spPr>
          <a:xfrm>
            <a:off x="661475" y="1640582"/>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2D47"/>
                </a:solidFill>
                <a:latin typeface="Crimson Pro SemiBold" pitchFamily="34" charset="0"/>
                <a:ea typeface="Crimson Pro SemiBold" pitchFamily="34" charset="-122"/>
                <a:cs typeface="Crimson Pro SemiBold" pitchFamily="34" charset="-120"/>
              </a:rPr>
              <a:t>Summary and Key Takeaways</a:t>
            </a:r>
            <a:endParaRPr lang="en-US" sz="3250" dirty="0"/>
          </a:p>
        </p:txBody>
      </p:sp>
      <p:sp>
        <p:nvSpPr>
          <p:cNvPr id="5" name="Shape 3"/>
          <p:cNvSpPr/>
          <p:nvPr/>
        </p:nvSpPr>
        <p:spPr>
          <a:xfrm>
            <a:off x="661475" y="2405360"/>
            <a:ext cx="5351725" cy="1482130"/>
          </a:xfrm>
          <a:prstGeom prst="roundRect">
            <a:avLst>
              <a:gd name="adj" fmla="val 1674"/>
            </a:avLst>
          </a:prstGeom>
          <a:solidFill>
            <a:srgbClr val="F2EEEE"/>
          </a:solidFill>
          <a:ln/>
        </p:spPr>
        <p:txBody>
          <a:bodyPr/>
          <a:lstStyle/>
          <a:p>
            <a:endParaRPr lang="en-US"/>
          </a:p>
        </p:txBody>
      </p:sp>
      <p:sp>
        <p:nvSpPr>
          <p:cNvPr id="6" name="Text 4"/>
          <p:cNvSpPr/>
          <p:nvPr/>
        </p:nvSpPr>
        <p:spPr>
          <a:xfrm>
            <a:off x="826769" y="2570659"/>
            <a:ext cx="502113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NIST IR Lifecycle</a:t>
            </a:r>
            <a:endParaRPr lang="en-US" sz="1600" dirty="0"/>
          </a:p>
        </p:txBody>
      </p:sp>
      <p:sp>
        <p:nvSpPr>
          <p:cNvPr id="7" name="Text 5"/>
          <p:cNvSpPr/>
          <p:nvPr/>
        </p:nvSpPr>
        <p:spPr>
          <a:xfrm>
            <a:off x="826769" y="2928342"/>
            <a:ext cx="502113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Four phases — Preparation, Detection &amp; Analysis, Containment/Eradication/Recovery, and Post-Incident Activity — form the backbone of every effective IR program.</a:t>
            </a:r>
            <a:endParaRPr lang="en-US" sz="1300" dirty="0"/>
          </a:p>
        </p:txBody>
      </p:sp>
      <p:sp>
        <p:nvSpPr>
          <p:cNvPr id="8" name="Shape 6"/>
          <p:cNvSpPr/>
          <p:nvPr/>
        </p:nvSpPr>
        <p:spPr>
          <a:xfrm>
            <a:off x="6178495" y="2405360"/>
            <a:ext cx="5351725" cy="1482130"/>
          </a:xfrm>
          <a:prstGeom prst="roundRect">
            <a:avLst>
              <a:gd name="adj" fmla="val 1674"/>
            </a:avLst>
          </a:prstGeom>
          <a:solidFill>
            <a:srgbClr val="F2EEEE"/>
          </a:solidFill>
          <a:ln/>
        </p:spPr>
        <p:txBody>
          <a:bodyPr/>
          <a:lstStyle/>
          <a:p>
            <a:endParaRPr lang="en-US"/>
          </a:p>
        </p:txBody>
      </p:sp>
      <p:sp>
        <p:nvSpPr>
          <p:cNvPr id="9" name="Text 7"/>
          <p:cNvSpPr/>
          <p:nvPr/>
        </p:nvSpPr>
        <p:spPr>
          <a:xfrm>
            <a:off x="6343789" y="2570659"/>
            <a:ext cx="502113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Preparation Phase</a:t>
            </a:r>
            <a:endParaRPr lang="en-US" sz="1600" dirty="0"/>
          </a:p>
        </p:txBody>
      </p:sp>
      <p:sp>
        <p:nvSpPr>
          <p:cNvPr id="10" name="Text 8"/>
          <p:cNvSpPr/>
          <p:nvPr/>
        </p:nvSpPr>
        <p:spPr>
          <a:xfrm>
            <a:off x="6343789" y="2928342"/>
            <a:ext cx="502113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Team establishment, documented policies, deployed tools, and training form the critical foundation for all subsequent response capability.</a:t>
            </a:r>
            <a:endParaRPr lang="en-US" sz="1300" dirty="0"/>
          </a:p>
        </p:txBody>
      </p:sp>
      <p:sp>
        <p:nvSpPr>
          <p:cNvPr id="11" name="Shape 9"/>
          <p:cNvSpPr/>
          <p:nvPr/>
        </p:nvSpPr>
        <p:spPr>
          <a:xfrm>
            <a:off x="661475" y="4052788"/>
            <a:ext cx="5351725" cy="1482130"/>
          </a:xfrm>
          <a:prstGeom prst="roundRect">
            <a:avLst>
              <a:gd name="adj" fmla="val 1674"/>
            </a:avLst>
          </a:prstGeom>
          <a:solidFill>
            <a:srgbClr val="F2EEEE"/>
          </a:solidFill>
          <a:ln/>
        </p:spPr>
        <p:txBody>
          <a:bodyPr/>
          <a:lstStyle/>
          <a:p>
            <a:endParaRPr lang="en-US"/>
          </a:p>
        </p:txBody>
      </p:sp>
      <p:sp>
        <p:nvSpPr>
          <p:cNvPr id="12" name="Text 10"/>
          <p:cNvSpPr/>
          <p:nvPr/>
        </p:nvSpPr>
        <p:spPr>
          <a:xfrm>
            <a:off x="826769" y="4218087"/>
            <a:ext cx="502113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Detection and Analysis</a:t>
            </a:r>
            <a:endParaRPr lang="en-US" sz="1600" dirty="0"/>
          </a:p>
        </p:txBody>
      </p:sp>
      <p:sp>
        <p:nvSpPr>
          <p:cNvPr id="13" name="Text 11"/>
          <p:cNvSpPr/>
          <p:nvPr/>
        </p:nvSpPr>
        <p:spPr>
          <a:xfrm>
            <a:off x="826769" y="4575770"/>
            <a:ext cx="502113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Systematic monitoring, accurate classification, severity prioritization, and disciplined documentation enable timely and effective incident response.</a:t>
            </a:r>
            <a:endParaRPr lang="en-US" sz="1300" dirty="0"/>
          </a:p>
        </p:txBody>
      </p:sp>
      <p:sp>
        <p:nvSpPr>
          <p:cNvPr id="14" name="Shape 12"/>
          <p:cNvSpPr/>
          <p:nvPr/>
        </p:nvSpPr>
        <p:spPr>
          <a:xfrm>
            <a:off x="6178495" y="4052788"/>
            <a:ext cx="5351725" cy="1482130"/>
          </a:xfrm>
          <a:prstGeom prst="roundRect">
            <a:avLst>
              <a:gd name="adj" fmla="val 1674"/>
            </a:avLst>
          </a:prstGeom>
          <a:solidFill>
            <a:srgbClr val="F2EEEE"/>
          </a:solidFill>
          <a:ln/>
        </p:spPr>
        <p:txBody>
          <a:bodyPr/>
          <a:lstStyle/>
          <a:p>
            <a:endParaRPr lang="en-US"/>
          </a:p>
        </p:txBody>
      </p:sp>
      <p:sp>
        <p:nvSpPr>
          <p:cNvPr id="15" name="Text 13"/>
          <p:cNvSpPr/>
          <p:nvPr/>
        </p:nvSpPr>
        <p:spPr>
          <a:xfrm>
            <a:off x="6343789" y="4218087"/>
            <a:ext cx="5021137" cy="258465"/>
          </a:xfrm>
          <a:prstGeom prst="rect">
            <a:avLst/>
          </a:prstGeom>
          <a:noFill/>
          <a:ln/>
        </p:spPr>
        <p:txBody>
          <a:bodyPr wrap="none" lIns="0" tIns="0" rIns="0" bIns="0" rtlCol="0" anchor="t"/>
          <a:lstStyle/>
          <a:p>
            <a:pPr marL="0" indent="0" algn="l">
              <a:lnSpc>
                <a:spcPct val="104000"/>
              </a:lnSpc>
              <a:buNone/>
            </a:pPr>
            <a:r>
              <a:rPr lang="en-US" sz="1600" dirty="0">
                <a:solidFill>
                  <a:srgbClr val="4C4C4D"/>
                </a:solidFill>
                <a:latin typeface="Crimson Pro SemiBold" pitchFamily="34" charset="0"/>
                <a:ea typeface="Crimson Pro SemiBold" pitchFamily="34" charset="-122"/>
                <a:cs typeface="Crimson Pro SemiBold" pitchFamily="34" charset="-120"/>
              </a:rPr>
              <a:t>Containment to Post-Incident</a:t>
            </a:r>
            <a:endParaRPr lang="en-US" sz="1600" dirty="0"/>
          </a:p>
        </p:txBody>
      </p:sp>
      <p:sp>
        <p:nvSpPr>
          <p:cNvPr id="16" name="Text 14"/>
          <p:cNvSpPr/>
          <p:nvPr/>
        </p:nvSpPr>
        <p:spPr>
          <a:xfrm>
            <a:off x="6343789" y="4575770"/>
            <a:ext cx="502113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D"/>
                </a:solidFill>
                <a:latin typeface="Heebo" pitchFamily="34" charset="0"/>
                <a:ea typeface="Heebo" pitchFamily="34" charset="-122"/>
                <a:cs typeface="Heebo" pitchFamily="34" charset="-120"/>
              </a:rPr>
              <a:t>Isolation, eradication, recovery, and lessons learned create a continuous improvement cycle that strengthens organizational security posture over time.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1475" y="590451"/>
            <a:ext cx="1268381" cy="201116"/>
          </a:xfrm>
          <a:prstGeom prst="roundRect">
            <a:avLst>
              <a:gd name="adj" fmla="val 7895"/>
            </a:avLst>
          </a:prstGeom>
          <a:solidFill>
            <a:srgbClr val="CCD7FF"/>
          </a:solidFill>
          <a:ln/>
        </p:spPr>
        <p:txBody>
          <a:bodyPr/>
          <a:lstStyle/>
          <a:p>
            <a:endParaRPr lang="en-US"/>
          </a:p>
        </p:txBody>
      </p:sp>
      <p:sp>
        <p:nvSpPr>
          <p:cNvPr id="3" name="Text 1"/>
          <p:cNvSpPr/>
          <p:nvPr/>
        </p:nvSpPr>
        <p:spPr>
          <a:xfrm>
            <a:off x="740848" y="630138"/>
            <a:ext cx="1719219" cy="121741"/>
          </a:xfrm>
          <a:prstGeom prst="rect">
            <a:avLst/>
          </a:prstGeom>
          <a:noFill/>
          <a:ln/>
        </p:spPr>
        <p:txBody>
          <a:bodyPr wrap="none" lIns="0" tIns="0" rIns="0" bIns="0" rtlCol="0" anchor="t"/>
          <a:lstStyle/>
          <a:p>
            <a:pPr marL="0" indent="0" algn="l">
              <a:lnSpc>
                <a:spcPct val="96000"/>
              </a:lnSpc>
              <a:buNone/>
            </a:pPr>
            <a:r>
              <a:rPr lang="en-US" sz="800" dirty="0">
                <a:solidFill>
                  <a:srgbClr val="4C4C4D"/>
                </a:solidFill>
                <a:latin typeface="Heebo" pitchFamily="34" charset="0"/>
                <a:ea typeface="Heebo" pitchFamily="34" charset="-122"/>
                <a:cs typeface="Heebo" pitchFamily="34" charset="-120"/>
              </a:rPr>
              <a:t>WEEK 20 · NEXT STEPS</a:t>
            </a:r>
            <a:endParaRPr lang="en-US" sz="800" dirty="0"/>
          </a:p>
        </p:txBody>
      </p:sp>
      <p:sp>
        <p:nvSpPr>
          <p:cNvPr id="4" name="Text 2"/>
          <p:cNvSpPr/>
          <p:nvPr/>
        </p:nvSpPr>
        <p:spPr>
          <a:xfrm>
            <a:off x="661475" y="833834"/>
            <a:ext cx="10868745" cy="413445"/>
          </a:xfrm>
          <a:prstGeom prst="rect">
            <a:avLst/>
          </a:prstGeom>
          <a:noFill/>
          <a:ln/>
        </p:spPr>
        <p:txBody>
          <a:bodyPr wrap="none" lIns="0" tIns="0" rIns="0" bIns="0" rtlCol="0" anchor="t"/>
          <a:lstStyle/>
          <a:p>
            <a:pPr marL="0" indent="0" algn="l">
              <a:lnSpc>
                <a:spcPct val="104000"/>
              </a:lnSpc>
              <a:buNone/>
            </a:pPr>
            <a:r>
              <a:rPr lang="en-US" sz="2600" dirty="0">
                <a:solidFill>
                  <a:srgbClr val="152D47"/>
                </a:solidFill>
                <a:latin typeface="Crimson Pro SemiBold" pitchFamily="34" charset="0"/>
                <a:ea typeface="Crimson Pro SemiBold" pitchFamily="34" charset="-122"/>
                <a:cs typeface="Crimson Pro SemiBold" pitchFamily="34" charset="-120"/>
              </a:rPr>
              <a:t>Practical Exercises and What's Coming Next</a:t>
            </a:r>
            <a:endParaRPr lang="en-US" sz="2600" dirty="0"/>
          </a:p>
        </p:txBody>
      </p:sp>
      <p:sp>
        <p:nvSpPr>
          <p:cNvPr id="5" name="Shape 3"/>
          <p:cNvSpPr/>
          <p:nvPr/>
        </p:nvSpPr>
        <p:spPr>
          <a:xfrm>
            <a:off x="566227" y="1406029"/>
            <a:ext cx="5463542" cy="4861421"/>
          </a:xfrm>
          <a:prstGeom prst="roundRect">
            <a:avLst>
              <a:gd name="adj" fmla="val 408"/>
            </a:avLst>
          </a:prstGeom>
          <a:solidFill>
            <a:srgbClr val="2150FE"/>
          </a:solidFill>
          <a:ln/>
        </p:spPr>
        <p:txBody>
          <a:bodyPr/>
          <a:lstStyle/>
          <a:p>
            <a:endParaRPr lang="en-US"/>
          </a:p>
        </p:txBody>
      </p:sp>
      <p:sp>
        <p:nvSpPr>
          <p:cNvPr id="6" name="Text 4"/>
          <p:cNvSpPr/>
          <p:nvPr/>
        </p:nvSpPr>
        <p:spPr>
          <a:xfrm>
            <a:off x="698483" y="1511796"/>
            <a:ext cx="5199032" cy="206673"/>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Crimson Pro SemiBold" pitchFamily="34" charset="0"/>
                <a:ea typeface="Crimson Pro SemiBold" pitchFamily="34" charset="-122"/>
                <a:cs typeface="Crimson Pro SemiBold" pitchFamily="34" charset="-120"/>
              </a:rPr>
              <a:t>Week 20 Practical Exercises</a:t>
            </a:r>
            <a:endParaRPr lang="en-US" sz="13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483" y="1837531"/>
            <a:ext cx="5199032" cy="1366441"/>
          </a:xfrm>
          <a:prstGeom prst="rect">
            <a:avLst/>
          </a:prstGeom>
        </p:spPr>
      </p:pic>
      <p:sp>
        <p:nvSpPr>
          <p:cNvPr id="8" name="Text 5"/>
          <p:cNvSpPr/>
          <p:nvPr/>
        </p:nvSpPr>
        <p:spPr>
          <a:xfrm>
            <a:off x="3198732" y="1930995"/>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Crimson Pro SemiBold" pitchFamily="34" charset="0"/>
                <a:ea typeface="Crimson Pro SemiBold" pitchFamily="34" charset="-122"/>
                <a:cs typeface="Crimson Pro SemiBold" pitchFamily="34" charset="-120"/>
              </a:rPr>
              <a:t>1</a:t>
            </a:r>
            <a:endParaRPr lang="en-US" sz="1550" dirty="0"/>
          </a:p>
        </p:txBody>
      </p:sp>
      <p:sp>
        <p:nvSpPr>
          <p:cNvPr id="9" name="Text 6"/>
          <p:cNvSpPr/>
          <p:nvPr/>
        </p:nvSpPr>
        <p:spPr>
          <a:xfrm>
            <a:off x="849787" y="2359223"/>
            <a:ext cx="4896422" cy="206673"/>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Crimson Pro SemiBold" pitchFamily="34" charset="0"/>
                <a:ea typeface="Crimson Pro SemiBold" pitchFamily="34" charset="-122"/>
                <a:cs typeface="Crimson Pro SemiBold" pitchFamily="34" charset="-120"/>
              </a:rPr>
              <a:t>IR Policy Outline</a:t>
            </a:r>
            <a:endParaRPr lang="en-US" sz="1300" dirty="0"/>
          </a:p>
        </p:txBody>
      </p:sp>
      <p:sp>
        <p:nvSpPr>
          <p:cNvPr id="10" name="Text 7"/>
          <p:cNvSpPr/>
          <p:nvPr/>
        </p:nvSpPr>
        <p:spPr>
          <a:xfrm>
            <a:off x="849787" y="2671663"/>
            <a:ext cx="4896422"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FFFFFF"/>
                </a:solidFill>
                <a:latin typeface="Heebo" pitchFamily="34" charset="0"/>
                <a:ea typeface="Heebo" pitchFamily="34" charset="-122"/>
                <a:cs typeface="Heebo" pitchFamily="34" charset="-120"/>
              </a:rPr>
              <a:t>Develop a comprehensive incident response policy outline for a fictional organization, including scope, objectives, and governance structure.</a:t>
            </a:r>
            <a:endParaRPr lang="en-US" sz="100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483" y="3309739"/>
            <a:ext cx="5199032" cy="1366441"/>
          </a:xfrm>
          <a:prstGeom prst="rect">
            <a:avLst/>
          </a:prstGeom>
        </p:spPr>
      </p:pic>
      <p:sp>
        <p:nvSpPr>
          <p:cNvPr id="12" name="Text 8"/>
          <p:cNvSpPr/>
          <p:nvPr/>
        </p:nvSpPr>
        <p:spPr>
          <a:xfrm>
            <a:off x="3198732" y="3403203"/>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Crimson Pro SemiBold" pitchFamily="34" charset="0"/>
                <a:ea typeface="Crimson Pro SemiBold" pitchFamily="34" charset="-122"/>
                <a:cs typeface="Crimson Pro SemiBold" pitchFamily="34" charset="-120"/>
              </a:rPr>
              <a:t>2</a:t>
            </a:r>
            <a:endParaRPr lang="en-US" sz="1550" dirty="0"/>
          </a:p>
        </p:txBody>
      </p:sp>
      <p:sp>
        <p:nvSpPr>
          <p:cNvPr id="13" name="Text 9"/>
          <p:cNvSpPr/>
          <p:nvPr/>
        </p:nvSpPr>
        <p:spPr>
          <a:xfrm>
            <a:off x="849787" y="3831431"/>
            <a:ext cx="4896422" cy="206673"/>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Crimson Pro SemiBold" pitchFamily="34" charset="0"/>
                <a:ea typeface="Crimson Pro SemiBold" pitchFamily="34" charset="-122"/>
                <a:cs typeface="Crimson Pro SemiBold" pitchFamily="34" charset="-120"/>
              </a:rPr>
              <a:t>RACI Matrix Design</a:t>
            </a:r>
            <a:endParaRPr lang="en-US" sz="1300" dirty="0"/>
          </a:p>
        </p:txBody>
      </p:sp>
      <p:sp>
        <p:nvSpPr>
          <p:cNvPr id="14" name="Text 10"/>
          <p:cNvSpPr/>
          <p:nvPr/>
        </p:nvSpPr>
        <p:spPr>
          <a:xfrm>
            <a:off x="849787" y="4143871"/>
            <a:ext cx="4896422"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FFFFFF"/>
                </a:solidFill>
                <a:latin typeface="Heebo" pitchFamily="34" charset="0"/>
                <a:ea typeface="Heebo" pitchFamily="34" charset="-122"/>
                <a:cs typeface="Heebo" pitchFamily="34" charset="-120"/>
              </a:rPr>
              <a:t>Create a detailed RACI matrix defining roles and accountability for each phase of the incident response lifecycle.</a:t>
            </a:r>
            <a:endParaRPr lang="en-US" sz="1000"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483" y="4781947"/>
            <a:ext cx="5199032" cy="1366441"/>
          </a:xfrm>
          <a:prstGeom prst="rect">
            <a:avLst/>
          </a:prstGeom>
        </p:spPr>
      </p:pic>
      <p:sp>
        <p:nvSpPr>
          <p:cNvPr id="16" name="Text 11"/>
          <p:cNvSpPr/>
          <p:nvPr/>
        </p:nvSpPr>
        <p:spPr>
          <a:xfrm>
            <a:off x="3198732" y="4875411"/>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Crimson Pro SemiBold" pitchFamily="34" charset="0"/>
                <a:ea typeface="Crimson Pro SemiBold" pitchFamily="34" charset="-122"/>
                <a:cs typeface="Crimson Pro SemiBold" pitchFamily="34" charset="-120"/>
              </a:rPr>
              <a:t>3</a:t>
            </a:r>
            <a:endParaRPr lang="en-US" sz="1550" dirty="0"/>
          </a:p>
        </p:txBody>
      </p:sp>
      <p:sp>
        <p:nvSpPr>
          <p:cNvPr id="17" name="Text 12"/>
          <p:cNvSpPr/>
          <p:nvPr/>
        </p:nvSpPr>
        <p:spPr>
          <a:xfrm>
            <a:off x="849787" y="5303639"/>
            <a:ext cx="4896422" cy="206673"/>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Crimson Pro SemiBold" pitchFamily="34" charset="0"/>
                <a:ea typeface="Crimson Pro SemiBold" pitchFamily="34" charset="-122"/>
                <a:cs typeface="Crimson Pro SemiBold" pitchFamily="34" charset="-120"/>
              </a:rPr>
              <a:t>Tabletop Scenario</a:t>
            </a:r>
            <a:endParaRPr lang="en-US" sz="1300" dirty="0"/>
          </a:p>
        </p:txBody>
      </p:sp>
      <p:sp>
        <p:nvSpPr>
          <p:cNvPr id="18" name="Text 13"/>
          <p:cNvSpPr/>
          <p:nvPr/>
        </p:nvSpPr>
        <p:spPr>
          <a:xfrm>
            <a:off x="849787" y="5616079"/>
            <a:ext cx="4896422"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FFFFFF"/>
                </a:solidFill>
                <a:latin typeface="Heebo" pitchFamily="34" charset="0"/>
                <a:ea typeface="Heebo" pitchFamily="34" charset="-122"/>
                <a:cs typeface="Heebo" pitchFamily="34" charset="-120"/>
              </a:rPr>
              <a:t>Design and facilitate a tabletop exercise scenario simulating a ransomware incident, including injects, discussion questions, and debrief structure.</a:t>
            </a:r>
            <a:endParaRPr lang="en-US" sz="1000" dirty="0"/>
          </a:p>
        </p:txBody>
      </p:sp>
      <p:sp>
        <p:nvSpPr>
          <p:cNvPr id="19" name="Text 14"/>
          <p:cNvSpPr/>
          <p:nvPr/>
        </p:nvSpPr>
        <p:spPr>
          <a:xfrm>
            <a:off x="6263523" y="1511796"/>
            <a:ext cx="5273047" cy="206673"/>
          </a:xfrm>
          <a:prstGeom prst="rect">
            <a:avLst/>
          </a:prstGeom>
          <a:noFill/>
          <a:ln/>
        </p:spPr>
        <p:txBody>
          <a:bodyPr wrap="none" lIns="0" tIns="0" rIns="0" bIns="0" rtlCol="0" anchor="t"/>
          <a:lstStyle/>
          <a:p>
            <a:pPr marL="0" indent="0" algn="l">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Week 21 Preview: Business Continuity Planning</a:t>
            </a:r>
            <a:endParaRPr lang="en-US" sz="1300" dirty="0"/>
          </a:p>
        </p:txBody>
      </p:sp>
      <p:pic>
        <p:nvPicPr>
          <p:cNvPr id="2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3131" y="1841599"/>
            <a:ext cx="198433" cy="198438"/>
          </a:xfrm>
          <a:prstGeom prst="rect">
            <a:avLst/>
          </a:prstGeom>
        </p:spPr>
      </p:pic>
      <p:sp>
        <p:nvSpPr>
          <p:cNvPr id="21" name="Text 15"/>
          <p:cNvSpPr/>
          <p:nvPr/>
        </p:nvSpPr>
        <p:spPr>
          <a:xfrm>
            <a:off x="6693427" y="1837531"/>
            <a:ext cx="2140492" cy="206673"/>
          </a:xfrm>
          <a:prstGeom prst="rect">
            <a:avLst/>
          </a:prstGeom>
          <a:noFill/>
          <a:ln/>
        </p:spPr>
        <p:txBody>
          <a:bodyPr wrap="none" lIns="0" tIns="0" rIns="0" bIns="0" rtlCol="0" anchor="t"/>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Business Impact Analysis (BIA)</a:t>
            </a:r>
            <a:endParaRPr lang="en-US" sz="1300" dirty="0"/>
          </a:p>
        </p:txBody>
      </p:sp>
      <p:sp>
        <p:nvSpPr>
          <p:cNvPr id="22" name="Text 16"/>
          <p:cNvSpPr/>
          <p:nvPr/>
        </p:nvSpPr>
        <p:spPr>
          <a:xfrm>
            <a:off x="6693427" y="2149971"/>
            <a:ext cx="2140492" cy="762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Identify critical business functions and quantify the impact of disruption on operations and revenue.</a:t>
            </a:r>
            <a:endParaRPr lang="en-US" sz="1000"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15782" y="1841599"/>
            <a:ext cx="198433" cy="198438"/>
          </a:xfrm>
          <a:prstGeom prst="rect">
            <a:avLst/>
          </a:prstGeom>
        </p:spPr>
      </p:pic>
      <p:sp>
        <p:nvSpPr>
          <p:cNvPr id="24" name="Text 17"/>
          <p:cNvSpPr/>
          <p:nvPr/>
        </p:nvSpPr>
        <p:spPr>
          <a:xfrm>
            <a:off x="9396078" y="1837531"/>
            <a:ext cx="2140492" cy="413345"/>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Recovery Time Objectives (RTO)</a:t>
            </a:r>
            <a:endParaRPr lang="en-US" sz="1300" dirty="0"/>
          </a:p>
        </p:txBody>
      </p:sp>
      <p:sp>
        <p:nvSpPr>
          <p:cNvPr id="25" name="Text 18"/>
          <p:cNvSpPr/>
          <p:nvPr/>
        </p:nvSpPr>
        <p:spPr>
          <a:xfrm>
            <a:off x="9396078" y="2356644"/>
            <a:ext cx="2140492" cy="5715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Define maximum acceptable downtime thresholds for each critical system and process.</a:t>
            </a:r>
            <a:endParaRPr lang="en-US" sz="1000" dirty="0"/>
          </a:p>
        </p:txBody>
      </p:sp>
      <p:pic>
        <p:nvPicPr>
          <p:cNvPr id="26"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3131" y="3143845"/>
            <a:ext cx="198433" cy="198438"/>
          </a:xfrm>
          <a:prstGeom prst="rect">
            <a:avLst/>
          </a:prstGeom>
        </p:spPr>
      </p:pic>
      <p:sp>
        <p:nvSpPr>
          <p:cNvPr id="27" name="Text 19"/>
          <p:cNvSpPr/>
          <p:nvPr/>
        </p:nvSpPr>
        <p:spPr>
          <a:xfrm>
            <a:off x="6693427" y="3139777"/>
            <a:ext cx="2140492" cy="413345"/>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Recovery Point Objectives (RPO)</a:t>
            </a:r>
            <a:endParaRPr lang="en-US" sz="1300" dirty="0"/>
          </a:p>
        </p:txBody>
      </p:sp>
      <p:sp>
        <p:nvSpPr>
          <p:cNvPr id="28" name="Text 20"/>
          <p:cNvSpPr/>
          <p:nvPr/>
        </p:nvSpPr>
        <p:spPr>
          <a:xfrm>
            <a:off x="6693427" y="3658890"/>
            <a:ext cx="2140492" cy="5715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Establish acceptable data loss parameters to guide backup frequency and recovery strategies.</a:t>
            </a:r>
            <a:endParaRPr lang="en-US" sz="1000" dirty="0"/>
          </a:p>
        </p:txBody>
      </p:sp>
      <p:pic>
        <p:nvPicPr>
          <p:cNvPr id="29"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15782" y="3143845"/>
            <a:ext cx="198433" cy="198438"/>
          </a:xfrm>
          <a:prstGeom prst="rect">
            <a:avLst/>
          </a:prstGeom>
        </p:spPr>
      </p:pic>
      <p:sp>
        <p:nvSpPr>
          <p:cNvPr id="30" name="Text 21"/>
          <p:cNvSpPr/>
          <p:nvPr/>
        </p:nvSpPr>
        <p:spPr>
          <a:xfrm>
            <a:off x="9396078" y="3139777"/>
            <a:ext cx="2140492" cy="413345"/>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Continuity Strategies and IR Integration</a:t>
            </a:r>
            <a:endParaRPr lang="en-US" sz="1300" dirty="0"/>
          </a:p>
        </p:txBody>
      </p:sp>
      <p:sp>
        <p:nvSpPr>
          <p:cNvPr id="31" name="Text 22"/>
          <p:cNvSpPr/>
          <p:nvPr/>
        </p:nvSpPr>
        <p:spPr>
          <a:xfrm>
            <a:off x="9396078" y="3658890"/>
            <a:ext cx="2140492" cy="762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C4C4D"/>
                </a:solidFill>
                <a:latin typeface="Heebo" pitchFamily="34" charset="0"/>
                <a:ea typeface="Heebo" pitchFamily="34" charset="-122"/>
                <a:cs typeface="Heebo" pitchFamily="34" charset="-120"/>
              </a:rPr>
              <a:t>Develop continuity plans and explore how BCP and IR planning work together to ensure organizational resilience.</a:t>
            </a:r>
            <a:endParaRPr lang="en-US" sz="1000" dirty="0"/>
          </a:p>
        </p:txBody>
      </p:sp>
      <p:sp>
        <p:nvSpPr>
          <p:cNvPr id="32" name="Shape 23"/>
          <p:cNvSpPr/>
          <p:nvPr/>
        </p:nvSpPr>
        <p:spPr>
          <a:xfrm>
            <a:off x="6263523" y="4539952"/>
            <a:ext cx="5273047" cy="637580"/>
          </a:xfrm>
          <a:prstGeom prst="roundRect">
            <a:avLst>
              <a:gd name="adj" fmla="val 3113"/>
            </a:avLst>
          </a:prstGeom>
          <a:solidFill>
            <a:srgbClr val="CCD7FF"/>
          </a:solidFill>
          <a:ln/>
        </p:spPr>
        <p:txBody>
          <a:bodyPr/>
          <a:lstStyle/>
          <a:p>
            <a:endParaRPr lang="en-US"/>
          </a:p>
        </p:txBody>
      </p:sp>
      <p:pic>
        <p:nvPicPr>
          <p:cNvPr id="33" name="Image 7" descr="preencoded.png"/>
          <p:cNvPicPr>
            <a:picLocks noChangeAspect="1"/>
          </p:cNvPicPr>
          <p:nvPr/>
        </p:nvPicPr>
        <p:blipFill>
          <a:blip r:embed="rId5"/>
          <a:stretch>
            <a:fillRect/>
          </a:stretch>
        </p:blipFill>
        <p:spPr>
          <a:xfrm>
            <a:off x="6395778" y="4696321"/>
            <a:ext cx="165294" cy="132259"/>
          </a:xfrm>
          <a:prstGeom prst="rect">
            <a:avLst/>
          </a:prstGeom>
        </p:spPr>
      </p:pic>
      <p:sp>
        <p:nvSpPr>
          <p:cNvPr id="34" name="Text 24"/>
          <p:cNvSpPr/>
          <p:nvPr/>
        </p:nvSpPr>
        <p:spPr>
          <a:xfrm>
            <a:off x="6693328" y="4668242"/>
            <a:ext cx="4710987"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000000"/>
                </a:solidFill>
                <a:latin typeface="Heebo" pitchFamily="34" charset="0"/>
                <a:ea typeface="Heebo" pitchFamily="34" charset="-122"/>
                <a:cs typeface="Heebo" pitchFamily="34" charset="-120"/>
              </a:rPr>
              <a:t>GRC105 — Incident Management and Business Continuity · International Cybersecurity and Digital Forensics Academy · Week 20 Complete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2630</Words>
  <Application>Microsoft Office PowerPoint</Application>
  <PresentationFormat>Widescreen</PresentationFormat>
  <Paragraphs>346</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Heebo</vt:lpstr>
      <vt:lpstr>Crimson Pro SemiBold</vt:lpstr>
      <vt:lpstr>Crimson Pro Light</vt:lpstr>
      <vt:lpstr>Noto Color Emoji</vt:lpstr>
      <vt:lpstr>Heebo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Aminu Idris</cp:lastModifiedBy>
  <cp:revision>2</cp:revision>
  <dcterms:created xsi:type="dcterms:W3CDTF">2026-10-03T13:41:13Z</dcterms:created>
  <dcterms:modified xsi:type="dcterms:W3CDTF">2026-10-03T13:58:19Z</dcterms:modified>
</cp:coreProperties>
</file>