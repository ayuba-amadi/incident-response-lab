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12192000"/>
  <p:embeddedFontLst>
    <p:embeddedFont>
      <p:font typeface="Poppins" panose="00000500000000000000" pitchFamily="2" charset="0"/>
      <p:regular r:id="rId18"/>
      <p:bold r:id="rId19"/>
      <p:italic r:id="rId20"/>
    </p:embeddedFont>
    <p:embeddedFont>
      <p:font typeface="Poppins Bold" panose="00000800000000000000" charset="0"/>
      <p:regular r:id="rId21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3" d="100"/>
          <a:sy n="63" d="100"/>
        </p:scale>
        <p:origin x="78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1.fntdata"/><Relationship Id="rId3" Type="http://schemas.openxmlformats.org/officeDocument/2006/relationships/slide" Target="slides/slide2.xml"/><Relationship Id="rId21" Type="http://schemas.openxmlformats.org/officeDocument/2006/relationships/font" Target="fonts/font4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3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185876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svg"/><Relationship Id="rId7" Type="http://schemas.openxmlformats.org/officeDocument/2006/relationships/image" Target="../media/image9.sv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svg"/><Relationship Id="rId5" Type="http://schemas.openxmlformats.org/officeDocument/2006/relationships/image" Target="../media/image7.svg"/><Relationship Id="rId4" Type="http://schemas.openxmlformats.org/officeDocument/2006/relationships/image" Target="../media/image6.sv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svg"/><Relationship Id="rId3" Type="http://schemas.openxmlformats.org/officeDocument/2006/relationships/image" Target="../media/image16.svg"/><Relationship Id="rId7" Type="http://schemas.openxmlformats.org/officeDocument/2006/relationships/image" Target="../media/image20.sv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svg"/><Relationship Id="rId5" Type="http://schemas.openxmlformats.org/officeDocument/2006/relationships/image" Target="../media/image18.svg"/><Relationship Id="rId4" Type="http://schemas.openxmlformats.org/officeDocument/2006/relationships/image" Target="../media/image17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2765690"/>
            <a:ext cx="10868745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50" b="1" dirty="0">
                <a:solidFill>
                  <a:srgbClr val="666666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Business Continuity and Disaster Recovery</a:t>
            </a:r>
            <a:endParaRPr lang="en-US" sz="3250" dirty="0"/>
          </a:p>
        </p:txBody>
      </p:sp>
      <p:sp>
        <p:nvSpPr>
          <p:cNvPr id="3" name="Text 1"/>
          <p:cNvSpPr/>
          <p:nvPr/>
        </p:nvSpPr>
        <p:spPr>
          <a:xfrm>
            <a:off x="661475" y="3343259"/>
            <a:ext cx="10868745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666666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GRC205 — Incident Management and Business Continuity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61475" y="3841353"/>
            <a:ext cx="11478330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00206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International Cybersecurity and Digital Forensics Academy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629137"/>
            <a:ext cx="10868745" cy="9302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900" b="1" dirty="0">
                <a:solidFill>
                  <a:srgbClr val="666666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Building Organizational Resilience Through BC/DR Planning</a:t>
            </a:r>
            <a:endParaRPr lang="en-US" sz="2900" dirty="0"/>
          </a:p>
        </p:txBody>
      </p:sp>
      <p:sp>
        <p:nvSpPr>
          <p:cNvPr id="3" name="Shape 1"/>
          <p:cNvSpPr/>
          <p:nvPr/>
        </p:nvSpPr>
        <p:spPr>
          <a:xfrm>
            <a:off x="661475" y="1813421"/>
            <a:ext cx="1191488" cy="226219"/>
          </a:xfrm>
          <a:prstGeom prst="roundRect">
            <a:avLst>
              <a:gd name="adj" fmla="val 22109"/>
            </a:avLst>
          </a:prstGeom>
          <a:solidFill>
            <a:srgbClr val="CCF1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750769" y="1865108"/>
            <a:ext cx="1622484" cy="1369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900" dirty="0">
                <a:solidFill>
                  <a:srgbClr val="00206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WEEK 21 CONTEXT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61475" y="2190353"/>
            <a:ext cx="10868745" cy="9048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150" dirty="0">
                <a:solidFill>
                  <a:srgbClr val="00206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This week transitions from </a:t>
            </a:r>
            <a:r>
              <a:rPr lang="en-US" sz="1150" b="1" dirty="0">
                <a:solidFill>
                  <a:srgbClr val="002060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reactive incident response</a:t>
            </a:r>
            <a:r>
              <a:rPr lang="en-US" sz="1150" dirty="0">
                <a:solidFill>
                  <a:srgbClr val="00206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to </a:t>
            </a:r>
            <a:r>
              <a:rPr lang="en-US" sz="1150" b="1" dirty="0">
                <a:solidFill>
                  <a:srgbClr val="002060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proactive business continuity and disaster recovery planning</a:t>
            </a:r>
            <a:r>
              <a:rPr lang="en-US" sz="1150" dirty="0">
                <a:solidFill>
                  <a:srgbClr val="00206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. While incident response addresses security events after they occur, BC/DR ensures organizations can maintain critical operations during any disruption and recover quickly when systems fail. The distinction is crucial: incident response focuses on cybersecurity threats, while BC/DR addresses all potential disruptions — including natural disasters, technology failures, supply chain interruptions, and human errors.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554321" y="3245941"/>
            <a:ext cx="5467114" cy="2996704"/>
          </a:xfrm>
          <a:prstGeom prst="roundRect">
            <a:avLst>
              <a:gd name="adj" fmla="val 3576"/>
            </a:avLst>
          </a:prstGeom>
          <a:solidFill>
            <a:srgbClr val="00B0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03146" y="3388415"/>
            <a:ext cx="5169465" cy="2324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000000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Learning Objectives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703146" y="3746302"/>
            <a:ext cx="5169465" cy="24495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33680" indent="-233680" algn="l">
              <a:lnSpc>
                <a:spcPct val="127000"/>
              </a:lnSpc>
              <a:buSzPct val="100000"/>
              <a:buChar char="•"/>
            </a:pPr>
            <a:r>
              <a:rPr lang="en-US" sz="1150" dirty="0">
                <a:solidFill>
                  <a:srgbClr val="00206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Understand the relationship between BC, DR, and incident response within the broader GRC framework</a:t>
            </a:r>
            <a:endParaRPr lang="en-US" sz="1150" dirty="0"/>
          </a:p>
          <a:p>
            <a:pPr marL="233680" indent="-233680" algn="l">
              <a:lnSpc>
                <a:spcPct val="127000"/>
              </a:lnSpc>
              <a:buSzPct val="100000"/>
              <a:buChar char="•"/>
            </a:pPr>
            <a:r>
              <a:rPr lang="en-US" sz="1150" dirty="0">
                <a:solidFill>
                  <a:srgbClr val="00206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Master Business Impact Analysis (BIA) methodology to identify critical functions and recovery priorities</a:t>
            </a:r>
            <a:endParaRPr lang="en-US" sz="1150" dirty="0"/>
          </a:p>
          <a:p>
            <a:pPr marL="233680" indent="-233680" algn="l">
              <a:lnSpc>
                <a:spcPct val="127000"/>
              </a:lnSpc>
              <a:buSzPct val="100000"/>
              <a:buChar char="•"/>
            </a:pPr>
            <a:r>
              <a:rPr lang="en-US" sz="1150" dirty="0">
                <a:solidFill>
                  <a:srgbClr val="00206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Define and apply RTO and RPO to guide recovery strategy selection</a:t>
            </a:r>
            <a:endParaRPr lang="en-US" sz="1150" dirty="0"/>
          </a:p>
          <a:p>
            <a:pPr marL="233680" indent="-233680" algn="l">
              <a:lnSpc>
                <a:spcPct val="127000"/>
              </a:lnSpc>
              <a:buSzPct val="100000"/>
              <a:buChar char="•"/>
            </a:pPr>
            <a:r>
              <a:rPr lang="en-US" sz="1150" dirty="0">
                <a:solidFill>
                  <a:srgbClr val="00206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Develop comprehensive BC/DR plans aligned with NIST SP 800-34 and ISO 22301</a:t>
            </a:r>
            <a:endParaRPr lang="en-US" sz="1150" dirty="0"/>
          </a:p>
          <a:p>
            <a:pPr marL="233680" indent="-233680" algn="l">
              <a:lnSpc>
                <a:spcPct val="127000"/>
              </a:lnSpc>
              <a:buSzPct val="100000"/>
              <a:buChar char="•"/>
            </a:pPr>
            <a:r>
              <a:rPr lang="en-US" sz="1150" dirty="0">
                <a:solidFill>
                  <a:srgbClr val="00206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Implement effective testing and exercise programs to validate BC/DR capabilities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6283763" y="3388415"/>
            <a:ext cx="5252807" cy="2324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666666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Key Frameworks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6283763" y="3763070"/>
            <a:ext cx="2559383" cy="1154609"/>
          </a:xfrm>
          <a:prstGeom prst="roundRect">
            <a:avLst>
              <a:gd name="adj" fmla="val 5415"/>
            </a:avLst>
          </a:prstGeom>
          <a:solidFill>
            <a:srgbClr val="FFFFFF"/>
          </a:solidFill>
          <a:ln w="19050">
            <a:solidFill>
              <a:srgbClr val="B2D7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451637" y="3930948"/>
            <a:ext cx="2223635" cy="2324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002060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NIST SP 800-34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6451637" y="4297363"/>
            <a:ext cx="2223635" cy="4524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150" dirty="0">
                <a:solidFill>
                  <a:srgbClr val="00206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Contingency planning for federal information systems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8977088" y="3763070"/>
            <a:ext cx="2559482" cy="1154609"/>
          </a:xfrm>
          <a:prstGeom prst="roundRect">
            <a:avLst>
              <a:gd name="adj" fmla="val 5415"/>
            </a:avLst>
          </a:prstGeom>
          <a:solidFill>
            <a:srgbClr val="FFFFFF"/>
          </a:solidFill>
          <a:ln w="19050">
            <a:solidFill>
              <a:srgbClr val="B2D7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9144962" y="3930948"/>
            <a:ext cx="2223734" cy="2324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002060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ISO 22301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9144962" y="4297363"/>
            <a:ext cx="2223734" cy="4524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150" dirty="0">
                <a:solidFill>
                  <a:srgbClr val="00206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International BCMS standard for organizational resilience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283763" y="5051623"/>
            <a:ext cx="5252807" cy="928390"/>
          </a:xfrm>
          <a:prstGeom prst="roundRect">
            <a:avLst>
              <a:gd name="adj" fmla="val 6734"/>
            </a:avLst>
          </a:prstGeom>
          <a:solidFill>
            <a:srgbClr val="FFFFFF"/>
          </a:solidFill>
          <a:ln w="19050">
            <a:solidFill>
              <a:srgbClr val="B2D7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451637" y="5219502"/>
            <a:ext cx="4917059" cy="2324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002060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FEMA Continuity Planning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6451637" y="5585916"/>
            <a:ext cx="4917059" cy="2262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150" dirty="0">
                <a:solidFill>
                  <a:srgbClr val="00206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Federal guidance for continuity of operations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674304"/>
            <a:ext cx="10868745" cy="8268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600" b="1" dirty="0">
                <a:solidFill>
                  <a:srgbClr val="666666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Business Continuity and Disaster Recovery Serve Complementary But Distinct Purposes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66227" y="1645841"/>
            <a:ext cx="5463542" cy="3594298"/>
          </a:xfrm>
          <a:prstGeom prst="roundRect">
            <a:avLst>
              <a:gd name="adj" fmla="val 2650"/>
            </a:avLst>
          </a:prstGeom>
          <a:solidFill>
            <a:srgbClr val="00B0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698483" y="1757072"/>
            <a:ext cx="5199032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000000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Business Continuity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98483" y="2110383"/>
            <a:ext cx="5199032" cy="19050"/>
          </a:xfrm>
          <a:prstGeom prst="roundRect">
            <a:avLst>
              <a:gd name="adj" fmla="val 49999"/>
            </a:avLst>
          </a:prstGeom>
          <a:solidFill>
            <a:srgbClr val="002060">
              <a:alpha val="5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98483" y="2286999"/>
            <a:ext cx="5199032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000000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Scope &amp; Focus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98483" y="2593975"/>
            <a:ext cx="5199032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 dirty="0">
                <a:solidFill>
                  <a:srgbClr val="00206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Ensures the entire organization can continue delivering products and services during and after a disruption. Extends beyond IT to encompass all business functions including operations, supply chain, human resources, facilities, and communications.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98483" y="3467206"/>
            <a:ext cx="5199032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000000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Timing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98483" y="3774182"/>
            <a:ext cx="5199032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 dirty="0">
                <a:solidFill>
                  <a:srgbClr val="00206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Maintains functional level of operations </a:t>
            </a:r>
            <a:r>
              <a:rPr lang="en-US" sz="1000" b="1" dirty="0">
                <a:solidFill>
                  <a:srgbClr val="002060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before, during, and after</a:t>
            </a:r>
            <a:r>
              <a:rPr lang="en-US" sz="1000" dirty="0">
                <a:solidFill>
                  <a:srgbClr val="00206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an event through proactive planning and continuous execution throughout the incident lifecycle.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98483" y="4456913"/>
            <a:ext cx="5199032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000000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Primary Goal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98483" y="4763889"/>
            <a:ext cx="5199032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 dirty="0">
                <a:solidFill>
                  <a:srgbClr val="00206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Sustaining mission-critical business processes to minimize operational and financial impact across the entire organization.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263523" y="1757072"/>
            <a:ext cx="5273047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666666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Disaster Recovery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263523" y="2110383"/>
            <a:ext cx="5273047" cy="19050"/>
          </a:xfrm>
          <a:prstGeom prst="roundRect">
            <a:avLst>
              <a:gd name="adj" fmla="val 49999"/>
            </a:avLst>
          </a:prstGeom>
          <a:solidFill>
            <a:srgbClr val="002060">
              <a:alpha val="5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263523" y="2286999"/>
            <a:ext cx="5273047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666666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Scope &amp; Focus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263523" y="2593975"/>
            <a:ext cx="5273047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 dirty="0">
                <a:solidFill>
                  <a:srgbClr val="00206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Focuses specifically on recovering </a:t>
            </a:r>
            <a:r>
              <a:rPr lang="en-US" sz="1000" b="1" dirty="0">
                <a:solidFill>
                  <a:srgbClr val="002060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IT systems, data, and infrastructure</a:t>
            </a:r>
            <a:r>
              <a:rPr lang="en-US" sz="1000" dirty="0">
                <a:solidFill>
                  <a:srgbClr val="00206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after a disaster has occurred. Limited to technology components including servers, networks, applications, databases, and data centers.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263523" y="3276706"/>
            <a:ext cx="5273047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666666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Timing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263523" y="3583682"/>
            <a:ext cx="5273047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 dirty="0">
                <a:solidFill>
                  <a:srgbClr val="00206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Outlines the process to respond to an event when it occurs and restore normal operations. Timing begins </a:t>
            </a:r>
            <a:r>
              <a:rPr lang="en-US" sz="1000" b="1" dirty="0">
                <a:solidFill>
                  <a:srgbClr val="002060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after disruption</a:t>
            </a:r>
            <a:r>
              <a:rPr lang="en-US" sz="1000" dirty="0">
                <a:solidFill>
                  <a:srgbClr val="00206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has occurred and focuses on recovery execution.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263523" y="4266413"/>
            <a:ext cx="5273047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666666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Primary Goal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263523" y="4573389"/>
            <a:ext cx="5273047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 dirty="0">
                <a:solidFill>
                  <a:srgbClr val="00206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Restoring IT systems and infrastructure to enable business operations to resume with minimal data loss and downtime.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61475" y="5359202"/>
            <a:ext cx="10868745" cy="838597"/>
          </a:xfrm>
          <a:prstGeom prst="roundRect">
            <a:avLst>
              <a:gd name="adj" fmla="val 6627"/>
            </a:avLst>
          </a:prstGeom>
          <a:solidFill>
            <a:srgbClr val="CCF1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30" y="5515570"/>
            <a:ext cx="165294" cy="132259"/>
          </a:xfrm>
          <a:prstGeom prst="rect">
            <a:avLst/>
          </a:prstGeom>
        </p:spPr>
      </p:pic>
      <p:sp>
        <p:nvSpPr>
          <p:cNvPr id="22" name="Text 19"/>
          <p:cNvSpPr/>
          <p:nvPr/>
        </p:nvSpPr>
        <p:spPr>
          <a:xfrm>
            <a:off x="1091280" y="5498009"/>
            <a:ext cx="10306685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000000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Key Relationship:</a:t>
            </a:r>
            <a:r>
              <a:rPr lang="en-US" sz="1000" dirty="0">
                <a:solidFill>
                  <a:srgbClr val="000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Disaster recovery is a critical </a:t>
            </a:r>
            <a:r>
              <a:rPr lang="en-US" sz="1000" i="1" dirty="0">
                <a:solidFill>
                  <a:srgbClr val="000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subset</a:t>
            </a:r>
            <a:r>
              <a:rPr lang="en-US" sz="1000" dirty="0">
                <a:solidFill>
                  <a:srgbClr val="000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of business continuity. Effective BC cannot exist without robust DR capabilities, but DR alone is insufficient for comprehensive organizational resilience. Modern BC/DR programs integrate both disciplines into a unified framework addressing all potential disruptions.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12596"/>
            <a:ext cx="10868745" cy="8647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00" b="1" dirty="0">
                <a:solidFill>
                  <a:srgbClr val="666666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NIST SP 800-34: Seven-Step Contingency Planning Methodology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61475" y="1596430"/>
            <a:ext cx="10868745" cy="4065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1050" dirty="0">
                <a:solidFill>
                  <a:srgbClr val="00206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NIST Special Publication 800-34 Rev. 1 establishes the authoritative framework for contingency planning in federal information systems, widely adopted across public and private sectors. It encompasses the full lifecycle — from policy development through ongoing maintenance.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61475" y="2133203"/>
            <a:ext cx="276714" cy="1729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dirty="0">
                <a:solidFill>
                  <a:srgbClr val="00206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01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661475" y="2349202"/>
            <a:ext cx="3545692" cy="19050"/>
          </a:xfrm>
          <a:prstGeom prst="rect">
            <a:avLst/>
          </a:prstGeom>
          <a:solidFill>
            <a:srgbClr val="00B0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61475" y="2456458"/>
            <a:ext cx="3545692" cy="4321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002060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Develop Contingency Planning Policy Statement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661475" y="2958108"/>
            <a:ext cx="3545692" cy="6098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1050" dirty="0">
                <a:solidFill>
                  <a:srgbClr val="00206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Establish formal policy defining objectives, roles, resources, training, testing schedules, and maintenance requirements.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322952" y="2133203"/>
            <a:ext cx="276714" cy="1729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dirty="0">
                <a:solidFill>
                  <a:srgbClr val="00206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02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322952" y="2349202"/>
            <a:ext cx="3545692" cy="19050"/>
          </a:xfrm>
          <a:prstGeom prst="rect">
            <a:avLst/>
          </a:prstGeom>
          <a:solidFill>
            <a:srgbClr val="00B0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322952" y="2456458"/>
            <a:ext cx="3545692" cy="4321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002060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Conduct Business Impact Analysis (BIA)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4322952" y="2958108"/>
            <a:ext cx="3545692" cy="6098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1050" dirty="0">
                <a:solidFill>
                  <a:srgbClr val="00206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Identify critical IT systems by correlating them to mission processes; determine disruption impact to establish recovery priorities.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7984429" y="2133203"/>
            <a:ext cx="276714" cy="1729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dirty="0">
                <a:solidFill>
                  <a:srgbClr val="00206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03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7984429" y="2349202"/>
            <a:ext cx="3545692" cy="19050"/>
          </a:xfrm>
          <a:prstGeom prst="rect">
            <a:avLst/>
          </a:prstGeom>
          <a:solidFill>
            <a:srgbClr val="00B0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7984429" y="2456458"/>
            <a:ext cx="3545692" cy="2160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002060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Identify Preventive Controls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7984429" y="2742009"/>
            <a:ext cx="3545692" cy="6098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1050" dirty="0">
                <a:solidFill>
                  <a:srgbClr val="00206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Implement cost-effective controls — redundant systems, UPS, backup generators, and security controls — to reduce likelihood and impact.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661475" y="3787577"/>
            <a:ext cx="276714" cy="1729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dirty="0">
                <a:solidFill>
                  <a:srgbClr val="00206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04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61475" y="4003576"/>
            <a:ext cx="3545692" cy="19050"/>
          </a:xfrm>
          <a:prstGeom prst="rect">
            <a:avLst/>
          </a:prstGeom>
          <a:solidFill>
            <a:srgbClr val="00B0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61475" y="4110831"/>
            <a:ext cx="3545692" cy="2160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002060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Create Contingency Strategies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661475" y="4396383"/>
            <a:ext cx="3545692" cy="6098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1050" dirty="0">
                <a:solidFill>
                  <a:srgbClr val="00206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Develop recovery strategies based on BIA findings, balancing cost against speed through alternate sites and backup methods.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322952" y="3787577"/>
            <a:ext cx="276714" cy="1729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dirty="0">
                <a:solidFill>
                  <a:srgbClr val="00206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05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322952" y="4003576"/>
            <a:ext cx="3545692" cy="19050"/>
          </a:xfrm>
          <a:prstGeom prst="rect">
            <a:avLst/>
          </a:prstGeom>
          <a:solidFill>
            <a:srgbClr val="00B0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322952" y="4110831"/>
            <a:ext cx="3545692" cy="4321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002060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Develop Information System Contingency Plan (ISCP)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4322952" y="4612481"/>
            <a:ext cx="3545692" cy="6098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1050" dirty="0">
                <a:solidFill>
                  <a:srgbClr val="00206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Document detailed procedures for activation, notification, recovery, reconstitution, and supporting appendices.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7984429" y="3787577"/>
            <a:ext cx="276714" cy="1729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dirty="0">
                <a:solidFill>
                  <a:srgbClr val="00206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06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7984429" y="4003576"/>
            <a:ext cx="3545692" cy="19050"/>
          </a:xfrm>
          <a:prstGeom prst="rect">
            <a:avLst/>
          </a:prstGeom>
          <a:solidFill>
            <a:srgbClr val="00B0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7984429" y="4110831"/>
            <a:ext cx="3545692" cy="4321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002060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Ensure Plan Testing, Training &amp; Exercises (TT&amp;E)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7984429" y="4612481"/>
            <a:ext cx="3545692" cy="6098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1050" dirty="0">
                <a:solidFill>
                  <a:srgbClr val="00206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Test plans regularly — from tabletop to full-scale exercises — to identify gaps and ensure personnel know their roles.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661475" y="5441950"/>
            <a:ext cx="276714" cy="1729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dirty="0">
                <a:solidFill>
                  <a:srgbClr val="00206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07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661475" y="5657949"/>
            <a:ext cx="10868646" cy="19050"/>
          </a:xfrm>
          <a:prstGeom prst="rect">
            <a:avLst/>
          </a:prstGeom>
          <a:solidFill>
            <a:srgbClr val="00B0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661475" y="5765205"/>
            <a:ext cx="10868646" cy="2160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002060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Plan Maintenance</a:t>
            </a:r>
            <a:endParaRPr lang="en-US" sz="1350" dirty="0"/>
          </a:p>
        </p:txBody>
      </p:sp>
      <p:sp>
        <p:nvSpPr>
          <p:cNvPr id="31" name="Text 29"/>
          <p:cNvSpPr/>
          <p:nvPr/>
        </p:nvSpPr>
        <p:spPr>
          <a:xfrm>
            <a:off x="661475" y="6050756"/>
            <a:ext cx="10868646" cy="2032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1050" dirty="0">
                <a:solidFill>
                  <a:srgbClr val="00206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Review and update plans at least annually to reflect organizational changes, technology updates, and lessons learned from incidents.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696629"/>
            <a:ext cx="10868745" cy="8268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600" b="1" dirty="0">
                <a:solidFill>
                  <a:srgbClr val="666666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Business Impact Analysis: Identifying Critical Functions and Recovery Priorities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61475" y="1721048"/>
            <a:ext cx="1086874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 dirty="0">
                <a:solidFill>
                  <a:srgbClr val="00206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Business Impact Analysis (BIA) is the </a:t>
            </a:r>
            <a:r>
              <a:rPr lang="en-US" sz="1000" b="1" dirty="0">
                <a:solidFill>
                  <a:srgbClr val="002060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cornerstone of effective BC/DR planning</a:t>
            </a:r>
            <a:r>
              <a:rPr lang="en-US" sz="1000" dirty="0">
                <a:solidFill>
                  <a:srgbClr val="00206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, providing the data-driven foundation for all recovery strategies and resource allocation decisions. A BIA predicts the consequences of disruptions to business operations and gathers information needed to develop recovery strategies.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661475" y="2221111"/>
            <a:ext cx="5381490" cy="1118890"/>
          </a:xfrm>
          <a:prstGeom prst="roundRect">
            <a:avLst>
              <a:gd name="adj" fmla="val 4967"/>
            </a:avLst>
          </a:prstGeom>
          <a:solidFill>
            <a:srgbClr val="CCF1FF"/>
          </a:solidFill>
          <a:ln w="6350">
            <a:solidFill>
              <a:srgbClr val="B2D7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00080" y="2359720"/>
            <a:ext cx="5104280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002060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Phase 1: Identify Critical Functions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00080" y="2629892"/>
            <a:ext cx="510428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 dirty="0">
                <a:solidFill>
                  <a:srgbClr val="00206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Document all business processes, categorize by criticality, map to supporting IT systems, and identify dependencies between functions.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148730" y="2221111"/>
            <a:ext cx="5381490" cy="1118890"/>
          </a:xfrm>
          <a:prstGeom prst="roundRect">
            <a:avLst>
              <a:gd name="adj" fmla="val 4967"/>
            </a:avLst>
          </a:prstGeom>
          <a:solidFill>
            <a:srgbClr val="CCF1FF"/>
          </a:solidFill>
          <a:ln w="6350">
            <a:solidFill>
              <a:srgbClr val="B2D7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287335" y="2359720"/>
            <a:ext cx="5104280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002060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Phase 2: Determine Impacts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287335" y="2629892"/>
            <a:ext cx="510428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 dirty="0">
                <a:solidFill>
                  <a:srgbClr val="00206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Quantify operational impacts (lost sales, increased expenses, regulatory fines) and financial impacts (revenue loss, legal costs, long-term implications).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61475" y="3445768"/>
            <a:ext cx="5381490" cy="928390"/>
          </a:xfrm>
          <a:prstGeom prst="roundRect">
            <a:avLst>
              <a:gd name="adj" fmla="val 5986"/>
            </a:avLst>
          </a:prstGeom>
          <a:solidFill>
            <a:srgbClr val="CCF1FF"/>
          </a:solidFill>
          <a:ln w="6350">
            <a:solidFill>
              <a:srgbClr val="B2D7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800080" y="3584377"/>
            <a:ext cx="5104280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002060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Phase 3: Establish RTO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00080" y="3854549"/>
            <a:ext cx="510428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 dirty="0">
                <a:solidFill>
                  <a:srgbClr val="00206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Define maximum acceptable downtime for each function considering timing, duration, seasonal patterns, and cumulative effects over time.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148730" y="3445768"/>
            <a:ext cx="5381490" cy="928390"/>
          </a:xfrm>
          <a:prstGeom prst="roundRect">
            <a:avLst>
              <a:gd name="adj" fmla="val 5986"/>
            </a:avLst>
          </a:prstGeom>
          <a:solidFill>
            <a:srgbClr val="CCF1FF"/>
          </a:solidFill>
          <a:ln w="6350">
            <a:solidFill>
              <a:srgbClr val="B2D7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287335" y="3584377"/>
            <a:ext cx="5104280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002060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Phase 4: Establish RPO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287335" y="3854549"/>
            <a:ext cx="510428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 dirty="0">
                <a:solidFill>
                  <a:srgbClr val="00206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Define maximum acceptable data loss measured in time, driving backup frequency requirements and data protection strategies.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61475" y="4479925"/>
            <a:ext cx="5381490" cy="928390"/>
          </a:xfrm>
          <a:prstGeom prst="roundRect">
            <a:avLst>
              <a:gd name="adj" fmla="val 5986"/>
            </a:avLst>
          </a:prstGeom>
          <a:solidFill>
            <a:srgbClr val="CCF1FF"/>
          </a:solidFill>
          <a:ln w="6350">
            <a:solidFill>
              <a:srgbClr val="B2D7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800080" y="4618534"/>
            <a:ext cx="5104280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002060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Phase 5: Identify Resources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00080" y="4888706"/>
            <a:ext cx="510428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 dirty="0">
                <a:solidFill>
                  <a:srgbClr val="00206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Document personnel, technology, facilities, third-party services, and critical documentation needed to recover each function.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148730" y="4479925"/>
            <a:ext cx="5381490" cy="928390"/>
          </a:xfrm>
          <a:prstGeom prst="roundRect">
            <a:avLst>
              <a:gd name="adj" fmla="val 5986"/>
            </a:avLst>
          </a:prstGeom>
          <a:solidFill>
            <a:srgbClr val="CCF1FF"/>
          </a:solidFill>
          <a:ln w="6350">
            <a:solidFill>
              <a:srgbClr val="B2D7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287335" y="4618534"/>
            <a:ext cx="5104280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002060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Phase 6: Prioritize Recovery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287335" y="4888706"/>
            <a:ext cx="510428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 dirty="0">
                <a:solidFill>
                  <a:srgbClr val="00206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Rank business functions by criticality, establish recovery sequence, identify critical path activities, and balance needs with constraints.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61475" y="5527377"/>
            <a:ext cx="10868745" cy="648097"/>
          </a:xfrm>
          <a:prstGeom prst="roundRect">
            <a:avLst>
              <a:gd name="adj" fmla="val 8575"/>
            </a:avLst>
          </a:prstGeom>
          <a:solidFill>
            <a:srgbClr val="B6D6F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30" y="5683746"/>
            <a:ext cx="165294" cy="132259"/>
          </a:xfrm>
          <a:prstGeom prst="rect">
            <a:avLst/>
          </a:prstGeom>
        </p:spPr>
      </p:pic>
      <p:sp>
        <p:nvSpPr>
          <p:cNvPr id="24" name="Text 21"/>
          <p:cNvSpPr/>
          <p:nvPr/>
        </p:nvSpPr>
        <p:spPr>
          <a:xfrm>
            <a:off x="1091280" y="5666184"/>
            <a:ext cx="1030668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000000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Timing Considerations:</a:t>
            </a:r>
            <a:r>
              <a:rPr lang="en-US" sz="1000" dirty="0">
                <a:solidFill>
                  <a:srgbClr val="000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The point in time when a disruption occurs significantly affects impact severity. Organizations must account for seasonal variations, business cycles, duration thresholds, and cumulative effects over time when establishing recovery priorities.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483641"/>
            <a:ext cx="10868745" cy="3359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100" b="1" dirty="0">
                <a:solidFill>
                  <a:srgbClr val="666666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Recovery Objectives Define Acceptable Downtime and Data Loss Thresholds</a:t>
            </a:r>
            <a:endParaRPr lang="en-US" sz="2100" dirty="0"/>
          </a:p>
        </p:txBody>
      </p:sp>
      <p:sp>
        <p:nvSpPr>
          <p:cNvPr id="3" name="Shape 1"/>
          <p:cNvSpPr/>
          <p:nvPr/>
        </p:nvSpPr>
        <p:spPr>
          <a:xfrm>
            <a:off x="661475" y="951210"/>
            <a:ext cx="10868745" cy="863005"/>
          </a:xfrm>
          <a:prstGeom prst="roundRect">
            <a:avLst>
              <a:gd name="adj" fmla="val 5232"/>
            </a:avLst>
          </a:prstGeom>
          <a:solidFill>
            <a:srgbClr val="CCF1FF"/>
          </a:solidFill>
          <a:ln w="6350">
            <a:solidFill>
              <a:srgbClr val="B2D7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667825" y="957560"/>
            <a:ext cx="3618616" cy="850305"/>
          </a:xfrm>
          <a:custGeom>
            <a:avLst/>
            <a:gdLst/>
            <a:ahLst/>
            <a:cxnLst/>
            <a:rect l="l" t="t" r="r" b="b"/>
            <a:pathLst>
              <a:path w="3618616" h="850305">
                <a:moveTo>
                  <a:pt x="37626" y="0"/>
                </a:moveTo>
                <a:lnTo>
                  <a:pt x="3618616" y="0"/>
                </a:lnTo>
                <a:lnTo>
                  <a:pt x="3618616" y="850305"/>
                </a:lnTo>
                <a:lnTo>
                  <a:pt x="37626" y="850305"/>
                </a:lnTo>
                <a:arcTo wR="37626" hR="37627" stAng="5400000" swAng="5400000"/>
                <a:lnTo>
                  <a:pt x="0" y="37627"/>
                </a:lnTo>
                <a:arcTo wR="37626" hR="37627" stAng="10800000" swAng="5400000"/>
                <a:close/>
              </a:path>
            </a:pathLst>
          </a:custGeom>
          <a:solidFill>
            <a:srgbClr val="CCF1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75276" y="1065014"/>
            <a:ext cx="3403713" cy="1678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002060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RTO — Recovery Time Objective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775276" y="1274763"/>
            <a:ext cx="3403713" cy="4256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800" dirty="0">
                <a:solidFill>
                  <a:srgbClr val="00206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Maximum acceptable downtime from disruption to full restoration. Drives recovery speed and strategy selection. The faster the RTO, the more costly the recovery solution.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4286440" y="957560"/>
            <a:ext cx="3618715" cy="850305"/>
          </a:xfrm>
          <a:prstGeom prst="rect">
            <a:avLst/>
          </a:prstGeom>
          <a:solidFill>
            <a:srgbClr val="CCF1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4286440" y="957560"/>
            <a:ext cx="12700" cy="850305"/>
          </a:xfrm>
          <a:prstGeom prst="roundRect">
            <a:avLst>
              <a:gd name="adj" fmla="val 49999"/>
            </a:avLst>
          </a:prstGeom>
          <a:solidFill>
            <a:srgbClr val="B2D7E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393892" y="1065014"/>
            <a:ext cx="3403813" cy="1678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002060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RPO — Recovery Point Objective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393892" y="1274763"/>
            <a:ext cx="3403813" cy="4256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800" dirty="0">
                <a:solidFill>
                  <a:srgbClr val="00206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Maximum acceptable data loss measured in time. Defines the recovery point and determines backup frequency requirements and data protection architecture.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7905155" y="957560"/>
            <a:ext cx="3618715" cy="850305"/>
          </a:xfrm>
          <a:custGeom>
            <a:avLst/>
            <a:gdLst/>
            <a:ahLst/>
            <a:cxnLst/>
            <a:rect l="l" t="t" r="r" b="b"/>
            <a:pathLst>
              <a:path w="3618715" h="850305">
                <a:moveTo>
                  <a:pt x="0" y="0"/>
                </a:moveTo>
                <a:lnTo>
                  <a:pt x="3581088" y="0"/>
                </a:lnTo>
                <a:arcTo wR="37626" hR="37627" stAng="16200000" swAng="5400000"/>
                <a:lnTo>
                  <a:pt x="3618715" y="812677"/>
                </a:lnTo>
                <a:arcTo wR="37626" hR="37627" stAng="0" swAng="5400000"/>
                <a:lnTo>
                  <a:pt x="0" y="850305"/>
                </a:lnTo>
                <a:lnTo>
                  <a:pt x="0" y="0"/>
                </a:lnTo>
                <a:close/>
              </a:path>
            </a:pathLst>
          </a:custGeom>
          <a:solidFill>
            <a:srgbClr val="CCF1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7905155" y="957560"/>
            <a:ext cx="12700" cy="850305"/>
          </a:xfrm>
          <a:prstGeom prst="roundRect">
            <a:avLst>
              <a:gd name="adj" fmla="val 49999"/>
            </a:avLst>
          </a:prstGeom>
          <a:solidFill>
            <a:srgbClr val="B2D7E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8012607" y="1065014"/>
            <a:ext cx="3403813" cy="1678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002060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MTD — Maximum Tolerable Downtime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8012607" y="1274763"/>
            <a:ext cx="3403813" cy="4256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800" dirty="0">
                <a:solidFill>
                  <a:srgbClr val="00206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absolute maximum outage duration before irreparable harm to the organization. Encompasses RTO plus additional recovery and validation time.</a:t>
            </a:r>
            <a:endParaRPr lang="en-US" sz="800" dirty="0"/>
          </a:p>
        </p:txBody>
      </p:sp>
      <p:pic>
        <p:nvPicPr>
          <p:cNvPr id="1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1892796"/>
            <a:ext cx="7064595" cy="2578596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661475" y="4581797"/>
            <a:ext cx="10868745" cy="1678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666666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Practical Examples by System Tier</a:t>
            </a:r>
            <a:endParaRPr lang="en-US" sz="105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1475" y="4848820"/>
          <a:ext cx="10868745" cy="972318"/>
        </p:xfrm>
        <a:graphic>
          <a:graphicData uri="http://schemas.openxmlformats.org/drawingml/2006/table">
            <a:tbl>
              <a:tblPr/>
              <a:tblGrid>
                <a:gridCol w="271721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3028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3028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3028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26067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4149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002060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System</a:t>
                      </a:r>
                      <a:endParaRPr lang="en-US" sz="8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107504" marR="107504" marT="6350" marB="6350" anchor="ctr">
                    <a:lnL w="12700" cap="flat" cmpd="sng" algn="ctr">
                      <a:solidFill>
                        <a:srgbClr val="B2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2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2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002060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RTO</a:t>
                      </a:r>
                      <a:endParaRPr lang="en-US" sz="8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107504" marR="107504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2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2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002060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RPO</a:t>
                      </a:r>
                      <a:endParaRPr lang="en-US" sz="8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107504" marR="107504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2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2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002060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MTD</a:t>
                      </a:r>
                      <a:endParaRPr lang="en-US" sz="8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107504" marR="107504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2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2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002060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Strategy</a:t>
                      </a:r>
                      <a:endParaRPr lang="en-US" sz="8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107504" marR="107504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2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2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2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466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002060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E-Commerce Platform</a:t>
                      </a:r>
                      <a:endParaRPr lang="en-US" sz="8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107504" marR="107504" marT="6350" marB="6350" anchor="ctr">
                    <a:lnL w="12700" cap="flat" cmpd="sng" algn="ctr">
                      <a:solidFill>
                        <a:srgbClr val="B2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2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2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002060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1 hour</a:t>
                      </a:r>
                      <a:endParaRPr lang="en-US" sz="8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107504" marR="107504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2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2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002060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15 min</a:t>
                      </a:r>
                      <a:endParaRPr lang="en-US" sz="8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107504" marR="107504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2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2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002060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4 hours</a:t>
                      </a:r>
                      <a:endParaRPr lang="en-US" sz="8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107504" marR="107504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2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2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002060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Hot site with real-time replication</a:t>
                      </a:r>
                      <a:endParaRPr lang="en-US" sz="8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107504" marR="107504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2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2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2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466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002060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Email System</a:t>
                      </a:r>
                      <a:endParaRPr lang="en-US" sz="8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107504" marR="107504" marT="6350" marB="6350" anchor="ctr">
                    <a:lnL w="12700" cap="flat" cmpd="sng" algn="ctr">
                      <a:solidFill>
                        <a:srgbClr val="B2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2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2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002060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4 hours</a:t>
                      </a:r>
                      <a:endParaRPr lang="en-US" sz="8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107504" marR="107504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2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2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002060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1 hour</a:t>
                      </a:r>
                      <a:endParaRPr lang="en-US" sz="8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107504" marR="107504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2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2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002060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24 hours</a:t>
                      </a:r>
                      <a:endParaRPr lang="en-US" sz="8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107504" marR="107504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2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2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002060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Warm site with hourly backups</a:t>
                      </a:r>
                      <a:endParaRPr lang="en-US" sz="8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107504" marR="107504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2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2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2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149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002060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Document Archive</a:t>
                      </a:r>
                      <a:endParaRPr lang="en-US" sz="8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107504" marR="107504" marT="6350" marB="6350" anchor="ctr">
                    <a:lnL w="12700" cap="flat" cmpd="sng" algn="ctr">
                      <a:solidFill>
                        <a:srgbClr val="B2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2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2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002060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5 days</a:t>
                      </a:r>
                      <a:endParaRPr lang="en-US" sz="8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107504" marR="107504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2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2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002060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24 hours</a:t>
                      </a:r>
                      <a:endParaRPr lang="en-US" sz="8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107504" marR="107504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2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2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002060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30 days</a:t>
                      </a:r>
                      <a:endParaRPr lang="en-US" sz="8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107504" marR="107504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2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2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002060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Cold site with daily cloud backups</a:t>
                      </a:r>
                      <a:endParaRPr lang="en-US" sz="8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107504" marR="107504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2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2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2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8" name="Shape 14"/>
          <p:cNvSpPr/>
          <p:nvPr/>
        </p:nvSpPr>
        <p:spPr>
          <a:xfrm>
            <a:off x="661475" y="5912445"/>
            <a:ext cx="10868745" cy="469999"/>
          </a:xfrm>
          <a:prstGeom prst="roundRect">
            <a:avLst>
              <a:gd name="adj" fmla="val 9607"/>
            </a:avLst>
          </a:prstGeom>
          <a:solidFill>
            <a:srgbClr val="CCF1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8926" y="6016625"/>
            <a:ext cx="134339" cy="107454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010716" y="6011707"/>
            <a:ext cx="10412053" cy="2837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800" b="1" dirty="0">
                <a:solidFill>
                  <a:srgbClr val="000000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Cost-Benefit Balance:</a:t>
            </a:r>
            <a:r>
              <a:rPr lang="en-US" sz="800" dirty="0">
                <a:solidFill>
                  <a:srgbClr val="000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Aggressive RTO/RPO requirements can increase recovery costs by 10× or more. Balance operational needs against budget through tiered objectives: T1 mission-critical, T2 important, T3 non-critical.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978509"/>
            <a:ext cx="10868745" cy="4134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600" b="1" dirty="0">
                <a:solidFill>
                  <a:srgbClr val="666666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Alternate Site Selection Balances Recovery Speed Against Cost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61475" y="1589484"/>
            <a:ext cx="1086874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 dirty="0">
                <a:solidFill>
                  <a:srgbClr val="00206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Choosing the right alternate processing site is one of the most consequential BC/DR decisions. Each option represents a different trade-off between recovery speed, data currency, and ongoing investment.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661475" y="2089547"/>
            <a:ext cx="3552339" cy="1944390"/>
          </a:xfrm>
          <a:prstGeom prst="roundRect">
            <a:avLst>
              <a:gd name="adj" fmla="val 2858"/>
            </a:avLst>
          </a:prstGeom>
          <a:solidFill>
            <a:srgbClr val="CCF1FF"/>
          </a:solidFill>
          <a:ln w="6350">
            <a:solidFill>
              <a:srgbClr val="B2D7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00080" y="2228155"/>
            <a:ext cx="3275129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000000"/>
                </a:solidFill>
                <a:latin typeface="Noto Color Emoji" pitchFamily="34" charset="0"/>
                <a:ea typeface="Noto Color Emoji" pitchFamily="34" charset="-122"/>
                <a:cs typeface="Noto Color Emoji" pitchFamily="34" charset="-120"/>
              </a:rPr>
              <a:t>🔴</a:t>
            </a:r>
            <a:r>
              <a:rPr lang="en-US" sz="1300" b="1" dirty="0">
                <a:solidFill>
                  <a:srgbClr val="002060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 Hot Site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00080" y="2498328"/>
            <a:ext cx="3275129" cy="1397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002060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RTO:</a:t>
            </a:r>
            <a:r>
              <a:rPr lang="en-US" sz="1000" dirty="0">
                <a:solidFill>
                  <a:srgbClr val="00206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Minutes to 1–2 hours</a:t>
            </a:r>
            <a:endParaRPr lang="en-US" sz="1000" dirty="0"/>
          </a:p>
          <a:p>
            <a:pPr marL="0" indent="0" algn="l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002060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RPO:</a:t>
            </a:r>
            <a:r>
              <a:rPr lang="en-US" sz="1000" dirty="0">
                <a:solidFill>
                  <a:srgbClr val="00206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Near zero</a:t>
            </a:r>
            <a:endParaRPr lang="en-US" sz="1000" dirty="0"/>
          </a:p>
          <a:p>
            <a:pPr marL="0" indent="0" algn="l">
              <a:lnSpc>
                <a:spcPct val="120000"/>
              </a:lnSpc>
              <a:spcAft>
                <a:spcPts val="450"/>
              </a:spcAft>
              <a:buNone/>
            </a:pPr>
            <a:r>
              <a:rPr lang="en-US" sz="1000" b="1" dirty="0">
                <a:solidFill>
                  <a:srgbClr val="002060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Cost:</a:t>
            </a:r>
            <a:r>
              <a:rPr lang="en-US" sz="1000" dirty="0">
                <a:solidFill>
                  <a:srgbClr val="00206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Highest</a:t>
            </a:r>
            <a:endParaRPr lang="en-US" sz="1000" dirty="0"/>
          </a:p>
          <a:p>
            <a:pPr marL="0" indent="0" algn="l">
              <a:lnSpc>
                <a:spcPct val="120000"/>
              </a:lnSpc>
              <a:buNone/>
            </a:pPr>
            <a:r>
              <a:rPr lang="en-US" sz="1000" dirty="0">
                <a:solidFill>
                  <a:srgbClr val="00206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Fully equipped, immediately operational duplicate environment. </a:t>
            </a:r>
            <a:r>
              <a:rPr lang="en-US" sz="1000" b="1" dirty="0">
                <a:solidFill>
                  <a:srgbClr val="002060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Best for:</a:t>
            </a:r>
            <a:r>
              <a:rPr lang="en-US" sz="1000" dirty="0">
                <a:solidFill>
                  <a:srgbClr val="00206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Mission-critical systems requiring 99.99%+ uptime — financial trading, emergency services, e-commerce.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319579" y="2089547"/>
            <a:ext cx="3552438" cy="1944390"/>
          </a:xfrm>
          <a:prstGeom prst="roundRect">
            <a:avLst>
              <a:gd name="adj" fmla="val 2858"/>
            </a:avLst>
          </a:prstGeom>
          <a:solidFill>
            <a:srgbClr val="CCF1FF"/>
          </a:solidFill>
          <a:ln w="6350">
            <a:solidFill>
              <a:srgbClr val="B2D7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458184" y="2228155"/>
            <a:ext cx="3275228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000000"/>
                </a:solidFill>
                <a:latin typeface="Noto Color Emoji" pitchFamily="34" charset="0"/>
                <a:ea typeface="Noto Color Emoji" pitchFamily="34" charset="-122"/>
                <a:cs typeface="Noto Color Emoji" pitchFamily="34" charset="-120"/>
              </a:rPr>
              <a:t>🟡</a:t>
            </a:r>
            <a:r>
              <a:rPr lang="en-US" sz="1300" b="1" dirty="0">
                <a:solidFill>
                  <a:srgbClr val="002060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 Warm Site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458184" y="2498328"/>
            <a:ext cx="3275228" cy="1397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002060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RTO:</a:t>
            </a:r>
            <a:r>
              <a:rPr lang="en-US" sz="1000" dirty="0">
                <a:solidFill>
                  <a:srgbClr val="00206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Hours to 1–2 days</a:t>
            </a:r>
            <a:endParaRPr lang="en-US" sz="1000" dirty="0"/>
          </a:p>
          <a:p>
            <a:pPr marL="0" indent="0" algn="l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002060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RPO:</a:t>
            </a:r>
            <a:r>
              <a:rPr lang="en-US" sz="1000" dirty="0">
                <a:solidFill>
                  <a:srgbClr val="00206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Hours to 1 day</a:t>
            </a:r>
            <a:endParaRPr lang="en-US" sz="1000" dirty="0"/>
          </a:p>
          <a:p>
            <a:pPr marL="0" indent="0" algn="l">
              <a:lnSpc>
                <a:spcPct val="120000"/>
              </a:lnSpc>
              <a:spcAft>
                <a:spcPts val="450"/>
              </a:spcAft>
              <a:buNone/>
            </a:pPr>
            <a:r>
              <a:rPr lang="en-US" sz="1000" b="1" dirty="0">
                <a:solidFill>
                  <a:srgbClr val="002060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Cost:</a:t>
            </a:r>
            <a:r>
              <a:rPr lang="en-US" sz="1000" dirty="0">
                <a:solidFill>
                  <a:srgbClr val="00206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Moderate</a:t>
            </a:r>
            <a:endParaRPr lang="en-US" sz="1000" dirty="0"/>
          </a:p>
          <a:p>
            <a:pPr marL="0" indent="0" algn="l">
              <a:lnSpc>
                <a:spcPct val="120000"/>
              </a:lnSpc>
              <a:buNone/>
            </a:pPr>
            <a:r>
              <a:rPr lang="en-US" sz="1000" dirty="0">
                <a:solidFill>
                  <a:srgbClr val="00206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Partially configured environment requiring data restoration and configuration. </a:t>
            </a:r>
            <a:r>
              <a:rPr lang="en-US" sz="1000" b="1" dirty="0">
                <a:solidFill>
                  <a:srgbClr val="002060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Best for:</a:t>
            </a:r>
            <a:r>
              <a:rPr lang="en-US" sz="1000" dirty="0">
                <a:solidFill>
                  <a:srgbClr val="00206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Important systems with moderate downtime tolerance — ERP, CRM, corporate email.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7977782" y="2089547"/>
            <a:ext cx="3552438" cy="1944390"/>
          </a:xfrm>
          <a:prstGeom prst="roundRect">
            <a:avLst>
              <a:gd name="adj" fmla="val 2858"/>
            </a:avLst>
          </a:prstGeom>
          <a:solidFill>
            <a:srgbClr val="CCF1FF"/>
          </a:solidFill>
          <a:ln w="6350">
            <a:solidFill>
              <a:srgbClr val="B2D7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8116387" y="2228155"/>
            <a:ext cx="3275228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000000"/>
                </a:solidFill>
                <a:latin typeface="Noto Color Emoji" pitchFamily="34" charset="0"/>
                <a:ea typeface="Noto Color Emoji" pitchFamily="34" charset="-122"/>
                <a:cs typeface="Noto Color Emoji" pitchFamily="34" charset="-120"/>
              </a:rPr>
              <a:t>🟢</a:t>
            </a:r>
            <a:r>
              <a:rPr lang="en-US" sz="1300" b="1" dirty="0">
                <a:solidFill>
                  <a:srgbClr val="002060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 Cold Site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116387" y="2498328"/>
            <a:ext cx="3275228" cy="1397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002060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RTO:</a:t>
            </a:r>
            <a:r>
              <a:rPr lang="en-US" sz="1000" dirty="0">
                <a:solidFill>
                  <a:srgbClr val="00206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Days to weeks</a:t>
            </a:r>
            <a:endParaRPr lang="en-US" sz="1000" dirty="0"/>
          </a:p>
          <a:p>
            <a:pPr marL="0" indent="0" algn="l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002060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RPO:</a:t>
            </a:r>
            <a:r>
              <a:rPr lang="en-US" sz="1000" dirty="0">
                <a:solidFill>
                  <a:srgbClr val="00206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Days</a:t>
            </a:r>
            <a:endParaRPr lang="en-US" sz="1000" dirty="0"/>
          </a:p>
          <a:p>
            <a:pPr marL="0" indent="0" algn="l">
              <a:lnSpc>
                <a:spcPct val="120000"/>
              </a:lnSpc>
              <a:spcAft>
                <a:spcPts val="450"/>
              </a:spcAft>
              <a:buNone/>
            </a:pPr>
            <a:r>
              <a:rPr lang="en-US" sz="1000" b="1" dirty="0">
                <a:solidFill>
                  <a:srgbClr val="002060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Cost:</a:t>
            </a:r>
            <a:r>
              <a:rPr lang="en-US" sz="1000" dirty="0">
                <a:solidFill>
                  <a:srgbClr val="00206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Lowest</a:t>
            </a:r>
            <a:endParaRPr lang="en-US" sz="1000" dirty="0"/>
          </a:p>
          <a:p>
            <a:pPr marL="0" indent="0" algn="l">
              <a:lnSpc>
                <a:spcPct val="120000"/>
              </a:lnSpc>
              <a:buNone/>
            </a:pPr>
            <a:r>
              <a:rPr lang="en-US" sz="1000" dirty="0">
                <a:solidFill>
                  <a:srgbClr val="00206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Basic infrastructure with no pre-configured systems. </a:t>
            </a:r>
            <a:r>
              <a:rPr lang="en-US" sz="1000" b="1" dirty="0">
                <a:solidFill>
                  <a:srgbClr val="002060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Best for:</a:t>
            </a:r>
            <a:r>
              <a:rPr lang="en-US" sz="1000" dirty="0">
                <a:solidFill>
                  <a:srgbClr val="00206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Non-critical systems with high downtime tolerance — development environments, archival systems.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61475" y="4139704"/>
            <a:ext cx="5381490" cy="1753890"/>
          </a:xfrm>
          <a:prstGeom prst="roundRect">
            <a:avLst>
              <a:gd name="adj" fmla="val 3168"/>
            </a:avLst>
          </a:prstGeom>
          <a:solidFill>
            <a:srgbClr val="CCF1FF"/>
          </a:solidFill>
          <a:ln w="6350">
            <a:solidFill>
              <a:srgbClr val="B2D7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800080" y="4278313"/>
            <a:ext cx="5104280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000000"/>
                </a:solidFill>
                <a:latin typeface="Noto Color Emoji" pitchFamily="34" charset="0"/>
                <a:ea typeface="Noto Color Emoji" pitchFamily="34" charset="-122"/>
                <a:cs typeface="Noto Color Emoji" pitchFamily="34" charset="-120"/>
              </a:rPr>
              <a:t>🔵</a:t>
            </a:r>
            <a:r>
              <a:rPr lang="en-US" sz="1300" b="1" dirty="0">
                <a:solidFill>
                  <a:srgbClr val="002060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 Mobile Site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00080" y="4548485"/>
            <a:ext cx="5104280" cy="1206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002060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RTO:</a:t>
            </a:r>
            <a:r>
              <a:rPr lang="en-US" sz="1000" dirty="0">
                <a:solidFill>
                  <a:srgbClr val="00206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1–3 days + transport</a:t>
            </a:r>
            <a:endParaRPr lang="en-US" sz="1000" dirty="0"/>
          </a:p>
          <a:p>
            <a:pPr marL="0" indent="0" algn="l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002060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RPO:</a:t>
            </a:r>
            <a:r>
              <a:rPr lang="en-US" sz="1000" dirty="0">
                <a:solidFill>
                  <a:srgbClr val="00206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Moderate</a:t>
            </a:r>
            <a:endParaRPr lang="en-US" sz="1000" dirty="0"/>
          </a:p>
          <a:p>
            <a:pPr marL="0" indent="0" algn="l">
              <a:lnSpc>
                <a:spcPct val="120000"/>
              </a:lnSpc>
              <a:spcAft>
                <a:spcPts val="450"/>
              </a:spcAft>
              <a:buNone/>
            </a:pPr>
            <a:r>
              <a:rPr lang="en-US" sz="1000" b="1" dirty="0">
                <a:solidFill>
                  <a:srgbClr val="002060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Cost:</a:t>
            </a:r>
            <a:r>
              <a:rPr lang="en-US" sz="1000" dirty="0">
                <a:solidFill>
                  <a:srgbClr val="00206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Varies</a:t>
            </a:r>
            <a:endParaRPr lang="en-US" sz="1000" dirty="0"/>
          </a:p>
          <a:p>
            <a:pPr marL="0" indent="0" algn="l">
              <a:lnSpc>
                <a:spcPct val="120000"/>
              </a:lnSpc>
              <a:buNone/>
            </a:pPr>
            <a:r>
              <a:rPr lang="en-US" sz="1000" dirty="0">
                <a:solidFill>
                  <a:srgbClr val="00206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Portable recovery facility deployed on-site. </a:t>
            </a:r>
            <a:r>
              <a:rPr lang="en-US" sz="1000" b="1" dirty="0">
                <a:solidFill>
                  <a:srgbClr val="002060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Best for:</a:t>
            </a:r>
            <a:r>
              <a:rPr lang="en-US" sz="1000" dirty="0">
                <a:solidFill>
                  <a:srgbClr val="00206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Organizations with multiple locations or unpredictable disaster scenarios requiring geographic flexibility.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148730" y="4139704"/>
            <a:ext cx="5381490" cy="1753890"/>
          </a:xfrm>
          <a:prstGeom prst="roundRect">
            <a:avLst>
              <a:gd name="adj" fmla="val 3168"/>
            </a:avLst>
          </a:prstGeom>
          <a:solidFill>
            <a:srgbClr val="CCF1FF"/>
          </a:solidFill>
          <a:ln w="6350">
            <a:solidFill>
              <a:srgbClr val="B2D7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287335" y="4278313"/>
            <a:ext cx="5104280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000000"/>
                </a:solidFill>
                <a:latin typeface="Noto Color Emoji" pitchFamily="34" charset="0"/>
                <a:ea typeface="Noto Color Emoji" pitchFamily="34" charset="-122"/>
                <a:cs typeface="Noto Color Emoji" pitchFamily="34" charset="-120"/>
              </a:rPr>
              <a:t>⚡</a:t>
            </a:r>
            <a:r>
              <a:rPr lang="en-US" sz="1300" b="1" dirty="0">
                <a:solidFill>
                  <a:srgbClr val="002060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 Mirrored (Active-Active)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287335" y="4548485"/>
            <a:ext cx="5104280" cy="1206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002060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RTO:</a:t>
            </a:r>
            <a:r>
              <a:rPr lang="en-US" sz="1000" dirty="0">
                <a:solidFill>
                  <a:srgbClr val="00206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Near zero</a:t>
            </a:r>
            <a:endParaRPr lang="en-US" sz="1000" dirty="0"/>
          </a:p>
          <a:p>
            <a:pPr marL="0" indent="0" algn="l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002060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RPO:</a:t>
            </a:r>
            <a:r>
              <a:rPr lang="en-US" sz="1000" dirty="0">
                <a:solidFill>
                  <a:srgbClr val="00206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Zero</a:t>
            </a:r>
            <a:endParaRPr lang="en-US" sz="1000" dirty="0"/>
          </a:p>
          <a:p>
            <a:pPr marL="0" indent="0" algn="l">
              <a:lnSpc>
                <a:spcPct val="120000"/>
              </a:lnSpc>
              <a:spcAft>
                <a:spcPts val="450"/>
              </a:spcAft>
              <a:buNone/>
            </a:pPr>
            <a:r>
              <a:rPr lang="en-US" sz="1000" b="1" dirty="0">
                <a:solidFill>
                  <a:srgbClr val="002060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Cost:</a:t>
            </a:r>
            <a:r>
              <a:rPr lang="en-US" sz="1000" dirty="0">
                <a:solidFill>
                  <a:srgbClr val="00206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Highest</a:t>
            </a:r>
            <a:endParaRPr lang="en-US" sz="1000" dirty="0"/>
          </a:p>
          <a:p>
            <a:pPr marL="0" indent="0" algn="l">
              <a:lnSpc>
                <a:spcPct val="120000"/>
              </a:lnSpc>
              <a:buNone/>
            </a:pPr>
            <a:r>
              <a:rPr lang="en-US" sz="1000" dirty="0">
                <a:solidFill>
                  <a:srgbClr val="00206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Fully redundant active environments with real-time synchronization. </a:t>
            </a:r>
            <a:r>
              <a:rPr lang="en-US" sz="1000" b="1" dirty="0">
                <a:solidFill>
                  <a:srgbClr val="002060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Best for:</a:t>
            </a:r>
            <a:r>
              <a:rPr lang="en-US" sz="1000" dirty="0">
                <a:solidFill>
                  <a:srgbClr val="00206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Systems with zero tolerance for downtime or data loss — financial exchanges, life-safety systems.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640635"/>
            <a:ext cx="10868745" cy="9818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050" b="1" dirty="0">
                <a:solidFill>
                  <a:srgbClr val="666666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Effective Backup Strategies Ensure Data Availability for Recovery</a:t>
            </a:r>
            <a:endParaRPr lang="en-US" sz="3050" dirty="0"/>
          </a:p>
        </p:txBody>
      </p:sp>
      <p:sp>
        <p:nvSpPr>
          <p:cNvPr id="3" name="Text 1"/>
          <p:cNvSpPr/>
          <p:nvPr/>
        </p:nvSpPr>
        <p:spPr>
          <a:xfrm>
            <a:off x="661475" y="1987093"/>
            <a:ext cx="5242687" cy="2455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b="1" dirty="0">
                <a:solidFill>
                  <a:srgbClr val="666666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Backup Method Comparison</a:t>
            </a:r>
            <a:endParaRPr lang="en-US" sz="15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1475" y="2395240"/>
          <a:ext cx="5242686" cy="3655228"/>
        </p:xfrm>
        <a:graphic>
          <a:graphicData uri="http://schemas.openxmlformats.org/drawingml/2006/table">
            <a:tbl>
              <a:tblPr/>
              <a:tblGrid>
                <a:gridCol w="115337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4853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4853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4853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4370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68201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002060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Type</a:t>
                      </a:r>
                      <a:endParaRPr lang="en-US" sz="12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157122" marR="157122" marT="6350" marB="6350" anchor="ctr">
                    <a:lnL w="12700" cap="flat" cmpd="sng" algn="ctr">
                      <a:solidFill>
                        <a:srgbClr val="B2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2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002060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Backup Time</a:t>
                      </a:r>
                      <a:endParaRPr lang="en-US" sz="12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157122" marR="157122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2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002060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Restore Time</a:t>
                      </a:r>
                      <a:endParaRPr lang="en-US" sz="12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157122" marR="157122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2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002060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Storage</a:t>
                      </a:r>
                      <a:endParaRPr lang="en-US" sz="12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157122" marR="157122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2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002060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Frequency</a:t>
                      </a:r>
                      <a:endParaRPr lang="en-US" sz="12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157122" marR="157122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2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2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2717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002060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Full</a:t>
                      </a:r>
                      <a:endParaRPr lang="en-US" sz="12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157122" marR="157122" marT="6350" marB="6350" anchor="ctr">
                    <a:lnL w="12700" cap="flat" cmpd="sng" algn="ctr">
                      <a:solidFill>
                        <a:srgbClr val="B2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02060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Longest</a:t>
                      </a:r>
                      <a:endParaRPr lang="en-US" sz="12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157122" marR="157122" marT="6350" marB="6350" anchor="ctr">
                    <a:lnL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02060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Fastest</a:t>
                      </a:r>
                      <a:endParaRPr lang="en-US" sz="12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157122" marR="157122" marT="6350" marB="6350" anchor="ctr">
                    <a:lnL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02060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Highest</a:t>
                      </a:r>
                      <a:endParaRPr lang="en-US" sz="12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157122" marR="157122" marT="6350" marB="6350" anchor="ctr">
                    <a:lnL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02060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Weekly/monthly</a:t>
                      </a:r>
                      <a:endParaRPr lang="en-US" sz="12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157122" marR="157122" marT="6350" marB="6350" anchor="ctr">
                    <a:lnL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2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8201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002060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Incremental</a:t>
                      </a:r>
                      <a:endParaRPr lang="en-US" sz="12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157122" marR="157122" marT="6350" marB="6350" anchor="ctr">
                    <a:lnL w="12700" cap="flat" cmpd="sng" algn="ctr">
                      <a:solidFill>
                        <a:srgbClr val="B2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02060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Fastest</a:t>
                      </a:r>
                      <a:endParaRPr lang="en-US" sz="12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157122" marR="157122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02060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Slowest</a:t>
                      </a:r>
                      <a:endParaRPr lang="en-US" sz="12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157122" marR="157122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02060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Lowest</a:t>
                      </a:r>
                      <a:endParaRPr lang="en-US" sz="12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157122" marR="157122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02060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Daily/multiple</a:t>
                      </a:r>
                      <a:endParaRPr lang="en-US" sz="12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157122" marR="157122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2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8201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002060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Differential</a:t>
                      </a:r>
                      <a:endParaRPr lang="en-US" sz="12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157122" marR="157122" marT="6350" marB="6350" anchor="ctr">
                    <a:lnL w="12700" cap="flat" cmpd="sng" algn="ctr">
                      <a:solidFill>
                        <a:srgbClr val="B2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02060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Moderate</a:t>
                      </a:r>
                      <a:endParaRPr lang="en-US" sz="12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157122" marR="157122" marT="6350" marB="6350" anchor="ctr">
                    <a:lnL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02060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Moderate</a:t>
                      </a:r>
                      <a:endParaRPr lang="en-US" sz="12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157122" marR="157122" marT="6350" marB="6350" anchor="ctr">
                    <a:lnL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02060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Moderate</a:t>
                      </a:r>
                      <a:endParaRPr lang="en-US" sz="12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157122" marR="157122" marT="6350" marB="6350" anchor="ctr">
                    <a:lnL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02060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Daily</a:t>
                      </a:r>
                      <a:endParaRPr lang="en-US" sz="12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157122" marR="157122" marT="6350" marB="6350" anchor="ctr">
                    <a:lnL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2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8201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002060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CDP</a:t>
                      </a:r>
                      <a:endParaRPr lang="en-US" sz="12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157122" marR="157122" marT="6350" marB="6350" anchor="ctr">
                    <a:lnL w="12700" cap="flat" cmpd="sng" algn="ctr">
                      <a:solidFill>
                        <a:srgbClr val="B2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2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02060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Continuous</a:t>
                      </a:r>
                      <a:endParaRPr lang="en-US" sz="12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157122" marR="157122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2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02060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Any point</a:t>
                      </a:r>
                      <a:endParaRPr lang="en-US" sz="12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157122" marR="157122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2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02060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Highest</a:t>
                      </a:r>
                      <a:endParaRPr lang="en-US" sz="12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157122" marR="157122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2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02060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Real-time</a:t>
                      </a:r>
                      <a:endParaRPr lang="en-US" sz="12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157122" marR="157122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2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2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6180677" y="1832570"/>
            <a:ext cx="5469098" cy="4398566"/>
          </a:xfrm>
          <a:prstGeom prst="roundRect">
            <a:avLst>
              <a:gd name="adj" fmla="val 2572"/>
            </a:avLst>
          </a:prstGeom>
          <a:solidFill>
            <a:srgbClr val="00B0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6337737" y="1987093"/>
            <a:ext cx="5154980" cy="2455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b="1" dirty="0">
                <a:solidFill>
                  <a:srgbClr val="000000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Industry Best Practice: The 3-2-1 Rule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6337737" y="2395240"/>
            <a:ext cx="353508" cy="353516"/>
          </a:xfrm>
          <a:prstGeom prst="roundRect">
            <a:avLst>
              <a:gd name="adj" fmla="val 18668"/>
            </a:avLst>
          </a:prstGeom>
          <a:solidFill>
            <a:srgbClr val="CCF1FF"/>
          </a:solidFill>
          <a:ln w="6350">
            <a:solidFill>
              <a:srgbClr val="B2D7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6396622" y="2424658"/>
            <a:ext cx="235639" cy="2945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850" b="1" dirty="0">
                <a:solidFill>
                  <a:srgbClr val="002060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1</a:t>
            </a:r>
            <a:endParaRPr lang="en-US" sz="1850" dirty="0"/>
          </a:p>
        </p:txBody>
      </p:sp>
      <p:sp>
        <p:nvSpPr>
          <p:cNvPr id="4" name="Text 6"/>
          <p:cNvSpPr/>
          <p:nvPr/>
        </p:nvSpPr>
        <p:spPr>
          <a:xfrm>
            <a:off x="6840466" y="2449215"/>
            <a:ext cx="1981448" cy="4911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b="1" dirty="0">
                <a:solidFill>
                  <a:srgbClr val="002060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THREE Copies of Data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6840466" y="3089573"/>
            <a:ext cx="1981448" cy="9806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200" dirty="0">
                <a:solidFill>
                  <a:srgbClr val="00206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Production plus two backups — protects against single-point hardware failure.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9008440" y="2395240"/>
            <a:ext cx="353508" cy="353516"/>
          </a:xfrm>
          <a:prstGeom prst="roundRect">
            <a:avLst>
              <a:gd name="adj" fmla="val 18668"/>
            </a:avLst>
          </a:prstGeom>
          <a:solidFill>
            <a:srgbClr val="CCF1FF"/>
          </a:solidFill>
          <a:ln w="6350">
            <a:solidFill>
              <a:srgbClr val="B2D7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9067325" y="2424658"/>
            <a:ext cx="235639" cy="2945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850" b="1" dirty="0">
                <a:solidFill>
                  <a:srgbClr val="002060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2</a:t>
            </a:r>
            <a:endParaRPr lang="en-US" sz="1850" dirty="0"/>
          </a:p>
        </p:txBody>
      </p:sp>
      <p:sp>
        <p:nvSpPr>
          <p:cNvPr id="13" name="Text 10"/>
          <p:cNvSpPr/>
          <p:nvPr/>
        </p:nvSpPr>
        <p:spPr>
          <a:xfrm>
            <a:off x="9511169" y="2449215"/>
            <a:ext cx="1981547" cy="4911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b="1" dirty="0">
                <a:solidFill>
                  <a:srgbClr val="002060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TWO Different Media Types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9511169" y="3089573"/>
            <a:ext cx="1981547" cy="9806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200" dirty="0">
                <a:solidFill>
                  <a:srgbClr val="00206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Disk and tape, or disk and cloud — protects against media-specific failures.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6337737" y="4368701"/>
            <a:ext cx="353508" cy="353516"/>
          </a:xfrm>
          <a:prstGeom prst="roundRect">
            <a:avLst>
              <a:gd name="adj" fmla="val 18668"/>
            </a:avLst>
          </a:prstGeom>
          <a:solidFill>
            <a:srgbClr val="CCF1FF"/>
          </a:solidFill>
          <a:ln w="6350">
            <a:solidFill>
              <a:srgbClr val="B2D7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6396622" y="4398119"/>
            <a:ext cx="235639" cy="2945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850" b="1" dirty="0">
                <a:solidFill>
                  <a:srgbClr val="002060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3</a:t>
            </a:r>
            <a:endParaRPr lang="en-US" sz="1850" dirty="0"/>
          </a:p>
        </p:txBody>
      </p:sp>
      <p:sp>
        <p:nvSpPr>
          <p:cNvPr id="17" name="Text 14"/>
          <p:cNvSpPr/>
          <p:nvPr/>
        </p:nvSpPr>
        <p:spPr>
          <a:xfrm>
            <a:off x="6840466" y="4422676"/>
            <a:ext cx="4652251" cy="2455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b="1" dirty="0">
                <a:solidFill>
                  <a:srgbClr val="002060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ONE Copy Offsite</a:t>
            </a:r>
            <a:endParaRPr lang="en-US" sz="1500" dirty="0"/>
          </a:p>
        </p:txBody>
      </p:sp>
      <p:sp>
        <p:nvSpPr>
          <p:cNvPr id="18" name="Text 15"/>
          <p:cNvSpPr/>
          <p:nvPr/>
        </p:nvSpPr>
        <p:spPr>
          <a:xfrm>
            <a:off x="6840466" y="4817467"/>
            <a:ext cx="4652251" cy="4903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200" dirty="0">
                <a:solidFill>
                  <a:srgbClr val="00206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Geographically separated — protects against site-specific disasters and ransomware.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04777"/>
            <a:ext cx="10868745" cy="7631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b="1" dirty="0">
                <a:solidFill>
                  <a:srgbClr val="666666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ISO 22301: International Framework for Systematic Business Continuity Management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61475" y="1438870"/>
            <a:ext cx="10868745" cy="509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950" dirty="0">
                <a:solidFill>
                  <a:srgbClr val="00206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ISO 22301:2019 is the international standard for </a:t>
            </a:r>
            <a:r>
              <a:rPr lang="en-US" sz="950" b="1" dirty="0">
                <a:solidFill>
                  <a:srgbClr val="002060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Business Continuity Management Systems (BCMS)</a:t>
            </a:r>
            <a:r>
              <a:rPr lang="en-US" sz="950" dirty="0">
                <a:solidFill>
                  <a:srgbClr val="00206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, providing a structured framework for organizations to plan, establish, implement, operate, monitor, review, maintain, and continually improve their BC capabilities. Unlike ad hoc plans, a certified BCMS embeds resilience into organizational culture and governance.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661475" y="2145929"/>
            <a:ext cx="5285449" cy="1906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666666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ISO 22301 Clause Structure</a:t>
            </a:r>
            <a:endParaRPr lang="en-US" sz="12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2431752"/>
            <a:ext cx="2597680" cy="88979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47009" y="2566491"/>
            <a:ext cx="2277410" cy="1906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002060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Clauses 1–3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847009" y="2847280"/>
            <a:ext cx="2277410" cy="3395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950" dirty="0">
                <a:solidFill>
                  <a:srgbClr val="00206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Scope, normative references, and terms &amp; definitions</a:t>
            </a:r>
            <a:endParaRPr lang="en-US" sz="95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349244" y="2431752"/>
            <a:ext cx="2597680" cy="889794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3534778" y="2566491"/>
            <a:ext cx="2277410" cy="1906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002060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Clause 4 — Context</a:t>
            </a:r>
            <a:endParaRPr lang="en-US" sz="1200" dirty="0"/>
          </a:p>
        </p:txBody>
      </p:sp>
      <p:sp>
        <p:nvSpPr>
          <p:cNvPr id="10" name="Text 6"/>
          <p:cNvSpPr/>
          <p:nvPr/>
        </p:nvSpPr>
        <p:spPr>
          <a:xfrm>
            <a:off x="3534778" y="2847280"/>
            <a:ext cx="2277410" cy="3395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950" dirty="0">
                <a:solidFill>
                  <a:srgbClr val="00206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Understanding the organization and interested parties</a:t>
            </a:r>
            <a:endParaRPr lang="en-US" sz="95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3411637"/>
            <a:ext cx="2597680" cy="889794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847009" y="3546376"/>
            <a:ext cx="2277410" cy="1906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002060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Clause 5 — Leadership</a:t>
            </a:r>
            <a:endParaRPr lang="en-US" sz="1200" dirty="0"/>
          </a:p>
        </p:txBody>
      </p:sp>
      <p:sp>
        <p:nvSpPr>
          <p:cNvPr id="13" name="Text 8"/>
          <p:cNvSpPr/>
          <p:nvPr/>
        </p:nvSpPr>
        <p:spPr>
          <a:xfrm>
            <a:off x="847009" y="3827165"/>
            <a:ext cx="2277410" cy="3395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950" dirty="0">
                <a:solidFill>
                  <a:srgbClr val="00206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Executive commitment, policy, and organizational roles</a:t>
            </a:r>
            <a:endParaRPr lang="en-US" sz="950" dirty="0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349244" y="3411637"/>
            <a:ext cx="2597680" cy="889794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3534778" y="3546376"/>
            <a:ext cx="2277410" cy="1906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002060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Clause 6 — Planning</a:t>
            </a:r>
            <a:endParaRPr lang="en-US" sz="1200" dirty="0"/>
          </a:p>
        </p:txBody>
      </p:sp>
      <p:sp>
        <p:nvSpPr>
          <p:cNvPr id="16" name="Text 10"/>
          <p:cNvSpPr/>
          <p:nvPr/>
        </p:nvSpPr>
        <p:spPr>
          <a:xfrm>
            <a:off x="3534778" y="3827165"/>
            <a:ext cx="2277410" cy="3395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950" dirty="0">
                <a:solidFill>
                  <a:srgbClr val="00206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Risk management, objectives, and BC planning</a:t>
            </a:r>
            <a:endParaRPr lang="en-US" sz="950" dirty="0"/>
          </a:p>
        </p:txBody>
      </p:sp>
      <p:pic>
        <p:nvPicPr>
          <p:cNvPr id="17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4391521"/>
            <a:ext cx="2597680" cy="889794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847009" y="4526260"/>
            <a:ext cx="2277410" cy="1906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002060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Clause 7 — Support</a:t>
            </a:r>
            <a:endParaRPr lang="en-US" sz="1200" dirty="0"/>
          </a:p>
        </p:txBody>
      </p:sp>
      <p:sp>
        <p:nvSpPr>
          <p:cNvPr id="19" name="Text 12"/>
          <p:cNvSpPr/>
          <p:nvPr/>
        </p:nvSpPr>
        <p:spPr>
          <a:xfrm>
            <a:off x="847009" y="4807049"/>
            <a:ext cx="2277410" cy="3395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950" dirty="0">
                <a:solidFill>
                  <a:srgbClr val="00206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Resources, competence, awareness, and communication</a:t>
            </a:r>
            <a:endParaRPr lang="en-US" sz="950" dirty="0"/>
          </a:p>
        </p:txBody>
      </p:sp>
      <p:pic>
        <p:nvPicPr>
          <p:cNvPr id="20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349244" y="4391521"/>
            <a:ext cx="2597680" cy="889794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3534778" y="4526260"/>
            <a:ext cx="2277410" cy="1906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002060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Clause 8 — Operation (Core)</a:t>
            </a:r>
            <a:endParaRPr lang="en-US" sz="1200" dirty="0"/>
          </a:p>
        </p:txBody>
      </p:sp>
      <p:sp>
        <p:nvSpPr>
          <p:cNvPr id="22" name="Text 14"/>
          <p:cNvSpPr/>
          <p:nvPr/>
        </p:nvSpPr>
        <p:spPr>
          <a:xfrm>
            <a:off x="3534778" y="4807049"/>
            <a:ext cx="2277410" cy="3395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950" dirty="0">
                <a:solidFill>
                  <a:srgbClr val="00206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BIA, risk assessment, BC strategies, plans, and procedures</a:t>
            </a:r>
            <a:endParaRPr lang="en-US" sz="950" dirty="0"/>
          </a:p>
        </p:txBody>
      </p:sp>
      <p:pic>
        <p:nvPicPr>
          <p:cNvPr id="23" name="Image 6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5371405"/>
            <a:ext cx="2597680" cy="889794"/>
          </a:xfrm>
          <a:prstGeom prst="rect">
            <a:avLst/>
          </a:prstGeom>
        </p:spPr>
      </p:pic>
      <p:sp>
        <p:nvSpPr>
          <p:cNvPr id="24" name="Text 15"/>
          <p:cNvSpPr/>
          <p:nvPr/>
        </p:nvSpPr>
        <p:spPr>
          <a:xfrm>
            <a:off x="847009" y="5506145"/>
            <a:ext cx="2277410" cy="1906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002060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Clause 9 — Performance</a:t>
            </a:r>
            <a:endParaRPr lang="en-US" sz="1200" dirty="0"/>
          </a:p>
        </p:txBody>
      </p:sp>
      <p:sp>
        <p:nvSpPr>
          <p:cNvPr id="25" name="Text 16"/>
          <p:cNvSpPr/>
          <p:nvPr/>
        </p:nvSpPr>
        <p:spPr>
          <a:xfrm>
            <a:off x="847009" y="5786934"/>
            <a:ext cx="2277410" cy="3395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950" dirty="0">
                <a:solidFill>
                  <a:srgbClr val="00206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Monitoring, measurement, internal audit, and management review</a:t>
            </a:r>
            <a:endParaRPr lang="en-US" sz="950" dirty="0"/>
          </a:p>
        </p:txBody>
      </p:sp>
      <p:pic>
        <p:nvPicPr>
          <p:cNvPr id="26" name="Image 7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349244" y="5371405"/>
            <a:ext cx="2597680" cy="889794"/>
          </a:xfrm>
          <a:prstGeom prst="rect">
            <a:avLst/>
          </a:prstGeom>
        </p:spPr>
      </p:pic>
      <p:sp>
        <p:nvSpPr>
          <p:cNvPr id="27" name="Text 17"/>
          <p:cNvSpPr/>
          <p:nvPr/>
        </p:nvSpPr>
        <p:spPr>
          <a:xfrm>
            <a:off x="3534778" y="5506145"/>
            <a:ext cx="2277410" cy="1906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002060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Clause 10 — Improvement</a:t>
            </a:r>
            <a:endParaRPr lang="en-US" sz="1200" dirty="0"/>
          </a:p>
        </p:txBody>
      </p:sp>
      <p:sp>
        <p:nvSpPr>
          <p:cNvPr id="28" name="Text 18"/>
          <p:cNvSpPr/>
          <p:nvPr/>
        </p:nvSpPr>
        <p:spPr>
          <a:xfrm>
            <a:off x="3534778" y="5786934"/>
            <a:ext cx="2277410" cy="3395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950" dirty="0">
                <a:solidFill>
                  <a:srgbClr val="00206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Nonconformity, corrective action, and continual improvement</a:t>
            </a:r>
            <a:endParaRPr lang="en-US" sz="950" dirty="0"/>
          </a:p>
        </p:txBody>
      </p:sp>
      <p:sp>
        <p:nvSpPr>
          <p:cNvPr id="29" name="Text 19"/>
          <p:cNvSpPr/>
          <p:nvPr/>
        </p:nvSpPr>
        <p:spPr>
          <a:xfrm>
            <a:off x="6251121" y="2145929"/>
            <a:ext cx="5285449" cy="1906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666666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Benefits of ISO 22301 Certification</a:t>
            </a:r>
            <a:endParaRPr lang="en-US" sz="1200" dirty="0"/>
          </a:p>
        </p:txBody>
      </p:sp>
      <p:pic>
        <p:nvPicPr>
          <p:cNvPr id="30" name="Image 8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251121" y="2453084"/>
            <a:ext cx="183153" cy="183158"/>
          </a:xfrm>
          <a:prstGeom prst="rect">
            <a:avLst/>
          </a:prstGeom>
        </p:spPr>
      </p:pic>
      <p:sp>
        <p:nvSpPr>
          <p:cNvPr id="31" name="Text 20"/>
          <p:cNvSpPr/>
          <p:nvPr/>
        </p:nvSpPr>
        <p:spPr>
          <a:xfrm>
            <a:off x="6524363" y="2458442"/>
            <a:ext cx="2313128" cy="1906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002060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Demonstrated Resilience</a:t>
            </a:r>
            <a:endParaRPr lang="en-US" sz="1200" dirty="0"/>
          </a:p>
        </p:txBody>
      </p:sp>
      <p:sp>
        <p:nvSpPr>
          <p:cNvPr id="32" name="Text 21"/>
          <p:cNvSpPr/>
          <p:nvPr/>
        </p:nvSpPr>
        <p:spPr>
          <a:xfrm>
            <a:off x="6524363" y="2739231"/>
            <a:ext cx="2313128" cy="509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950" dirty="0">
                <a:solidFill>
                  <a:srgbClr val="00206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Third-party validated commitment to continuity, trusted by customers, regulators, and partners.</a:t>
            </a:r>
            <a:endParaRPr lang="en-US" sz="950" dirty="0"/>
          </a:p>
        </p:txBody>
      </p:sp>
      <p:pic>
        <p:nvPicPr>
          <p:cNvPr id="33" name="Image 9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950101" y="2453084"/>
            <a:ext cx="183153" cy="183158"/>
          </a:xfrm>
          <a:prstGeom prst="rect">
            <a:avLst/>
          </a:prstGeom>
        </p:spPr>
      </p:pic>
      <p:sp>
        <p:nvSpPr>
          <p:cNvPr id="34" name="Text 22"/>
          <p:cNvSpPr/>
          <p:nvPr/>
        </p:nvSpPr>
        <p:spPr>
          <a:xfrm>
            <a:off x="9223343" y="2458442"/>
            <a:ext cx="2313227" cy="1906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002060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Competitive Differentiation</a:t>
            </a:r>
            <a:endParaRPr lang="en-US" sz="1200" dirty="0"/>
          </a:p>
        </p:txBody>
      </p:sp>
      <p:sp>
        <p:nvSpPr>
          <p:cNvPr id="35" name="Text 23"/>
          <p:cNvSpPr/>
          <p:nvPr/>
        </p:nvSpPr>
        <p:spPr>
          <a:xfrm>
            <a:off x="9223343" y="2739231"/>
            <a:ext cx="2313227" cy="509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950" dirty="0">
                <a:solidFill>
                  <a:srgbClr val="00206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Market differentiator demonstrating superior operational maturity over unaccredited competitors.</a:t>
            </a:r>
            <a:endParaRPr lang="en-US" sz="950" dirty="0"/>
          </a:p>
        </p:txBody>
      </p:sp>
      <p:pic>
        <p:nvPicPr>
          <p:cNvPr id="36" name="Image 1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251121" y="3450134"/>
            <a:ext cx="183153" cy="183158"/>
          </a:xfrm>
          <a:prstGeom prst="rect">
            <a:avLst/>
          </a:prstGeom>
        </p:spPr>
      </p:pic>
      <p:sp>
        <p:nvSpPr>
          <p:cNvPr id="37" name="Text 24"/>
          <p:cNvSpPr/>
          <p:nvPr/>
        </p:nvSpPr>
        <p:spPr>
          <a:xfrm>
            <a:off x="6524363" y="3455491"/>
            <a:ext cx="2313128" cy="1906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002060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Regulatory Compliance</a:t>
            </a:r>
            <a:endParaRPr lang="en-US" sz="1200" dirty="0"/>
          </a:p>
        </p:txBody>
      </p:sp>
      <p:sp>
        <p:nvSpPr>
          <p:cNvPr id="38" name="Text 25"/>
          <p:cNvSpPr/>
          <p:nvPr/>
        </p:nvSpPr>
        <p:spPr>
          <a:xfrm>
            <a:off x="6524363" y="3736280"/>
            <a:ext cx="2313128" cy="6790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950" dirty="0">
                <a:solidFill>
                  <a:srgbClr val="00206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Satisfies many industry and regulatory continuity requirements including financial services and healthcare.</a:t>
            </a:r>
            <a:endParaRPr lang="en-US" sz="950" dirty="0"/>
          </a:p>
        </p:txBody>
      </p:sp>
      <p:pic>
        <p:nvPicPr>
          <p:cNvPr id="39" name="Image 1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950101" y="3450134"/>
            <a:ext cx="183153" cy="183158"/>
          </a:xfrm>
          <a:prstGeom prst="rect">
            <a:avLst/>
          </a:prstGeom>
        </p:spPr>
      </p:pic>
      <p:sp>
        <p:nvSpPr>
          <p:cNvPr id="40" name="Text 26"/>
          <p:cNvSpPr/>
          <p:nvPr/>
        </p:nvSpPr>
        <p:spPr>
          <a:xfrm>
            <a:off x="9223343" y="3455491"/>
            <a:ext cx="2313227" cy="1906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002060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Systematic Resilience</a:t>
            </a:r>
            <a:endParaRPr lang="en-US" sz="1200" dirty="0"/>
          </a:p>
        </p:txBody>
      </p:sp>
      <p:sp>
        <p:nvSpPr>
          <p:cNvPr id="41" name="Text 27"/>
          <p:cNvSpPr/>
          <p:nvPr/>
        </p:nvSpPr>
        <p:spPr>
          <a:xfrm>
            <a:off x="9223343" y="3736280"/>
            <a:ext cx="2313227" cy="6790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950" dirty="0">
                <a:solidFill>
                  <a:srgbClr val="00206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Plan-Do-Check-Act cycle drives continuous improvement of BC capabilities across the entire organization.</a:t>
            </a:r>
            <a:endParaRPr lang="en-US" sz="950" dirty="0"/>
          </a:p>
        </p:txBody>
      </p:sp>
      <p:sp>
        <p:nvSpPr>
          <p:cNvPr id="42" name="Shape 28"/>
          <p:cNvSpPr/>
          <p:nvPr/>
        </p:nvSpPr>
        <p:spPr>
          <a:xfrm>
            <a:off x="6251121" y="4516735"/>
            <a:ext cx="5285449" cy="732334"/>
          </a:xfrm>
          <a:prstGeom prst="roundRect">
            <a:avLst>
              <a:gd name="adj" fmla="val 7003"/>
            </a:avLst>
          </a:prstGeom>
          <a:solidFill>
            <a:srgbClr val="CCF1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3" name="Image 12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73157" y="4651077"/>
            <a:ext cx="152595" cy="122039"/>
          </a:xfrm>
          <a:prstGeom prst="rect">
            <a:avLst/>
          </a:prstGeom>
        </p:spPr>
      </p:pic>
      <p:sp>
        <p:nvSpPr>
          <p:cNvPr id="44" name="Text 29"/>
          <p:cNvSpPr/>
          <p:nvPr/>
        </p:nvSpPr>
        <p:spPr>
          <a:xfrm>
            <a:off x="6647788" y="4628257"/>
            <a:ext cx="4766746" cy="509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950" b="1" dirty="0">
                <a:solidFill>
                  <a:srgbClr val="000000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Implementation Path:</a:t>
            </a:r>
            <a:r>
              <a:rPr lang="en-US" sz="950" dirty="0">
                <a:solidFill>
                  <a:srgbClr val="000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Gap analysis → Planning → BIA and risk assessment → Strategy development → Plan development → Testing → Certification audit → Continuous improvement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679872"/>
            <a:ext cx="10868745" cy="7752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b="1" dirty="0">
                <a:solidFill>
                  <a:srgbClr val="666666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Comprehensive BC/DR Plans Provide Clear Guidance During Disruptions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61475" y="1631198"/>
            <a:ext cx="10868745" cy="3472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950" dirty="0">
                <a:solidFill>
                  <a:srgbClr val="00206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 well-structured BC/DR plan is more than documentation — it is an </a:t>
            </a:r>
            <a:r>
              <a:rPr lang="en-US" sz="950" b="1" dirty="0">
                <a:solidFill>
                  <a:srgbClr val="002060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operational tool</a:t>
            </a:r>
            <a:r>
              <a:rPr lang="en-US" sz="950" dirty="0">
                <a:solidFill>
                  <a:srgbClr val="00206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that must function under pressure, be accessible to the right people at the right time, and provide unambiguous step-by-step guidance without relying on institutional memory.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661475" y="2082006"/>
            <a:ext cx="5387840" cy="870248"/>
          </a:xfrm>
          <a:prstGeom prst="roundRect">
            <a:avLst>
              <a:gd name="adj" fmla="val 5987"/>
            </a:avLst>
          </a:prstGeom>
          <a:solidFill>
            <a:srgbClr val="FFFFFF"/>
          </a:solidFill>
          <a:ln w="12700">
            <a:solidFill>
              <a:srgbClr val="B2D7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98195" y="2218730"/>
            <a:ext cx="5114400" cy="1937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002060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Executive Summary &amp; Purpose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98195" y="2468265"/>
            <a:ext cx="5114400" cy="3472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950" dirty="0">
                <a:solidFill>
                  <a:srgbClr val="00206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Plan scope, applicability, and activation criteria. Enables quick understanding for executives and senior stakeholders who must authorize response decisions.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6142281" y="2082006"/>
            <a:ext cx="5387939" cy="870248"/>
          </a:xfrm>
          <a:prstGeom prst="roundRect">
            <a:avLst>
              <a:gd name="adj" fmla="val 5987"/>
            </a:avLst>
          </a:prstGeom>
          <a:solidFill>
            <a:srgbClr val="FFFFFF"/>
          </a:solidFill>
          <a:ln w="12700">
            <a:solidFill>
              <a:srgbClr val="B2D7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279001" y="2218730"/>
            <a:ext cx="5114499" cy="1937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002060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Roles &amp; Responsibilities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279001" y="2468265"/>
            <a:ext cx="5114499" cy="3472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950" dirty="0">
                <a:solidFill>
                  <a:srgbClr val="00206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BC/DR team structure, specific roles (incident commander, comms lead, technical lead), decision authority, escalation paths, and contact info including alternates.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661475" y="3045222"/>
            <a:ext cx="5387840" cy="1043880"/>
          </a:xfrm>
          <a:prstGeom prst="roundRect">
            <a:avLst>
              <a:gd name="adj" fmla="val 4991"/>
            </a:avLst>
          </a:prstGeom>
          <a:solidFill>
            <a:srgbClr val="FFFFFF"/>
          </a:solidFill>
          <a:ln w="12700">
            <a:solidFill>
              <a:srgbClr val="B2D7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798195" y="3181945"/>
            <a:ext cx="5114400" cy="1937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002060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Activation &amp; Notification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98195" y="3431480"/>
            <a:ext cx="5114400" cy="3472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950" dirty="0">
                <a:solidFill>
                  <a:srgbClr val="00206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Activation criteria, decision authority, notification procedures, primary and backup communication methods, and initial situation reporting templates.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6142281" y="3045222"/>
            <a:ext cx="5387939" cy="1043880"/>
          </a:xfrm>
          <a:prstGeom prst="roundRect">
            <a:avLst>
              <a:gd name="adj" fmla="val 4991"/>
            </a:avLst>
          </a:prstGeom>
          <a:solidFill>
            <a:srgbClr val="FFFFFF"/>
          </a:solidFill>
          <a:ln w="12700">
            <a:solidFill>
              <a:srgbClr val="B2D7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279001" y="3181945"/>
            <a:ext cx="5114499" cy="1937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002060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Recovery Procedures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279001" y="3431480"/>
            <a:ext cx="5114499" cy="5208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950" dirty="0">
                <a:solidFill>
                  <a:srgbClr val="00206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Detailed step-by-step procedures organized by system or function. Includes prerequisites, expected outcomes, validation criteria, estimated timing, and rollback procedures.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661475" y="4182070"/>
            <a:ext cx="5387840" cy="1043880"/>
          </a:xfrm>
          <a:prstGeom prst="roundRect">
            <a:avLst>
              <a:gd name="adj" fmla="val 4991"/>
            </a:avLst>
          </a:prstGeom>
          <a:solidFill>
            <a:srgbClr val="FFFFFF"/>
          </a:solidFill>
          <a:ln w="12700">
            <a:solidFill>
              <a:srgbClr val="B2D7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798195" y="4318794"/>
            <a:ext cx="5114400" cy="1937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002060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Communication Plans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98195" y="4568329"/>
            <a:ext cx="5114400" cy="5208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950" dirty="0">
                <a:solidFill>
                  <a:srgbClr val="00206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Internal and external communication during disruptions: stakeholder identification, message templates, approval workflows, media management, and regulatory notification requirements.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6142281" y="4182070"/>
            <a:ext cx="5387939" cy="1043880"/>
          </a:xfrm>
          <a:prstGeom prst="roundRect">
            <a:avLst>
              <a:gd name="adj" fmla="val 4991"/>
            </a:avLst>
          </a:prstGeom>
          <a:solidFill>
            <a:srgbClr val="FFFFFF"/>
          </a:solidFill>
          <a:ln w="12700">
            <a:solidFill>
              <a:srgbClr val="B2D7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279001" y="4318794"/>
            <a:ext cx="5114499" cy="1937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002060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Resource Requirements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279001" y="4568329"/>
            <a:ext cx="5114499" cy="3472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950" dirty="0">
                <a:solidFill>
                  <a:srgbClr val="00206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Personnel skills and availability, technology requirements, alternate facility specifications, vendor contacts, SLAs, and critical supplies inventory.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661475" y="5318919"/>
            <a:ext cx="5387840" cy="870248"/>
          </a:xfrm>
          <a:prstGeom prst="roundRect">
            <a:avLst>
              <a:gd name="adj" fmla="val 5987"/>
            </a:avLst>
          </a:prstGeom>
          <a:solidFill>
            <a:srgbClr val="FFFFFF"/>
          </a:solidFill>
          <a:ln w="12700">
            <a:solidFill>
              <a:srgbClr val="B2D7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798195" y="5455642"/>
            <a:ext cx="5114400" cy="1937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002060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Testing &amp; Maintenance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798195" y="5705177"/>
            <a:ext cx="5114400" cy="3472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950" dirty="0">
                <a:solidFill>
                  <a:srgbClr val="00206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Testing schedules and methodologies, update frequency, version control, distribution procedures, and training requirements for all plan users.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6142281" y="5318919"/>
            <a:ext cx="5387939" cy="870248"/>
          </a:xfrm>
          <a:prstGeom prst="roundRect">
            <a:avLst>
              <a:gd name="adj" fmla="val 5987"/>
            </a:avLst>
          </a:prstGeom>
          <a:solidFill>
            <a:srgbClr val="FFFFFF"/>
          </a:solidFill>
          <a:ln w="12700">
            <a:solidFill>
              <a:srgbClr val="B2D7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6279001" y="5455642"/>
            <a:ext cx="5114499" cy="1937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002060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Appendices &amp; Supporting Info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279001" y="5705177"/>
            <a:ext cx="5114499" cy="3472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950" dirty="0">
                <a:solidFill>
                  <a:srgbClr val="00206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System inventories, network diagrams, vendor contracts, regulatory obligations, forms and templates, and a glossary of terms for rapid reference.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796267"/>
            <a:ext cx="10868745" cy="3617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250" b="1" dirty="0">
                <a:solidFill>
                  <a:srgbClr val="666666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Regular Testing Validates Plans and Builds Team Capability</a:t>
            </a:r>
            <a:endParaRPr lang="en-US" sz="22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1359495"/>
            <a:ext cx="2606114" cy="148679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40659" y="1487884"/>
            <a:ext cx="2298543" cy="1808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002060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Tabletop Exercise — Low Risk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840659" y="1749723"/>
            <a:ext cx="2298543" cy="9447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900" dirty="0">
                <a:solidFill>
                  <a:srgbClr val="00206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Discussion-based session where team members talk through scenario responses. No system changes. </a:t>
            </a:r>
            <a:r>
              <a:rPr lang="en-US" sz="900" b="1" dirty="0">
                <a:solidFill>
                  <a:srgbClr val="002060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Frequency:</a:t>
            </a:r>
            <a:r>
              <a:rPr lang="en-US" sz="900" dirty="0">
                <a:solidFill>
                  <a:srgbClr val="00206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Quarterly. Best for: plan review, team coordination, identifying gaps.</a:t>
            </a:r>
            <a:endParaRPr lang="en-US" sz="9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348549" y="1359495"/>
            <a:ext cx="2606114" cy="1486793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3527734" y="1487884"/>
            <a:ext cx="2298543" cy="3617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002060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Walkthrough Test — Low-Moderate</a:t>
            </a:r>
            <a:endParaRPr lang="en-US" sz="1100" dirty="0"/>
          </a:p>
        </p:txBody>
      </p:sp>
      <p:sp>
        <p:nvSpPr>
          <p:cNvPr id="8" name="Text 4"/>
          <p:cNvSpPr/>
          <p:nvPr/>
        </p:nvSpPr>
        <p:spPr>
          <a:xfrm>
            <a:off x="3527734" y="1930598"/>
            <a:ext cx="2298543" cy="78730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900" dirty="0">
                <a:solidFill>
                  <a:srgbClr val="00206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Step-by-step review with team members simulating actions verbally and verifying documentation. </a:t>
            </a:r>
            <a:r>
              <a:rPr lang="en-US" sz="900" b="1" dirty="0">
                <a:solidFill>
                  <a:srgbClr val="002060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Frequency:</a:t>
            </a:r>
            <a:r>
              <a:rPr lang="en-US" sz="900" dirty="0">
                <a:solidFill>
                  <a:srgbClr val="00206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Semi-annually. Best for: procedure validation, role clarification.</a:t>
            </a:r>
            <a:endParaRPr lang="en-US" sz="9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2927251"/>
            <a:ext cx="2606114" cy="1486793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840659" y="3055640"/>
            <a:ext cx="2298543" cy="3617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002060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Simulation Exercise — Moderate</a:t>
            </a:r>
            <a:endParaRPr lang="en-US" sz="1100" dirty="0"/>
          </a:p>
        </p:txBody>
      </p:sp>
      <p:sp>
        <p:nvSpPr>
          <p:cNvPr id="11" name="Text 6"/>
          <p:cNvSpPr/>
          <p:nvPr/>
        </p:nvSpPr>
        <p:spPr>
          <a:xfrm>
            <a:off x="840659" y="3498354"/>
            <a:ext cx="2298543" cy="78730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900" dirty="0">
                <a:solidFill>
                  <a:srgbClr val="00206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Realistic scenario with time pressure requiring real response actions and some isolated system testing. </a:t>
            </a:r>
            <a:r>
              <a:rPr lang="en-US" sz="900" b="1" dirty="0">
                <a:solidFill>
                  <a:srgbClr val="002060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Frequency:</a:t>
            </a:r>
            <a:r>
              <a:rPr lang="en-US" sz="900" dirty="0">
                <a:solidFill>
                  <a:srgbClr val="00206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Annually. Best for: decision-making practice, stress testing.</a:t>
            </a:r>
            <a:endParaRPr lang="en-US" sz="90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348549" y="2927251"/>
            <a:ext cx="2606114" cy="1486793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3527734" y="3055640"/>
            <a:ext cx="2298543" cy="1808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002060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Parallel Test — Moderate-High</a:t>
            </a:r>
            <a:endParaRPr lang="en-US" sz="1100" dirty="0"/>
          </a:p>
        </p:txBody>
      </p:sp>
      <p:sp>
        <p:nvSpPr>
          <p:cNvPr id="14" name="Text 8"/>
          <p:cNvSpPr/>
          <p:nvPr/>
        </p:nvSpPr>
        <p:spPr>
          <a:xfrm>
            <a:off x="3527734" y="3317478"/>
            <a:ext cx="2298543" cy="78730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900" dirty="0">
                <a:solidFill>
                  <a:srgbClr val="00206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Recovery systems activated alongside production. Validates capability without risking production operations. </a:t>
            </a:r>
            <a:r>
              <a:rPr lang="en-US" sz="900" b="1" dirty="0">
                <a:solidFill>
                  <a:srgbClr val="002060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Frequency:</a:t>
            </a:r>
            <a:r>
              <a:rPr lang="en-US" sz="900" dirty="0">
                <a:solidFill>
                  <a:srgbClr val="00206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Annually. Best for: technology validation.</a:t>
            </a:r>
            <a:endParaRPr lang="en-US" sz="900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4495006"/>
            <a:ext cx="2606114" cy="1486793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840659" y="4623395"/>
            <a:ext cx="2298543" cy="3617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002060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Full Interruption Test — High Risk</a:t>
            </a:r>
            <a:endParaRPr lang="en-US" sz="1100" dirty="0"/>
          </a:p>
        </p:txBody>
      </p:sp>
      <p:sp>
        <p:nvSpPr>
          <p:cNvPr id="17" name="Text 10"/>
          <p:cNvSpPr/>
          <p:nvPr/>
        </p:nvSpPr>
        <p:spPr>
          <a:xfrm>
            <a:off x="840659" y="5066109"/>
            <a:ext cx="2298543" cy="78730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900" dirty="0">
                <a:solidFill>
                  <a:srgbClr val="00206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Production actually shut down; complete failover to recovery systems. Rarely performed. </a:t>
            </a:r>
            <a:r>
              <a:rPr lang="en-US" sz="900" b="1" dirty="0">
                <a:solidFill>
                  <a:srgbClr val="002060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Frequency:</a:t>
            </a:r>
            <a:r>
              <a:rPr lang="en-US" sz="900" dirty="0">
                <a:solidFill>
                  <a:srgbClr val="00206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Every 2–3 years. Best for: complete validation, regulatory compliance.</a:t>
            </a:r>
            <a:endParaRPr lang="en-US" sz="900" dirty="0"/>
          </a:p>
        </p:txBody>
      </p:sp>
      <p:sp>
        <p:nvSpPr>
          <p:cNvPr id="18" name="Shape 11"/>
          <p:cNvSpPr/>
          <p:nvPr/>
        </p:nvSpPr>
        <p:spPr>
          <a:xfrm>
            <a:off x="6160040" y="1268413"/>
            <a:ext cx="5459871" cy="4804470"/>
          </a:xfrm>
          <a:prstGeom prst="roundRect">
            <a:avLst>
              <a:gd name="adj" fmla="val 1735"/>
            </a:avLst>
          </a:prstGeom>
          <a:solidFill>
            <a:srgbClr val="00B0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2"/>
          <p:cNvSpPr/>
          <p:nvPr/>
        </p:nvSpPr>
        <p:spPr>
          <a:xfrm>
            <a:off x="6275727" y="1354950"/>
            <a:ext cx="5228499" cy="1808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000000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Testing Best Practices</a:t>
            </a:r>
            <a:endParaRPr lang="en-US" sz="1100" dirty="0"/>
          </a:p>
        </p:txBody>
      </p:sp>
      <p:sp>
        <p:nvSpPr>
          <p:cNvPr id="20" name="Text 13"/>
          <p:cNvSpPr/>
          <p:nvPr/>
        </p:nvSpPr>
        <p:spPr>
          <a:xfrm>
            <a:off x="6275727" y="1611213"/>
            <a:ext cx="5228499" cy="1873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82880" indent="-182880" algn="l">
              <a:lnSpc>
                <a:spcPct val="113000"/>
              </a:lnSpc>
              <a:buSzPct val="100000"/>
              <a:buChar char="•"/>
            </a:pPr>
            <a:r>
              <a:rPr lang="en-US" sz="900" b="1" dirty="0">
                <a:solidFill>
                  <a:srgbClr val="002060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Test Many Scenarios:</a:t>
            </a:r>
            <a:r>
              <a:rPr lang="en-US" sz="900" dirty="0">
                <a:solidFill>
                  <a:srgbClr val="00206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Vary failure types, timing, and scopes — don't repeat the same scenario</a:t>
            </a:r>
            <a:endParaRPr lang="en-US" sz="900" dirty="0"/>
          </a:p>
          <a:p>
            <a:pPr marL="182880" indent="-182880" algn="l">
              <a:lnSpc>
                <a:spcPct val="113000"/>
              </a:lnSpc>
              <a:buSzPct val="100000"/>
              <a:buChar char="•"/>
            </a:pPr>
            <a:r>
              <a:rPr lang="en-US" sz="900" b="1" dirty="0">
                <a:solidFill>
                  <a:srgbClr val="002060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Test Regularly:</a:t>
            </a:r>
            <a:r>
              <a:rPr lang="en-US" sz="900" dirty="0">
                <a:solidFill>
                  <a:srgbClr val="00206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Maintain a schedule; test after significant environmental changes</a:t>
            </a:r>
            <a:endParaRPr lang="en-US" sz="900" dirty="0"/>
          </a:p>
          <a:p>
            <a:pPr marL="182880" indent="-182880" algn="l">
              <a:lnSpc>
                <a:spcPct val="113000"/>
              </a:lnSpc>
              <a:buSzPct val="100000"/>
              <a:buChar char="•"/>
            </a:pPr>
            <a:r>
              <a:rPr lang="en-US" sz="900" b="1" dirty="0">
                <a:solidFill>
                  <a:srgbClr val="002060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Document Everything:</a:t>
            </a:r>
            <a:r>
              <a:rPr lang="en-US" sz="900" dirty="0">
                <a:solidFill>
                  <a:srgbClr val="00206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Record procedures, results, issues, corrective actions, and metrics</a:t>
            </a:r>
            <a:endParaRPr lang="en-US" sz="900" dirty="0"/>
          </a:p>
          <a:p>
            <a:pPr marL="182880" indent="-182880" algn="l">
              <a:lnSpc>
                <a:spcPct val="113000"/>
              </a:lnSpc>
              <a:buSzPct val="100000"/>
              <a:buChar char="•"/>
            </a:pPr>
            <a:r>
              <a:rPr lang="en-US" sz="900" b="1" dirty="0">
                <a:solidFill>
                  <a:srgbClr val="002060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Communicate:</a:t>
            </a:r>
            <a:r>
              <a:rPr lang="en-US" sz="900" dirty="0">
                <a:solidFill>
                  <a:srgbClr val="00206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Notify in advance, provide status updates, share results with stakeholders</a:t>
            </a:r>
            <a:endParaRPr lang="en-US" sz="900" dirty="0"/>
          </a:p>
          <a:p>
            <a:pPr marL="182880" indent="-182880" algn="l">
              <a:lnSpc>
                <a:spcPct val="113000"/>
              </a:lnSpc>
              <a:buSzPct val="100000"/>
              <a:buChar char="•"/>
            </a:pPr>
            <a:r>
              <a:rPr lang="en-US" sz="900" b="1" dirty="0">
                <a:solidFill>
                  <a:srgbClr val="002060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Measure Performance:</a:t>
            </a:r>
            <a:r>
              <a:rPr lang="en-US" sz="900" dirty="0">
                <a:solidFill>
                  <a:srgbClr val="00206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Track actual vs. target RTO/RPO, success rates, and resolution time</a:t>
            </a:r>
            <a:endParaRPr lang="en-US" sz="900" dirty="0"/>
          </a:p>
          <a:p>
            <a:pPr marL="182880" indent="-182880" algn="l">
              <a:lnSpc>
                <a:spcPct val="113000"/>
              </a:lnSpc>
              <a:buSzPct val="100000"/>
              <a:buChar char="•"/>
            </a:pPr>
            <a:r>
              <a:rPr lang="en-US" sz="900" b="1" dirty="0">
                <a:solidFill>
                  <a:srgbClr val="002060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Learn and Improve:</a:t>
            </a:r>
            <a:r>
              <a:rPr lang="en-US" sz="900" dirty="0">
                <a:solidFill>
                  <a:srgbClr val="00206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Update plans based on findings; track improvement trends over time</a:t>
            </a:r>
            <a:endParaRPr lang="en-US" sz="900" dirty="0"/>
          </a:p>
        </p:txBody>
      </p:sp>
      <p:sp>
        <p:nvSpPr>
          <p:cNvPr id="21" name="Text 14"/>
          <p:cNvSpPr/>
          <p:nvPr/>
        </p:nvSpPr>
        <p:spPr>
          <a:xfrm>
            <a:off x="6275727" y="3571199"/>
            <a:ext cx="5228499" cy="1808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000000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Key Testing Metrics</a:t>
            </a:r>
            <a:endParaRPr lang="en-US" sz="1100" dirty="0"/>
          </a:p>
        </p:txBody>
      </p:sp>
      <p:sp>
        <p:nvSpPr>
          <p:cNvPr id="22" name="Text 15"/>
          <p:cNvSpPr/>
          <p:nvPr/>
        </p:nvSpPr>
        <p:spPr>
          <a:xfrm>
            <a:off x="6275727" y="3827462"/>
            <a:ext cx="5228499" cy="5289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82880" indent="-182880" algn="l">
              <a:lnSpc>
                <a:spcPct val="113000"/>
              </a:lnSpc>
              <a:buSzPct val="100000"/>
              <a:buChar char="•"/>
            </a:pPr>
            <a:r>
              <a:rPr lang="en-US" sz="900" b="1" dirty="0">
                <a:solidFill>
                  <a:srgbClr val="002060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Coverage:</a:t>
            </a:r>
            <a:r>
              <a:rPr lang="en-US" sz="900" dirty="0">
                <a:solidFill>
                  <a:srgbClr val="00206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% of critical systems and procedures tested</a:t>
            </a:r>
            <a:endParaRPr lang="en-US" sz="900" dirty="0"/>
          </a:p>
          <a:p>
            <a:pPr marL="182880" indent="-182880" algn="l">
              <a:lnSpc>
                <a:spcPct val="113000"/>
              </a:lnSpc>
              <a:buSzPct val="100000"/>
              <a:buChar char="•"/>
            </a:pPr>
            <a:r>
              <a:rPr lang="en-US" sz="900" b="1" dirty="0">
                <a:solidFill>
                  <a:srgbClr val="002060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Performance:</a:t>
            </a:r>
            <a:r>
              <a:rPr lang="en-US" sz="900" dirty="0">
                <a:solidFill>
                  <a:srgbClr val="00206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Actual vs. target RTO/RPO; test success rate</a:t>
            </a:r>
            <a:endParaRPr lang="en-US" sz="900" dirty="0"/>
          </a:p>
          <a:p>
            <a:pPr marL="182880" indent="-182880" algn="l">
              <a:lnSpc>
                <a:spcPct val="113000"/>
              </a:lnSpc>
              <a:buSzPct val="100000"/>
              <a:buChar char="•"/>
            </a:pPr>
            <a:r>
              <a:rPr lang="en-US" sz="900" b="1" dirty="0">
                <a:solidFill>
                  <a:srgbClr val="002060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Compliance:</a:t>
            </a:r>
            <a:r>
              <a:rPr lang="en-US" sz="900" dirty="0">
                <a:solidFill>
                  <a:srgbClr val="00206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Tests completed vs. scheduled; audit findings resolved</a:t>
            </a:r>
            <a:endParaRPr lang="en-US" sz="900" dirty="0"/>
          </a:p>
        </p:txBody>
      </p:sp>
      <p:sp>
        <p:nvSpPr>
          <p:cNvPr id="23" name="Text 16"/>
          <p:cNvSpPr/>
          <p:nvPr/>
        </p:nvSpPr>
        <p:spPr>
          <a:xfrm>
            <a:off x="6275727" y="4442935"/>
            <a:ext cx="5228499" cy="1808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000000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Common Challenges</a:t>
            </a:r>
            <a:endParaRPr lang="en-US" sz="1100" dirty="0"/>
          </a:p>
        </p:txBody>
      </p:sp>
      <p:sp>
        <p:nvSpPr>
          <p:cNvPr id="24" name="Text 17"/>
          <p:cNvSpPr/>
          <p:nvPr/>
        </p:nvSpPr>
        <p:spPr>
          <a:xfrm>
            <a:off x="6275727" y="4699198"/>
            <a:ext cx="5228499" cy="5289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82880" indent="-182880" algn="l">
              <a:lnSpc>
                <a:spcPct val="113000"/>
              </a:lnSpc>
              <a:buSzPct val="100000"/>
              <a:buChar char="•"/>
            </a:pPr>
            <a:r>
              <a:rPr lang="en-US" sz="900" b="1" dirty="0">
                <a:solidFill>
                  <a:srgbClr val="002060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Business Resistance:</a:t>
            </a:r>
            <a:r>
              <a:rPr lang="en-US" sz="900" dirty="0">
                <a:solidFill>
                  <a:srgbClr val="00206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Demonstrate value, minimize operational disruption</a:t>
            </a:r>
            <a:endParaRPr lang="en-US" sz="900" dirty="0"/>
          </a:p>
          <a:p>
            <a:pPr marL="182880" indent="-182880" algn="l">
              <a:lnSpc>
                <a:spcPct val="113000"/>
              </a:lnSpc>
              <a:buSzPct val="100000"/>
              <a:buChar char="•"/>
            </a:pPr>
            <a:r>
              <a:rPr lang="en-US" sz="900" b="1" dirty="0">
                <a:solidFill>
                  <a:srgbClr val="002060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Resource Constraints:</a:t>
            </a:r>
            <a:r>
              <a:rPr lang="en-US" sz="900" dirty="0">
                <a:solidFill>
                  <a:srgbClr val="00206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Prioritize critical systems; leverage tabletops for frequency</a:t>
            </a:r>
            <a:endParaRPr lang="en-US" sz="900" dirty="0"/>
          </a:p>
          <a:p>
            <a:pPr marL="182880" indent="-182880" algn="l">
              <a:lnSpc>
                <a:spcPct val="113000"/>
              </a:lnSpc>
              <a:buSzPct val="100000"/>
              <a:buChar char="•"/>
            </a:pPr>
            <a:r>
              <a:rPr lang="en-US" sz="900" b="1" dirty="0">
                <a:solidFill>
                  <a:srgbClr val="002060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Complex Dependencies:</a:t>
            </a:r>
            <a:r>
              <a:rPr lang="en-US" sz="900" dirty="0">
                <a:solidFill>
                  <a:srgbClr val="00206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Map dependencies carefully; test incrementally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17749"/>
            <a:ext cx="10868745" cy="3876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b="1" dirty="0">
                <a:solidFill>
                  <a:srgbClr val="666666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Effective BC/DR Requires Clear Governance and Defined Roles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61475" y="1132347"/>
            <a:ext cx="5283068" cy="1937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666666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BC/DR Governance Structure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661475" y="1425178"/>
            <a:ext cx="279095" cy="279102"/>
          </a:xfrm>
          <a:prstGeom prst="roundRect">
            <a:avLst>
              <a:gd name="adj" fmla="val 18667"/>
            </a:avLst>
          </a:prstGeom>
          <a:solidFill>
            <a:srgbClr val="CCF1FF"/>
          </a:solidFill>
          <a:ln w="6350">
            <a:solidFill>
              <a:srgbClr val="B2D7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033536" y="1467743"/>
            <a:ext cx="4911007" cy="1937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002060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Executive Steering Committee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033536" y="1754485"/>
            <a:ext cx="4911007" cy="5208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950" dirty="0">
                <a:solidFill>
                  <a:srgbClr val="00206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Senior leadership (CEO, CFO, CIO/CISO, COO, General Counsel) provides strategic direction, approves strategies and budgets, reviews program performance. Meets quarterly.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661475" y="2461419"/>
            <a:ext cx="279095" cy="279102"/>
          </a:xfrm>
          <a:prstGeom prst="roundRect">
            <a:avLst>
              <a:gd name="adj" fmla="val 18667"/>
            </a:avLst>
          </a:prstGeom>
          <a:solidFill>
            <a:srgbClr val="CCF1FF"/>
          </a:solidFill>
          <a:ln w="6350">
            <a:solidFill>
              <a:srgbClr val="B2D7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033536" y="2503984"/>
            <a:ext cx="4911007" cy="1937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002060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BC/DR Program Manager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033536" y="2790726"/>
            <a:ext cx="4911007" cy="5208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950" dirty="0">
                <a:solidFill>
                  <a:srgbClr val="00206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Day-to-day leadership: develops and maintains the program, oversees BIA, coordinates plan development and testing, and reports to the steering committee.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661475" y="3497659"/>
            <a:ext cx="279095" cy="279102"/>
          </a:xfrm>
          <a:prstGeom prst="roundRect">
            <a:avLst>
              <a:gd name="adj" fmla="val 18667"/>
            </a:avLst>
          </a:prstGeom>
          <a:solidFill>
            <a:srgbClr val="CCF1FF"/>
          </a:solidFill>
          <a:ln w="6350">
            <a:solidFill>
              <a:srgbClr val="B2D7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1033536" y="3540224"/>
            <a:ext cx="4911007" cy="1937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002060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Business Continuity Coordinators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033536" y="3826966"/>
            <a:ext cx="4911007" cy="3472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950" dirty="0">
                <a:solidFill>
                  <a:srgbClr val="00206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Unit-level representatives responsible for area-specific BIA, plan development, and testing coordination. Serve as liaisons to the program manager.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661475" y="4360267"/>
            <a:ext cx="279095" cy="279102"/>
          </a:xfrm>
          <a:prstGeom prst="roundRect">
            <a:avLst>
              <a:gd name="adj" fmla="val 18667"/>
            </a:avLst>
          </a:prstGeom>
          <a:solidFill>
            <a:srgbClr val="CCF1FF"/>
          </a:solidFill>
          <a:ln w="6350">
            <a:solidFill>
              <a:srgbClr val="B2D7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1033536" y="4402832"/>
            <a:ext cx="4911007" cy="1937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002060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Disaster Recovery Team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033536" y="4689574"/>
            <a:ext cx="4911007" cy="5208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950" dirty="0">
                <a:solidFill>
                  <a:srgbClr val="00206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Technical specialists (system admins, network engineers, DBAs, application specialists, security engineers) who restore and validate infrastructure and applications.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661475" y="5396508"/>
            <a:ext cx="279095" cy="279102"/>
          </a:xfrm>
          <a:prstGeom prst="roundRect">
            <a:avLst>
              <a:gd name="adj" fmla="val 18667"/>
            </a:avLst>
          </a:prstGeom>
          <a:solidFill>
            <a:srgbClr val="CCF1FF"/>
          </a:solidFill>
          <a:ln w="6350">
            <a:solidFill>
              <a:srgbClr val="B2D7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1033536" y="5439073"/>
            <a:ext cx="4911007" cy="1937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002060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Crisis Management Team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033536" y="5725815"/>
            <a:ext cx="4911007" cy="5208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950" dirty="0">
                <a:solidFill>
                  <a:srgbClr val="00206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Handles strategic decisions: Incident Commander (authority), Communications Lead, Legal Counsel, HR Representative, and Facilities Manager.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6253502" y="1132347"/>
            <a:ext cx="5283068" cy="1937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666666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RACI Matrix for Key BC/DR Activities</a:t>
            </a:r>
            <a:endParaRPr lang="en-US" sz="12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53502" y="1425178"/>
          <a:ext cx="5283068" cy="2382780"/>
        </p:xfrm>
        <a:graphic>
          <a:graphicData uri="http://schemas.openxmlformats.org/drawingml/2006/table">
            <a:tbl>
              <a:tblPr/>
              <a:tblGrid>
                <a:gridCol w="184907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5661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24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924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924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7465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002060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Activity</a:t>
                      </a:r>
                      <a:endParaRPr lang="en-US" sz="9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124044" marR="124044" marT="6350" marB="6350" anchor="ctr">
                    <a:lnL w="12700" cap="flat" cmpd="sng" algn="ctr">
                      <a:solidFill>
                        <a:srgbClr val="B2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2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2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2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002060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Responsible</a:t>
                      </a:r>
                      <a:endParaRPr lang="en-US" sz="9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124044" marR="124044" marT="6350" marB="6350" anchor="ctr">
                    <a:lnL w="12700" cap="flat" cmpd="sng" algn="ctr">
                      <a:solidFill>
                        <a:srgbClr val="B2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2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2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2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002060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Accountable</a:t>
                      </a:r>
                      <a:endParaRPr lang="en-US" sz="9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124044" marR="124044" marT="6350" marB="6350" anchor="ctr">
                    <a:lnL w="12700" cap="flat" cmpd="sng" algn="ctr">
                      <a:solidFill>
                        <a:srgbClr val="B2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2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2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2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002060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Consulted</a:t>
                      </a:r>
                      <a:endParaRPr lang="en-US" sz="9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124044" marR="124044" marT="6350" marB="6350" anchor="ctr">
                    <a:lnL w="12700" cap="flat" cmpd="sng" algn="ctr">
                      <a:solidFill>
                        <a:srgbClr val="B2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2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2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2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002060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Informed</a:t>
                      </a:r>
                      <a:endParaRPr lang="en-US" sz="9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124044" marR="124044" marT="6350" marB="6350" anchor="ctr">
                    <a:lnL w="12700" cap="flat" cmpd="sng" algn="ctr">
                      <a:solidFill>
                        <a:srgbClr val="B2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2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2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2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782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002060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Plan Development</a:t>
                      </a:r>
                      <a:endParaRPr lang="en-US" sz="9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124044" marR="124044" marT="6350" marB="6350" anchor="ctr">
                    <a:lnL w="12700" cap="flat" cmpd="sng" algn="ctr">
                      <a:solidFill>
                        <a:srgbClr val="B2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2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2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2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002060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BC Coord</a:t>
                      </a:r>
                      <a:endParaRPr lang="en-US" sz="9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124044" marR="124044" marT="6350" marB="6350" anchor="ctr">
                    <a:lnL w="12700" cap="flat" cmpd="sng" algn="ctr">
                      <a:solidFill>
                        <a:srgbClr val="B2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2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2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2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002060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Prog Mgr</a:t>
                      </a:r>
                      <a:endParaRPr lang="en-US" sz="9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124044" marR="124044" marT="6350" marB="6350" anchor="ctr">
                    <a:lnL w="12700" cap="flat" cmpd="sng" algn="ctr">
                      <a:solidFill>
                        <a:srgbClr val="B2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2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2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2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002060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BU Leads</a:t>
                      </a:r>
                      <a:endParaRPr lang="en-US" sz="9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124044" marR="124044" marT="6350" marB="6350" anchor="ctr">
                    <a:lnL w="12700" cap="flat" cmpd="sng" algn="ctr">
                      <a:solidFill>
                        <a:srgbClr val="B2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2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2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2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002060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Exec</a:t>
                      </a:r>
                      <a:endParaRPr lang="en-US" sz="9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124044" marR="124044" marT="6350" marB="6350" anchor="ctr">
                    <a:lnL w="12700" cap="flat" cmpd="sng" algn="ctr">
                      <a:solidFill>
                        <a:srgbClr val="B2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2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2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2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782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002060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BIA Conduct</a:t>
                      </a:r>
                      <a:endParaRPr lang="en-US" sz="9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124044" marR="124044" marT="6350" marB="6350" anchor="ctr">
                    <a:lnL w="12700" cap="flat" cmpd="sng" algn="ctr">
                      <a:solidFill>
                        <a:srgbClr val="B2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2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2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2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002060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Prog Mgr</a:t>
                      </a:r>
                      <a:endParaRPr lang="en-US" sz="9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124044" marR="124044" marT="6350" marB="6350" anchor="ctr">
                    <a:lnL w="12700" cap="flat" cmpd="sng" algn="ctr">
                      <a:solidFill>
                        <a:srgbClr val="B2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2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2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2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002060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BU Lead</a:t>
                      </a:r>
                      <a:endParaRPr lang="en-US" sz="9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124044" marR="124044" marT="6350" marB="6350" anchor="ctr">
                    <a:lnL w="12700" cap="flat" cmpd="sng" algn="ctr">
                      <a:solidFill>
                        <a:srgbClr val="B2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2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2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2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002060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Process Owners</a:t>
                      </a:r>
                      <a:endParaRPr lang="en-US" sz="9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124044" marR="124044" marT="6350" marB="6350" anchor="ctr">
                    <a:lnL w="12700" cap="flat" cmpd="sng" algn="ctr">
                      <a:solidFill>
                        <a:srgbClr val="B2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2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2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2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002060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Exec</a:t>
                      </a:r>
                      <a:endParaRPr lang="en-US" sz="9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124044" marR="124044" marT="6350" marB="6350" anchor="ctr">
                    <a:lnL w="12700" cap="flat" cmpd="sng" algn="ctr">
                      <a:solidFill>
                        <a:srgbClr val="B2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2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2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2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782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002060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Testing Execution</a:t>
                      </a:r>
                      <a:endParaRPr lang="en-US" sz="9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124044" marR="124044" marT="6350" marB="6350" anchor="ctr">
                    <a:lnL w="12700" cap="flat" cmpd="sng" algn="ctr">
                      <a:solidFill>
                        <a:srgbClr val="B2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2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2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2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002060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DR Team</a:t>
                      </a:r>
                      <a:endParaRPr lang="en-US" sz="9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124044" marR="124044" marT="6350" marB="6350" anchor="ctr">
                    <a:lnL w="12700" cap="flat" cmpd="sng" algn="ctr">
                      <a:solidFill>
                        <a:srgbClr val="B2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2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2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2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002060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Prog Mgr</a:t>
                      </a:r>
                      <a:endParaRPr lang="en-US" sz="9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124044" marR="124044" marT="6350" marB="6350" anchor="ctr">
                    <a:lnL w="12700" cap="flat" cmpd="sng" algn="ctr">
                      <a:solidFill>
                        <a:srgbClr val="B2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2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2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2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002060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BU Leads</a:t>
                      </a:r>
                      <a:endParaRPr lang="en-US" sz="9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124044" marR="124044" marT="6350" marB="6350" anchor="ctr">
                    <a:lnL w="12700" cap="flat" cmpd="sng" algn="ctr">
                      <a:solidFill>
                        <a:srgbClr val="B2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2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2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2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002060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Exec</a:t>
                      </a:r>
                      <a:endParaRPr lang="en-US" sz="9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124044" marR="124044" marT="6350" marB="6350" anchor="ctr">
                    <a:lnL w="12700" cap="flat" cmpd="sng" algn="ctr">
                      <a:solidFill>
                        <a:srgbClr val="B2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2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2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2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465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002060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Plan Activation</a:t>
                      </a:r>
                      <a:endParaRPr lang="en-US" sz="9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124044" marR="124044" marT="6350" marB="6350" anchor="ctr">
                    <a:lnL w="12700" cap="flat" cmpd="sng" algn="ctr">
                      <a:solidFill>
                        <a:srgbClr val="B2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2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2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2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002060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Inc Cmd</a:t>
                      </a:r>
                      <a:endParaRPr lang="en-US" sz="9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124044" marR="124044" marT="6350" marB="6350" anchor="ctr">
                    <a:lnL w="12700" cap="flat" cmpd="sng" algn="ctr">
                      <a:solidFill>
                        <a:srgbClr val="B2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2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2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2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002060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Exec Sponsor</a:t>
                      </a:r>
                      <a:endParaRPr lang="en-US" sz="9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124044" marR="124044" marT="6350" marB="6350" anchor="ctr">
                    <a:lnL w="12700" cap="flat" cmpd="sng" algn="ctr">
                      <a:solidFill>
                        <a:srgbClr val="B2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2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2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2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002060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Prog Mgr</a:t>
                      </a:r>
                      <a:endParaRPr lang="en-US" sz="9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124044" marR="124044" marT="6350" marB="6350" anchor="ctr">
                    <a:lnL w="12700" cap="flat" cmpd="sng" algn="ctr">
                      <a:solidFill>
                        <a:srgbClr val="B2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2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2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2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002060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All Staff</a:t>
                      </a:r>
                      <a:endParaRPr lang="en-US" sz="9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124044" marR="124044" marT="6350" marB="6350" anchor="ctr">
                    <a:lnL w="12700" cap="flat" cmpd="sng" algn="ctr">
                      <a:solidFill>
                        <a:srgbClr val="B2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2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2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2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1" name="Shape 18"/>
          <p:cNvSpPr/>
          <p:nvPr/>
        </p:nvSpPr>
        <p:spPr>
          <a:xfrm>
            <a:off x="6253502" y="3925292"/>
            <a:ext cx="5283068" cy="576461"/>
          </a:xfrm>
          <a:prstGeom prst="roundRect">
            <a:avLst>
              <a:gd name="adj" fmla="val 9038"/>
            </a:avLst>
          </a:prstGeom>
          <a:solidFill>
            <a:srgbClr val="CCF1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77522" y="4067671"/>
            <a:ext cx="154976" cy="124023"/>
          </a:xfrm>
          <a:prstGeom prst="rect">
            <a:avLst/>
          </a:prstGeom>
        </p:spPr>
      </p:pic>
      <p:sp>
        <p:nvSpPr>
          <p:cNvPr id="23" name="Text 19"/>
          <p:cNvSpPr/>
          <p:nvPr/>
        </p:nvSpPr>
        <p:spPr>
          <a:xfrm>
            <a:off x="6656519" y="4040924"/>
            <a:ext cx="4756031" cy="3472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Clear RACI definitions prevent role confusion during high-stress recovery scenarios, when ambiguity can cost critical hours of recovery time.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761739"/>
            <a:ext cx="10868745" cy="3617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250" b="1" dirty="0">
                <a:solidFill>
                  <a:srgbClr val="666666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Metrics Drive BC/DR Program Maturity and Effectiveness</a:t>
            </a:r>
            <a:endParaRPr lang="en-US" sz="2250" dirty="0"/>
          </a:p>
        </p:txBody>
      </p:sp>
      <p:sp>
        <p:nvSpPr>
          <p:cNvPr id="3" name="Text 1"/>
          <p:cNvSpPr/>
          <p:nvPr/>
        </p:nvSpPr>
        <p:spPr>
          <a:xfrm>
            <a:off x="661475" y="1320422"/>
            <a:ext cx="5293188" cy="1808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666666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Key Performance Indicators</a:t>
            </a:r>
            <a:endParaRPr lang="en-US" sz="11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1586805"/>
            <a:ext cx="2606114" cy="990997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40659" y="1715195"/>
            <a:ext cx="2298543" cy="1808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002060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Availability &amp; Reliability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840659" y="1977033"/>
            <a:ext cx="2298543" cy="472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900" dirty="0">
                <a:solidFill>
                  <a:srgbClr val="00206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System uptime % (99.9% / 99.99% / 99.999%) • Mean Time Between Failures (MTBF) • Mean Time to Repair (MTTR)</a:t>
            </a:r>
            <a:endParaRPr lang="en-US" sz="9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348549" y="1586805"/>
            <a:ext cx="2606114" cy="990997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3527734" y="1715195"/>
            <a:ext cx="2298543" cy="1808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002060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Recovery Performance</a:t>
            </a: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3527734" y="1977033"/>
            <a:ext cx="2298543" cy="472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900" dirty="0">
                <a:solidFill>
                  <a:srgbClr val="00206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Actual RTO vs. target RTO • Actual RPO vs. target RPO • Recovery success rate • Data loss incidents</a:t>
            </a:r>
            <a:endParaRPr lang="en-US" sz="90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2658765"/>
            <a:ext cx="2606114" cy="990997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840659" y="2787154"/>
            <a:ext cx="2298543" cy="1808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002060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Testing &amp; Exercises</a:t>
            </a:r>
            <a:endParaRPr lang="en-US" sz="1100" dirty="0"/>
          </a:p>
        </p:txBody>
      </p:sp>
      <p:sp>
        <p:nvSpPr>
          <p:cNvPr id="12" name="Text 7"/>
          <p:cNvSpPr/>
          <p:nvPr/>
        </p:nvSpPr>
        <p:spPr>
          <a:xfrm>
            <a:off x="840659" y="3048992"/>
            <a:ext cx="2298543" cy="472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900" dirty="0">
                <a:solidFill>
                  <a:srgbClr val="00206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Number of tests per year • Test success rate • Issues identified • Time to resolve findings</a:t>
            </a:r>
            <a:endParaRPr lang="en-US" sz="90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348549" y="2658765"/>
            <a:ext cx="2606114" cy="990997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3527734" y="2787154"/>
            <a:ext cx="2298543" cy="1808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002060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Compliance &amp; Governance</a:t>
            </a:r>
            <a:endParaRPr lang="en-US" sz="1100" dirty="0"/>
          </a:p>
        </p:txBody>
      </p:sp>
      <p:sp>
        <p:nvSpPr>
          <p:cNvPr id="15" name="Text 9"/>
          <p:cNvSpPr/>
          <p:nvPr/>
        </p:nvSpPr>
        <p:spPr>
          <a:xfrm>
            <a:off x="3527734" y="3048992"/>
            <a:ext cx="2298543" cy="472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900" dirty="0">
                <a:solidFill>
                  <a:srgbClr val="00206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Plan update frequency • Training completion rate • Audit findings • Regulatory compliance status</a:t>
            </a:r>
            <a:endParaRPr lang="en-US" sz="900" dirty="0"/>
          </a:p>
        </p:txBody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3730724"/>
            <a:ext cx="2606114" cy="990997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840659" y="3859113"/>
            <a:ext cx="2298543" cy="1808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002060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Financial Metrics</a:t>
            </a:r>
            <a:endParaRPr lang="en-US" sz="1100" dirty="0"/>
          </a:p>
        </p:txBody>
      </p:sp>
      <p:sp>
        <p:nvSpPr>
          <p:cNvPr id="18" name="Text 11"/>
          <p:cNvSpPr/>
          <p:nvPr/>
        </p:nvSpPr>
        <p:spPr>
          <a:xfrm>
            <a:off x="840659" y="4120952"/>
            <a:ext cx="2298543" cy="472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900" dirty="0">
                <a:solidFill>
                  <a:srgbClr val="00206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BC/DR costs as % of IT budget • Cost per protected system • Cost of downtime avoided • ROI of investments</a:t>
            </a:r>
            <a:endParaRPr lang="en-US" sz="900" dirty="0"/>
          </a:p>
        </p:txBody>
      </p:sp>
      <p:sp>
        <p:nvSpPr>
          <p:cNvPr id="19" name="Shape 12"/>
          <p:cNvSpPr/>
          <p:nvPr/>
        </p:nvSpPr>
        <p:spPr>
          <a:xfrm>
            <a:off x="6160040" y="1233884"/>
            <a:ext cx="5459871" cy="4873526"/>
          </a:xfrm>
          <a:prstGeom prst="roundRect">
            <a:avLst>
              <a:gd name="adj" fmla="val 1710"/>
            </a:avLst>
          </a:prstGeom>
          <a:solidFill>
            <a:srgbClr val="00B0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3"/>
          <p:cNvSpPr/>
          <p:nvPr/>
        </p:nvSpPr>
        <p:spPr>
          <a:xfrm>
            <a:off x="6275727" y="1320422"/>
            <a:ext cx="5228499" cy="1808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000000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BC/DR Maturity Assessment Model</a:t>
            </a:r>
            <a:endParaRPr lang="en-US" sz="1100" dirty="0"/>
          </a:p>
        </p:txBody>
      </p:sp>
      <p:sp>
        <p:nvSpPr>
          <p:cNvPr id="21" name="Shape 14"/>
          <p:cNvSpPr/>
          <p:nvPr/>
        </p:nvSpPr>
        <p:spPr>
          <a:xfrm>
            <a:off x="6275727" y="1586805"/>
            <a:ext cx="522771" cy="808137"/>
          </a:xfrm>
          <a:prstGeom prst="roundRect">
            <a:avLst>
              <a:gd name="adj" fmla="val 9301"/>
            </a:avLst>
          </a:prstGeom>
          <a:solidFill>
            <a:srgbClr val="CCF1FF"/>
          </a:solidFill>
          <a:ln w="6350">
            <a:solidFill>
              <a:srgbClr val="B2D7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15"/>
          <p:cNvSpPr/>
          <p:nvPr/>
        </p:nvSpPr>
        <p:spPr>
          <a:xfrm>
            <a:off x="6455705" y="1889125"/>
            <a:ext cx="162715" cy="20349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002060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1</a:t>
            </a:r>
            <a:endParaRPr lang="en-US" sz="1250" dirty="0"/>
          </a:p>
        </p:txBody>
      </p:sp>
      <p:sp>
        <p:nvSpPr>
          <p:cNvPr id="23" name="Text 16"/>
          <p:cNvSpPr/>
          <p:nvPr/>
        </p:nvSpPr>
        <p:spPr>
          <a:xfrm>
            <a:off x="6914183" y="1702495"/>
            <a:ext cx="4474356" cy="1808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002060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Level 1: Initial (Ad Hoc)</a:t>
            </a:r>
            <a:endParaRPr lang="en-US" sz="1100" dirty="0"/>
          </a:p>
        </p:txBody>
      </p:sp>
      <p:sp>
        <p:nvSpPr>
          <p:cNvPr id="24" name="Text 17"/>
          <p:cNvSpPr/>
          <p:nvPr/>
        </p:nvSpPr>
        <p:spPr>
          <a:xfrm>
            <a:off x="6914183" y="1964333"/>
            <a:ext cx="4474356" cy="314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900" dirty="0">
                <a:solidFill>
                  <a:srgbClr val="00206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Reactive and informal. No formal plans. Recovery relies on individual heroics. Unpredictable success.</a:t>
            </a:r>
            <a:endParaRPr lang="en-US" sz="900" dirty="0"/>
          </a:p>
        </p:txBody>
      </p:sp>
      <p:sp>
        <p:nvSpPr>
          <p:cNvPr id="25" name="Shape 18"/>
          <p:cNvSpPr/>
          <p:nvPr/>
        </p:nvSpPr>
        <p:spPr>
          <a:xfrm>
            <a:off x="6856340" y="2391767"/>
            <a:ext cx="4590042" cy="6350"/>
          </a:xfrm>
          <a:prstGeom prst="roundRect">
            <a:avLst>
              <a:gd name="adj" fmla="val 49999"/>
            </a:avLst>
          </a:prstGeom>
          <a:solidFill>
            <a:srgbClr val="B2D7E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Shape 19"/>
          <p:cNvSpPr/>
          <p:nvPr/>
        </p:nvSpPr>
        <p:spPr>
          <a:xfrm>
            <a:off x="6275727" y="2452787"/>
            <a:ext cx="1045640" cy="808137"/>
          </a:xfrm>
          <a:prstGeom prst="roundRect">
            <a:avLst>
              <a:gd name="adj" fmla="val 6017"/>
            </a:avLst>
          </a:prstGeom>
          <a:solidFill>
            <a:srgbClr val="CCF1FF"/>
          </a:solidFill>
          <a:ln w="6350">
            <a:solidFill>
              <a:srgbClr val="B2D7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0"/>
          <p:cNvSpPr/>
          <p:nvPr/>
        </p:nvSpPr>
        <p:spPr>
          <a:xfrm>
            <a:off x="6717140" y="2755106"/>
            <a:ext cx="162715" cy="20349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002060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2</a:t>
            </a:r>
            <a:endParaRPr lang="en-US" sz="1250" dirty="0"/>
          </a:p>
        </p:txBody>
      </p:sp>
      <p:sp>
        <p:nvSpPr>
          <p:cNvPr id="28" name="Text 21"/>
          <p:cNvSpPr/>
          <p:nvPr/>
        </p:nvSpPr>
        <p:spPr>
          <a:xfrm>
            <a:off x="7437053" y="2568476"/>
            <a:ext cx="3951486" cy="1808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002060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Level 2: Developing (Repeatable)</a:t>
            </a:r>
            <a:endParaRPr lang="en-US" sz="1100" dirty="0"/>
          </a:p>
        </p:txBody>
      </p:sp>
      <p:sp>
        <p:nvSpPr>
          <p:cNvPr id="29" name="Text 22"/>
          <p:cNvSpPr/>
          <p:nvPr/>
        </p:nvSpPr>
        <p:spPr>
          <a:xfrm>
            <a:off x="7437053" y="2830314"/>
            <a:ext cx="3951486" cy="314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900" dirty="0">
                <a:solidFill>
                  <a:srgbClr val="00206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Basic plans exist for critical systems. Some testing, but not regular. Variable success.</a:t>
            </a:r>
            <a:endParaRPr lang="en-US" sz="900" dirty="0"/>
          </a:p>
        </p:txBody>
      </p:sp>
      <p:sp>
        <p:nvSpPr>
          <p:cNvPr id="30" name="Shape 23"/>
          <p:cNvSpPr/>
          <p:nvPr/>
        </p:nvSpPr>
        <p:spPr>
          <a:xfrm>
            <a:off x="7379210" y="3257748"/>
            <a:ext cx="4067172" cy="6350"/>
          </a:xfrm>
          <a:prstGeom prst="roundRect">
            <a:avLst>
              <a:gd name="adj" fmla="val 49999"/>
            </a:avLst>
          </a:prstGeom>
          <a:solidFill>
            <a:srgbClr val="B2D7E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Shape 24"/>
          <p:cNvSpPr/>
          <p:nvPr/>
        </p:nvSpPr>
        <p:spPr>
          <a:xfrm>
            <a:off x="6275727" y="3318768"/>
            <a:ext cx="1568510" cy="808137"/>
          </a:xfrm>
          <a:prstGeom prst="roundRect">
            <a:avLst>
              <a:gd name="adj" fmla="val 6017"/>
            </a:avLst>
          </a:prstGeom>
          <a:solidFill>
            <a:srgbClr val="CCF1FF"/>
          </a:solidFill>
          <a:ln w="6350">
            <a:solidFill>
              <a:srgbClr val="B2D7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25"/>
          <p:cNvSpPr/>
          <p:nvPr/>
        </p:nvSpPr>
        <p:spPr>
          <a:xfrm>
            <a:off x="6978575" y="3621088"/>
            <a:ext cx="162715" cy="20349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002060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3</a:t>
            </a:r>
            <a:endParaRPr lang="en-US" sz="1250" dirty="0"/>
          </a:p>
        </p:txBody>
      </p:sp>
      <p:sp>
        <p:nvSpPr>
          <p:cNvPr id="33" name="Text 26"/>
          <p:cNvSpPr/>
          <p:nvPr/>
        </p:nvSpPr>
        <p:spPr>
          <a:xfrm>
            <a:off x="7959923" y="3434457"/>
            <a:ext cx="3428617" cy="1808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002060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Level 3: Defined (Standardized)</a:t>
            </a:r>
            <a:endParaRPr lang="en-US" sz="1100" dirty="0"/>
          </a:p>
        </p:txBody>
      </p:sp>
      <p:sp>
        <p:nvSpPr>
          <p:cNvPr id="34" name="Text 27"/>
          <p:cNvSpPr/>
          <p:nvPr/>
        </p:nvSpPr>
        <p:spPr>
          <a:xfrm>
            <a:off x="7959923" y="3696295"/>
            <a:ext cx="3428617" cy="314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900" dirty="0">
                <a:solidFill>
                  <a:srgbClr val="00206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Comprehensive program with documented processes. Regular testing. Clear governance. Consistent recovery.</a:t>
            </a:r>
            <a:endParaRPr lang="en-US" sz="900" dirty="0"/>
          </a:p>
        </p:txBody>
      </p:sp>
      <p:sp>
        <p:nvSpPr>
          <p:cNvPr id="35" name="Shape 28"/>
          <p:cNvSpPr/>
          <p:nvPr/>
        </p:nvSpPr>
        <p:spPr>
          <a:xfrm>
            <a:off x="7902080" y="4123730"/>
            <a:ext cx="3544303" cy="6350"/>
          </a:xfrm>
          <a:prstGeom prst="roundRect">
            <a:avLst>
              <a:gd name="adj" fmla="val 49999"/>
            </a:avLst>
          </a:prstGeom>
          <a:solidFill>
            <a:srgbClr val="B2D7E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Shape 29"/>
          <p:cNvSpPr/>
          <p:nvPr/>
        </p:nvSpPr>
        <p:spPr>
          <a:xfrm>
            <a:off x="6275727" y="4184749"/>
            <a:ext cx="2091380" cy="808137"/>
          </a:xfrm>
          <a:prstGeom prst="roundRect">
            <a:avLst>
              <a:gd name="adj" fmla="val 6017"/>
            </a:avLst>
          </a:prstGeom>
          <a:solidFill>
            <a:srgbClr val="CCF1FF"/>
          </a:solidFill>
          <a:ln w="6350">
            <a:solidFill>
              <a:srgbClr val="B2D7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0"/>
          <p:cNvSpPr/>
          <p:nvPr/>
        </p:nvSpPr>
        <p:spPr>
          <a:xfrm>
            <a:off x="7240010" y="4487069"/>
            <a:ext cx="162715" cy="20349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002060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4</a:t>
            </a:r>
            <a:endParaRPr lang="en-US" sz="1250" dirty="0"/>
          </a:p>
        </p:txBody>
      </p:sp>
      <p:sp>
        <p:nvSpPr>
          <p:cNvPr id="38" name="Text 31"/>
          <p:cNvSpPr/>
          <p:nvPr/>
        </p:nvSpPr>
        <p:spPr>
          <a:xfrm>
            <a:off x="8482792" y="4300438"/>
            <a:ext cx="2905747" cy="1808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002060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Level 4: Managed (Measured)</a:t>
            </a:r>
            <a:endParaRPr lang="en-US" sz="1100" dirty="0"/>
          </a:p>
        </p:txBody>
      </p:sp>
      <p:sp>
        <p:nvSpPr>
          <p:cNvPr id="39" name="Text 32"/>
          <p:cNvSpPr/>
          <p:nvPr/>
        </p:nvSpPr>
        <p:spPr>
          <a:xfrm>
            <a:off x="8482792" y="4562277"/>
            <a:ext cx="2905747" cy="314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900" dirty="0">
                <a:solidFill>
                  <a:srgbClr val="00206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Data-driven. Proactive gap identification. Integration with enterprise risk management.</a:t>
            </a:r>
            <a:endParaRPr lang="en-US" sz="900" dirty="0"/>
          </a:p>
        </p:txBody>
      </p:sp>
      <p:sp>
        <p:nvSpPr>
          <p:cNvPr id="40" name="Shape 33"/>
          <p:cNvSpPr/>
          <p:nvPr/>
        </p:nvSpPr>
        <p:spPr>
          <a:xfrm>
            <a:off x="8424949" y="4989711"/>
            <a:ext cx="3021433" cy="6350"/>
          </a:xfrm>
          <a:prstGeom prst="roundRect">
            <a:avLst>
              <a:gd name="adj" fmla="val 49999"/>
            </a:avLst>
          </a:prstGeom>
          <a:solidFill>
            <a:srgbClr val="B2D7E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1" name="Shape 34"/>
          <p:cNvSpPr/>
          <p:nvPr/>
        </p:nvSpPr>
        <p:spPr>
          <a:xfrm>
            <a:off x="6275727" y="5050730"/>
            <a:ext cx="2614249" cy="965597"/>
          </a:xfrm>
          <a:prstGeom prst="roundRect">
            <a:avLst>
              <a:gd name="adj" fmla="val 5036"/>
            </a:avLst>
          </a:prstGeom>
          <a:solidFill>
            <a:srgbClr val="CCF1FF"/>
          </a:solidFill>
          <a:ln w="6350">
            <a:solidFill>
              <a:srgbClr val="B2D7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35"/>
          <p:cNvSpPr/>
          <p:nvPr/>
        </p:nvSpPr>
        <p:spPr>
          <a:xfrm>
            <a:off x="7501444" y="5431730"/>
            <a:ext cx="162715" cy="20349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002060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5</a:t>
            </a:r>
            <a:endParaRPr lang="en-US" sz="1250" dirty="0"/>
          </a:p>
        </p:txBody>
      </p:sp>
      <p:sp>
        <p:nvSpPr>
          <p:cNvPr id="43" name="Text 36"/>
          <p:cNvSpPr/>
          <p:nvPr/>
        </p:nvSpPr>
        <p:spPr>
          <a:xfrm>
            <a:off x="9005662" y="5166420"/>
            <a:ext cx="2382877" cy="1808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002060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Level 5: Optimizing</a:t>
            </a:r>
            <a:endParaRPr lang="en-US" sz="1100" dirty="0"/>
          </a:p>
        </p:txBody>
      </p:sp>
      <p:sp>
        <p:nvSpPr>
          <p:cNvPr id="44" name="Text 37"/>
          <p:cNvSpPr/>
          <p:nvPr/>
        </p:nvSpPr>
        <p:spPr>
          <a:xfrm>
            <a:off x="9005662" y="5428258"/>
            <a:ext cx="2382877" cy="472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900" dirty="0">
                <a:solidFill>
                  <a:srgbClr val="00206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BC/DR is a core competency. Innovation in recovery. Resilience embedded in organizational culture.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838336"/>
            <a:ext cx="10868745" cy="7235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250" b="1" dirty="0">
                <a:solidFill>
                  <a:srgbClr val="666666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Incident Response and BC/DR Form a Complementary Resilience Framework</a:t>
            </a:r>
            <a:endParaRPr lang="en-US" sz="2250" dirty="0"/>
          </a:p>
        </p:txBody>
      </p:sp>
      <p:sp>
        <p:nvSpPr>
          <p:cNvPr id="3" name="Text 1"/>
          <p:cNvSpPr/>
          <p:nvPr/>
        </p:nvSpPr>
        <p:spPr>
          <a:xfrm>
            <a:off x="661475" y="1758770"/>
            <a:ext cx="5293188" cy="1808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666666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Incident Response Scope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61475" y="2016944"/>
            <a:ext cx="5293188" cy="472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900" b="1" dirty="0">
                <a:solidFill>
                  <a:srgbClr val="002060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Focus: Cybersecurity Incidents.</a:t>
            </a:r>
            <a:r>
              <a:rPr lang="en-US" sz="900" dirty="0">
                <a:solidFill>
                  <a:srgbClr val="00206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Addresses malware, unauthorized access, data breaches, denial of service, and insider threats. Primary goal: minimize security impact and restore secure operations through detection, containment, eradication, and recovery.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243382" y="1758770"/>
            <a:ext cx="5293188" cy="1808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666666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BC/DR Scope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243382" y="2016944"/>
            <a:ext cx="5293188" cy="472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900" b="1" dirty="0">
                <a:solidFill>
                  <a:srgbClr val="002060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Focus: All Disruptions.</a:t>
            </a:r>
            <a:r>
              <a:rPr lang="en-US" sz="900" dirty="0">
                <a:solidFill>
                  <a:srgbClr val="00206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Addresses natural disasters, technology failures, supply chain interruptions, facility issues, and cybersecurity incidents. Primary goal: minimize business impact and restore operations while maintaining critical functions.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61475" y="2687457"/>
            <a:ext cx="10868745" cy="1808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666666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Integration Points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61475" y="2984302"/>
            <a:ext cx="3568908" cy="1103412"/>
          </a:xfrm>
          <a:prstGeom prst="roundRect">
            <a:avLst>
              <a:gd name="adj" fmla="val 4407"/>
            </a:avLst>
          </a:prstGeom>
          <a:solidFill>
            <a:srgbClr val="CCF1FF"/>
          </a:solidFill>
          <a:ln w="6350">
            <a:solidFill>
              <a:srgbClr val="B2D7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783511" y="3106341"/>
            <a:ext cx="3324836" cy="1808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002060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Shared Activation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83511" y="3335834"/>
            <a:ext cx="3324836" cy="6298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900" dirty="0">
                <a:solidFill>
                  <a:srgbClr val="00206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Major cybersecurity incidents trigger both disciplines simultaneously. Ransomware requires IR (threat containment) </a:t>
            </a:r>
            <a:r>
              <a:rPr lang="en-US" sz="900" i="1" dirty="0">
                <a:solidFill>
                  <a:srgbClr val="00206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and</a:t>
            </a:r>
            <a:r>
              <a:rPr lang="en-US" sz="900" dirty="0">
                <a:solidFill>
                  <a:srgbClr val="00206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DR (system recovery). DDoS requires IR (attack mitigation) </a:t>
            </a:r>
            <a:r>
              <a:rPr lang="en-US" sz="900" i="1" dirty="0">
                <a:solidFill>
                  <a:srgbClr val="00206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and</a:t>
            </a:r>
            <a:r>
              <a:rPr lang="en-US" sz="900" dirty="0">
                <a:solidFill>
                  <a:srgbClr val="00206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BC (alternate service delivery).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311344" y="2984302"/>
            <a:ext cx="3568908" cy="1103412"/>
          </a:xfrm>
          <a:prstGeom prst="roundRect">
            <a:avLst>
              <a:gd name="adj" fmla="val 4407"/>
            </a:avLst>
          </a:prstGeom>
          <a:solidFill>
            <a:srgbClr val="CCF1FF"/>
          </a:solidFill>
          <a:ln w="6350">
            <a:solidFill>
              <a:srgbClr val="B2D7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433380" y="3106341"/>
            <a:ext cx="3324836" cy="1808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002060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Coordinated Teams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433380" y="3335834"/>
            <a:ext cx="3324836" cy="6298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900" dirty="0">
                <a:solidFill>
                  <a:srgbClr val="00206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Unified command with clear decision authority, shared communication and coordination procedures, joint exercises and training, and maintained shared situational awareness across both teams.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7961213" y="2984302"/>
            <a:ext cx="3568908" cy="1103412"/>
          </a:xfrm>
          <a:prstGeom prst="roundRect">
            <a:avLst>
              <a:gd name="adj" fmla="val 4407"/>
            </a:avLst>
          </a:prstGeom>
          <a:solidFill>
            <a:srgbClr val="CCF1FF"/>
          </a:solidFill>
          <a:ln w="6350">
            <a:solidFill>
              <a:srgbClr val="B2D7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8083249" y="3106341"/>
            <a:ext cx="3324836" cy="1808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002060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Unified Governance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8083249" y="3335834"/>
            <a:ext cx="3324836" cy="6298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900" dirty="0">
                <a:solidFill>
                  <a:srgbClr val="00206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Common governance ensures alignment, shared resources and budget, consistent policies and standards, and integrated risk management across both IR and BC/DR disciplines.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661475" y="4214831"/>
            <a:ext cx="10868745" cy="1808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666666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Case Example: Ransomware Attack — Coordinated Response Timeline</a:t>
            </a:r>
            <a:endParaRPr lang="en-US" sz="1100" dirty="0"/>
          </a:p>
        </p:txBody>
      </p:sp>
      <p:pic>
        <p:nvPicPr>
          <p:cNvPr id="1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4511675"/>
            <a:ext cx="3622882" cy="463054"/>
          </a:xfrm>
          <a:prstGeom prst="rect">
            <a:avLst/>
          </a:prstGeom>
        </p:spPr>
      </p:pic>
      <p:sp>
        <p:nvSpPr>
          <p:cNvPr id="19" name="Text 16"/>
          <p:cNvSpPr/>
          <p:nvPr/>
        </p:nvSpPr>
        <p:spPr>
          <a:xfrm>
            <a:off x="777161" y="5055691"/>
            <a:ext cx="3391510" cy="1808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002060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Hour 0–4: Detection &amp; Initial Response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777161" y="5285184"/>
            <a:ext cx="3391510" cy="6298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900" b="1" dirty="0">
                <a:solidFill>
                  <a:srgbClr val="002060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IR:</a:t>
            </a:r>
            <a:r>
              <a:rPr lang="en-US" sz="900" dirty="0">
                <a:solidFill>
                  <a:srgbClr val="00206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Detects ransomware, initiates response, contains affected systems, preserves evidence.</a:t>
            </a:r>
            <a:endParaRPr lang="en-US" sz="900" dirty="0"/>
          </a:p>
          <a:p>
            <a:pPr marL="0" indent="0" algn="l">
              <a:lnSpc>
                <a:spcPct val="113000"/>
              </a:lnSpc>
              <a:buNone/>
            </a:pPr>
            <a:r>
              <a:rPr lang="en-US" sz="900" b="1" dirty="0">
                <a:solidFill>
                  <a:srgbClr val="002060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BC/DR:</a:t>
            </a:r>
            <a:r>
              <a:rPr lang="en-US" sz="900" dirty="0">
                <a:solidFill>
                  <a:srgbClr val="00206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Assesses business impact, activates BC procedures, begins stakeholder communications.</a:t>
            </a:r>
            <a:endParaRPr lang="en-US" sz="900" dirty="0"/>
          </a:p>
        </p:txBody>
      </p:sp>
      <p:pic>
        <p:nvPicPr>
          <p:cNvPr id="2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84357" y="4511675"/>
            <a:ext cx="3622882" cy="463054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4400043" y="5055691"/>
            <a:ext cx="3391510" cy="1808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002060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Hour 4–24: Containment &amp; Investigation</a:t>
            </a:r>
            <a:endParaRPr lang="en-US" sz="1100" dirty="0"/>
          </a:p>
        </p:txBody>
      </p:sp>
      <p:sp>
        <p:nvSpPr>
          <p:cNvPr id="23" name="Text 19"/>
          <p:cNvSpPr/>
          <p:nvPr/>
        </p:nvSpPr>
        <p:spPr>
          <a:xfrm>
            <a:off x="4400043" y="5285184"/>
            <a:ext cx="3391510" cy="6298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900" b="1" dirty="0">
                <a:solidFill>
                  <a:srgbClr val="002060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IR:</a:t>
            </a:r>
            <a:r>
              <a:rPr lang="en-US" sz="900" dirty="0">
                <a:solidFill>
                  <a:srgbClr val="00206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Investigates attack vector, identifies scope, eradicates attacker access.</a:t>
            </a:r>
            <a:endParaRPr lang="en-US" sz="900" dirty="0"/>
          </a:p>
          <a:p>
            <a:pPr marL="0" indent="0" algn="l">
              <a:lnSpc>
                <a:spcPct val="113000"/>
              </a:lnSpc>
              <a:buNone/>
            </a:pPr>
            <a:r>
              <a:rPr lang="en-US" sz="900" b="1" dirty="0">
                <a:solidFill>
                  <a:srgbClr val="002060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BC/DR:</a:t>
            </a:r>
            <a:r>
              <a:rPr lang="en-US" sz="900" dirty="0">
                <a:solidFill>
                  <a:srgbClr val="00206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Activates alternate processing, maintains critical operations, coordinates customer comms.</a:t>
            </a:r>
            <a:endParaRPr lang="en-US" sz="900" dirty="0"/>
          </a:p>
        </p:txBody>
      </p:sp>
      <p:pic>
        <p:nvPicPr>
          <p:cNvPr id="2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07239" y="4511675"/>
            <a:ext cx="3622882" cy="463054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8022925" y="5055691"/>
            <a:ext cx="3391510" cy="1808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002060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Hour 24–72: Recovery &amp; Restoration</a:t>
            </a:r>
            <a:endParaRPr lang="en-US" sz="1100" dirty="0"/>
          </a:p>
        </p:txBody>
      </p:sp>
      <p:sp>
        <p:nvSpPr>
          <p:cNvPr id="26" name="Text 21"/>
          <p:cNvSpPr/>
          <p:nvPr/>
        </p:nvSpPr>
        <p:spPr>
          <a:xfrm>
            <a:off x="8022925" y="5285184"/>
            <a:ext cx="3391510" cy="6298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900" b="1" dirty="0">
                <a:solidFill>
                  <a:srgbClr val="002060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IR:</a:t>
            </a:r>
            <a:r>
              <a:rPr lang="en-US" sz="900" dirty="0">
                <a:solidFill>
                  <a:srgbClr val="00206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Validates environment is clean and secure, monitors for re-infection.</a:t>
            </a:r>
            <a:endParaRPr lang="en-US" sz="900" dirty="0"/>
          </a:p>
          <a:p>
            <a:pPr marL="0" indent="0" algn="l">
              <a:lnSpc>
                <a:spcPct val="113000"/>
              </a:lnSpc>
              <a:buNone/>
            </a:pPr>
            <a:r>
              <a:rPr lang="en-US" sz="900" b="1" dirty="0">
                <a:solidFill>
                  <a:srgbClr val="002060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BC/DR:</a:t>
            </a:r>
            <a:r>
              <a:rPr lang="en-US" sz="900" dirty="0">
                <a:solidFill>
                  <a:srgbClr val="00206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Restores systems from clean backups, validates data integrity, returns to normal operations.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696553"/>
            <a:ext cx="10868745" cy="3617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250" b="1" dirty="0">
                <a:solidFill>
                  <a:srgbClr val="666666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BC/DR Enables Organizations to Survive and Thrive Through Disruptions</a:t>
            </a:r>
            <a:endParaRPr lang="en-US" sz="2250" dirty="0"/>
          </a:p>
        </p:txBody>
      </p:sp>
      <p:sp>
        <p:nvSpPr>
          <p:cNvPr id="3" name="Text 1"/>
          <p:cNvSpPr/>
          <p:nvPr/>
        </p:nvSpPr>
        <p:spPr>
          <a:xfrm>
            <a:off x="661475" y="1085075"/>
            <a:ext cx="10868745" cy="1808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666666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Core Principles of Effective BC/DR</a:t>
            </a:r>
            <a:endParaRPr lang="en-US" sz="11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1381919"/>
            <a:ext cx="231472" cy="231477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61475" y="1714698"/>
            <a:ext cx="5383673" cy="1808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002060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Business-Driven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661475" y="1944191"/>
            <a:ext cx="5383673" cy="314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900" dirty="0">
                <a:solidFill>
                  <a:srgbClr val="00206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BC/DR aligns with business objectives. BIA identifies critical processes. Recovery strategies balance operational needs against cost and risk tolerance.</a:t>
            </a:r>
            <a:endParaRPr lang="en-US" sz="9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146448" y="1381919"/>
            <a:ext cx="231472" cy="231477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146448" y="1714698"/>
            <a:ext cx="5383772" cy="1808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002060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Risk-Based</a:t>
            </a: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6146448" y="1944191"/>
            <a:ext cx="5383772" cy="314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900" dirty="0">
                <a:solidFill>
                  <a:srgbClr val="00206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Prioritize high-impact, high-likelihood scenarios. Use tiers based on criticality — not all systems require the same level of protection.</a:t>
            </a:r>
            <a:endParaRPr lang="en-US" sz="90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61475" y="2421136"/>
            <a:ext cx="231472" cy="231477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661475" y="2753916"/>
            <a:ext cx="5383673" cy="1808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002060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Tested &amp; Validated</a:t>
            </a:r>
            <a:endParaRPr lang="en-US" sz="1100" dirty="0"/>
          </a:p>
        </p:txBody>
      </p:sp>
      <p:sp>
        <p:nvSpPr>
          <p:cNvPr id="12" name="Text 7"/>
          <p:cNvSpPr/>
          <p:nvPr/>
        </p:nvSpPr>
        <p:spPr>
          <a:xfrm>
            <a:off x="661475" y="2983409"/>
            <a:ext cx="5383673" cy="314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900" dirty="0">
                <a:solidFill>
                  <a:srgbClr val="00206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Plans must be tested regularly. Exercises reveal gaps and build capability — from tabletop discussions to full-scale operational failovers.</a:t>
            </a:r>
            <a:endParaRPr lang="en-US" sz="90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146448" y="2421136"/>
            <a:ext cx="231472" cy="231477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6146448" y="2753916"/>
            <a:ext cx="5383772" cy="1808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002060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Integrated</a:t>
            </a:r>
            <a:endParaRPr lang="en-US" sz="1100" dirty="0"/>
          </a:p>
        </p:txBody>
      </p:sp>
      <p:sp>
        <p:nvSpPr>
          <p:cNvPr id="15" name="Text 9"/>
          <p:cNvSpPr/>
          <p:nvPr/>
        </p:nvSpPr>
        <p:spPr>
          <a:xfrm>
            <a:off x="6146448" y="2983409"/>
            <a:ext cx="5383772" cy="314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900" dirty="0">
                <a:solidFill>
                  <a:srgbClr val="00206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Integrate BC/DR with incident response, risk management, and enterprise architecture. Unified governance maximizes effectiveness and eliminates gaps.</a:t>
            </a:r>
            <a:endParaRPr lang="en-US" sz="900" dirty="0"/>
          </a:p>
        </p:txBody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61475" y="3460353"/>
            <a:ext cx="231472" cy="231477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661475" y="3793133"/>
            <a:ext cx="5383673" cy="1808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002060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Continuously Improved</a:t>
            </a:r>
            <a:endParaRPr lang="en-US" sz="1100" dirty="0"/>
          </a:p>
        </p:txBody>
      </p:sp>
      <p:sp>
        <p:nvSpPr>
          <p:cNvPr id="18" name="Text 11"/>
          <p:cNvSpPr/>
          <p:nvPr/>
        </p:nvSpPr>
        <p:spPr>
          <a:xfrm>
            <a:off x="661475" y="4022626"/>
            <a:ext cx="5383673" cy="314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900" dirty="0">
                <a:solidFill>
                  <a:srgbClr val="00206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Learn from tests, incidents, and organizational change. Update plans routinely. Advance maturity through metrics, benchmarking, and lessons learned.</a:t>
            </a:r>
            <a:endParaRPr lang="en-US" sz="900" dirty="0"/>
          </a:p>
        </p:txBody>
      </p:sp>
      <p:pic>
        <p:nvPicPr>
          <p:cNvPr id="19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146448" y="3460353"/>
            <a:ext cx="231472" cy="231477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6146448" y="3793133"/>
            <a:ext cx="5383772" cy="1808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002060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People-Focused</a:t>
            </a:r>
            <a:endParaRPr lang="en-US" sz="1100" dirty="0"/>
          </a:p>
        </p:txBody>
      </p:sp>
      <p:sp>
        <p:nvSpPr>
          <p:cNvPr id="21" name="Text 13"/>
          <p:cNvSpPr/>
          <p:nvPr/>
        </p:nvSpPr>
        <p:spPr>
          <a:xfrm>
            <a:off x="6146448" y="4022626"/>
            <a:ext cx="5383772" cy="314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900" dirty="0">
                <a:solidFill>
                  <a:srgbClr val="00206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Technology enables recovery, but people execute it. Define roles, train teams, and foster a culture where resilience is everyone's responsibility.</a:t>
            </a:r>
            <a:endParaRPr lang="en-US" sz="900" dirty="0"/>
          </a:p>
        </p:txBody>
      </p:sp>
      <p:sp>
        <p:nvSpPr>
          <p:cNvPr id="22" name="Shape 14"/>
          <p:cNvSpPr/>
          <p:nvPr/>
        </p:nvSpPr>
        <p:spPr>
          <a:xfrm>
            <a:off x="578133" y="4428629"/>
            <a:ext cx="5459871" cy="1743869"/>
          </a:xfrm>
          <a:prstGeom prst="roundRect">
            <a:avLst>
              <a:gd name="adj" fmla="val 4780"/>
            </a:avLst>
          </a:prstGeom>
          <a:solidFill>
            <a:srgbClr val="00B0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15"/>
          <p:cNvSpPr/>
          <p:nvPr/>
        </p:nvSpPr>
        <p:spPr>
          <a:xfrm>
            <a:off x="693819" y="4515166"/>
            <a:ext cx="5228499" cy="1808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000000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Key Success Factors</a:t>
            </a:r>
            <a:endParaRPr lang="en-US" sz="1100" dirty="0"/>
          </a:p>
        </p:txBody>
      </p:sp>
      <p:sp>
        <p:nvSpPr>
          <p:cNvPr id="24" name="Text 16"/>
          <p:cNvSpPr/>
          <p:nvPr/>
        </p:nvSpPr>
        <p:spPr>
          <a:xfrm>
            <a:off x="693819" y="4771430"/>
            <a:ext cx="5228499" cy="10861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82880" indent="-182880" algn="l">
              <a:lnSpc>
                <a:spcPct val="113000"/>
              </a:lnSpc>
              <a:buSzPct val="100000"/>
              <a:buChar char="•"/>
            </a:pPr>
            <a:r>
              <a:rPr lang="en-US" sz="900" b="1" dirty="0">
                <a:solidFill>
                  <a:srgbClr val="002060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Executive Sponsorship:</a:t>
            </a:r>
            <a:r>
              <a:rPr lang="en-US" sz="900" dirty="0">
                <a:solidFill>
                  <a:srgbClr val="00206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Visible leadership support and adequate funding</a:t>
            </a:r>
            <a:endParaRPr lang="en-US" sz="900" dirty="0"/>
          </a:p>
          <a:p>
            <a:pPr marL="182880" indent="-182880" algn="l">
              <a:lnSpc>
                <a:spcPct val="113000"/>
              </a:lnSpc>
              <a:buSzPct val="100000"/>
              <a:buChar char="•"/>
            </a:pPr>
            <a:r>
              <a:rPr lang="en-US" sz="900" b="1" dirty="0">
                <a:solidFill>
                  <a:srgbClr val="002060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Appropriate Strategies:</a:t>
            </a:r>
            <a:r>
              <a:rPr lang="en-US" sz="900" dirty="0">
                <a:solidFill>
                  <a:srgbClr val="00206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Recovery approaches matched to RTO/RPO requirements</a:t>
            </a:r>
            <a:endParaRPr lang="en-US" sz="900" dirty="0"/>
          </a:p>
          <a:p>
            <a:pPr marL="182880" indent="-182880" algn="l">
              <a:lnSpc>
                <a:spcPct val="113000"/>
              </a:lnSpc>
              <a:buSzPct val="100000"/>
              <a:buChar char="•"/>
            </a:pPr>
            <a:r>
              <a:rPr lang="en-US" sz="900" b="1" dirty="0">
                <a:solidFill>
                  <a:srgbClr val="002060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Clear Documentation:</a:t>
            </a:r>
            <a:r>
              <a:rPr lang="en-US" sz="900" dirty="0">
                <a:solidFill>
                  <a:srgbClr val="00206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Accessible, actionable plans with step-by-step procedures</a:t>
            </a:r>
            <a:endParaRPr lang="en-US" sz="900" dirty="0"/>
          </a:p>
          <a:p>
            <a:pPr marL="182880" indent="-182880" algn="l">
              <a:lnSpc>
                <a:spcPct val="113000"/>
              </a:lnSpc>
              <a:buSzPct val="100000"/>
              <a:buChar char="•"/>
            </a:pPr>
            <a:r>
              <a:rPr lang="en-US" sz="900" b="1" dirty="0">
                <a:solidFill>
                  <a:srgbClr val="002060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Regular Testing:</a:t>
            </a:r>
            <a:r>
              <a:rPr lang="en-US" sz="900" dirty="0">
                <a:solidFill>
                  <a:srgbClr val="00206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Frequent validation builds confidence and identifies gaps</a:t>
            </a:r>
            <a:endParaRPr lang="en-US" sz="900" dirty="0"/>
          </a:p>
          <a:p>
            <a:pPr marL="182880" indent="-182880" algn="l">
              <a:lnSpc>
                <a:spcPct val="113000"/>
              </a:lnSpc>
              <a:buSzPct val="100000"/>
              <a:buChar char="•"/>
            </a:pPr>
            <a:r>
              <a:rPr lang="en-US" sz="900" b="1" dirty="0">
                <a:solidFill>
                  <a:srgbClr val="002060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Skilled Team:</a:t>
            </a:r>
            <a:r>
              <a:rPr lang="en-US" sz="900" dirty="0">
                <a:solidFill>
                  <a:srgbClr val="00206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Trained personnel who know their roles and responsibilities</a:t>
            </a:r>
            <a:endParaRPr lang="en-US" sz="900" dirty="0"/>
          </a:p>
          <a:p>
            <a:pPr marL="182880" indent="-182880" algn="l">
              <a:lnSpc>
                <a:spcPct val="113000"/>
              </a:lnSpc>
              <a:buSzPct val="100000"/>
              <a:buChar char="•"/>
            </a:pPr>
            <a:r>
              <a:rPr lang="en-US" sz="900" b="1" dirty="0">
                <a:solidFill>
                  <a:srgbClr val="002060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Metrics &amp; Accountability:</a:t>
            </a:r>
            <a:r>
              <a:rPr lang="en-US" sz="900" dirty="0">
                <a:solidFill>
                  <a:srgbClr val="00206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KPIs drive performance and continuous improvement</a:t>
            </a:r>
            <a:endParaRPr lang="en-US" sz="900" dirty="0"/>
          </a:p>
        </p:txBody>
      </p:sp>
      <p:sp>
        <p:nvSpPr>
          <p:cNvPr id="25" name="Text 17"/>
          <p:cNvSpPr/>
          <p:nvPr/>
        </p:nvSpPr>
        <p:spPr>
          <a:xfrm>
            <a:off x="6243382" y="4515166"/>
            <a:ext cx="5293188" cy="1808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666666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Common Pitfalls to Avoid</a:t>
            </a:r>
            <a:endParaRPr lang="en-US" sz="1100" dirty="0"/>
          </a:p>
        </p:txBody>
      </p:sp>
      <p:sp>
        <p:nvSpPr>
          <p:cNvPr id="26" name="Text 18"/>
          <p:cNvSpPr/>
          <p:nvPr/>
        </p:nvSpPr>
        <p:spPr>
          <a:xfrm>
            <a:off x="6243382" y="4771430"/>
            <a:ext cx="5293188" cy="13727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82880" indent="-182880" algn="l">
              <a:lnSpc>
                <a:spcPct val="113000"/>
              </a:lnSpc>
              <a:buSzPct val="100000"/>
              <a:buChar char="•"/>
            </a:pPr>
            <a:r>
              <a:rPr lang="en-US" sz="900" b="1" dirty="0">
                <a:solidFill>
                  <a:srgbClr val="002060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IT-Only Focus:</a:t>
            </a:r>
            <a:r>
              <a:rPr lang="en-US" sz="900" dirty="0">
                <a:solidFill>
                  <a:srgbClr val="00206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BC/DR is a business program, not just an IT backup exercise</a:t>
            </a:r>
            <a:endParaRPr lang="en-US" sz="900" dirty="0"/>
          </a:p>
          <a:p>
            <a:pPr marL="182880" indent="-182880" algn="l">
              <a:lnSpc>
                <a:spcPct val="113000"/>
              </a:lnSpc>
              <a:buSzPct val="100000"/>
              <a:buChar char="•"/>
            </a:pPr>
            <a:r>
              <a:rPr lang="en-US" sz="900" b="1" dirty="0">
                <a:solidFill>
                  <a:srgbClr val="002060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Stale Plans:</a:t>
            </a:r>
            <a:r>
              <a:rPr lang="en-US" sz="900" dirty="0">
                <a:solidFill>
                  <a:srgbClr val="00206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Outdated documentation is often worse than no documentation at all</a:t>
            </a:r>
            <a:endParaRPr lang="en-US" sz="900" dirty="0"/>
          </a:p>
          <a:p>
            <a:pPr marL="182880" indent="-182880" algn="l">
              <a:lnSpc>
                <a:spcPct val="113000"/>
              </a:lnSpc>
              <a:buSzPct val="100000"/>
              <a:buChar char="•"/>
            </a:pPr>
            <a:r>
              <a:rPr lang="en-US" sz="900" b="1" dirty="0">
                <a:solidFill>
                  <a:srgbClr val="002060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Insufficient Testing:</a:t>
            </a:r>
            <a:r>
              <a:rPr lang="en-US" sz="900" dirty="0">
                <a:solidFill>
                  <a:srgbClr val="00206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Annual testing is a minimum; critical systems demand more frequent validation</a:t>
            </a:r>
            <a:endParaRPr lang="en-US" sz="900" dirty="0"/>
          </a:p>
          <a:p>
            <a:pPr marL="182880" indent="-182880" algn="l">
              <a:lnSpc>
                <a:spcPct val="113000"/>
              </a:lnSpc>
              <a:buSzPct val="100000"/>
              <a:buChar char="•"/>
            </a:pPr>
            <a:r>
              <a:rPr lang="en-US" sz="900" b="1" dirty="0">
                <a:solidFill>
                  <a:srgbClr val="002060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Unrealistic RTOs:</a:t>
            </a:r>
            <a:r>
              <a:rPr lang="en-US" sz="900" dirty="0">
                <a:solidFill>
                  <a:srgbClr val="00206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Recovery objectives that cannot be funded or technically achieved create false confidence</a:t>
            </a:r>
            <a:endParaRPr lang="en-US" sz="900" dirty="0"/>
          </a:p>
          <a:p>
            <a:pPr marL="182880" indent="-182880" algn="l">
              <a:lnSpc>
                <a:spcPct val="113000"/>
              </a:lnSpc>
              <a:buSzPct val="100000"/>
              <a:buChar char="•"/>
            </a:pPr>
            <a:r>
              <a:rPr lang="en-US" sz="900" b="1" dirty="0">
                <a:solidFill>
                  <a:srgbClr val="002060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Siloed Approach:</a:t>
            </a:r>
            <a:r>
              <a:rPr lang="en-US" sz="900" dirty="0">
                <a:solidFill>
                  <a:srgbClr val="00206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Disconnected IR and BC/DR programs create dangerous gaps during complex incidents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3431</Words>
  <Application>Microsoft Office PowerPoint</Application>
  <PresentationFormat>Widescreen</PresentationFormat>
  <Paragraphs>370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Poppins</vt:lpstr>
      <vt:lpstr>Noto Color Emoji</vt:lpstr>
      <vt:lpstr>Poppins Bold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Aminu Idris</cp:lastModifiedBy>
  <cp:revision>1</cp:revision>
  <dcterms:created xsi:type="dcterms:W3CDTF">2026-10-10T12:09:24Z</dcterms:created>
  <dcterms:modified xsi:type="dcterms:W3CDTF">2026-10-10T12:10:13Z</dcterms:modified>
</cp:coreProperties>
</file>